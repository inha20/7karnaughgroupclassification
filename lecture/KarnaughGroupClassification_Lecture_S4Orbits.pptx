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1" r:id="rId32"/>
    <p:sldId id="258" r:id="rId4"/>
    <p:sldId id="259" r:id="rId5"/>
    <p:sldId id="282" r:id="rId33"/>
    <p:sldId id="283" r:id="rId34"/>
    <p:sldId id="260" r:id="rId6"/>
    <p:sldId id="261" r:id="rId7"/>
    <p:sldId id="284" r:id="rId35"/>
    <p:sldId id="285" r:id="rId36"/>
    <p:sldId id="262" r:id="rId8"/>
    <p:sldId id="286" r:id="rId37"/>
    <p:sldId id="263" r:id="rId9"/>
    <p:sldId id="287" r:id="rId38"/>
    <p:sldId id="264" r:id="rId10"/>
    <p:sldId id="265" r:id="rId11"/>
    <p:sldId id="288" r:id="rId39"/>
    <p:sldId id="266" r:id="rId12"/>
    <p:sldId id="289" r:id="rId40"/>
    <p:sldId id="267" r:id="rId13"/>
    <p:sldId id="268" r:id="rId14"/>
    <p:sldId id="290" r:id="rId41"/>
    <p:sldId id="269" r:id="rId15"/>
    <p:sldId id="270" r:id="rId16"/>
    <p:sldId id="291" r:id="rId42"/>
    <p:sldId id="292" r:id="rId43"/>
    <p:sldId id="271" r:id="rId17"/>
    <p:sldId id="272" r:id="rId18"/>
    <p:sldId id="273" r:id="rId19"/>
    <p:sldId id="293" r:id="rId44"/>
    <p:sldId id="274" r:id="rId20"/>
    <p:sldId id="275" r:id="rId21"/>
    <p:sldId id="276" r:id="rId22"/>
    <p:sldId id="277" r:id="rId23"/>
    <p:sldId id="294" r:id="rId45"/>
    <p:sldId id="278" r:id="rId24"/>
    <p:sldId id="279" r:id="rId25"/>
    <p:sldId id="295" r:id="rId46"/>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8c089ae2-e96d-4163-19ec-09d0f62480ba}">
          <p14:sldIdLst>
            <p14:sldId id="256"/>
            <p14:sldId id="257"/>
            <p14:sldId id="258"/>
          </p14:sldIdLst>
        </p14:section>
        <p14:section name="1부 준비" id="{f2fa9f47-beb8-b40f-9d23-b14d4b406ce3}">
          <p14:sldIdLst>
            <p14:sldId id="259"/>
            <p14:sldId id="260"/>
            <p14:sldId id="261"/>
            <p14:sldId id="262"/>
          </p14:sldIdLst>
        </p14:section>
        <p14:section name="2부 전체 공간" id="{45c22f55-90d2-ebb6-3f14-916f702459c8}">
          <p14:sldIdLst>
            <p14:sldId id="263"/>
            <p14:sldId id="264"/>
            <p14:sldId id="265"/>
          </p14:sldIdLst>
        </p14:section>
        <p14:section name="3부 세 가지 클론" id="{ccf3b9de-b093-8b60-d7c0-a09500e0351c}">
          <p14:sldIdLst>
            <p14:sldId id="266"/>
            <p14:sldId id="267"/>
            <p14:sldId id="268"/>
            <p14:sldId id="269"/>
            <p14:sldId id="270"/>
            <p14:sldId id="271"/>
            <p14:sldId id="272"/>
            <p14:sldId id="273"/>
            <p14:sldId id="274"/>
          </p14:sldIdLst>
        </p14:section>
        <p14:section name="4부 검증과 확장" id="{1a3b7a3c-330a-5a01-51cf-26dbb11c0584}">
          <p14:sldIdLst>
            <p14:sldId id="275"/>
            <p14:sldId id="276"/>
            <p14:sldId id="277"/>
          </p14:sldIdLst>
        </p14:section>
        <p14:section name="5부 정리" id="{94f48bf8-f89e-9af0-c57b-4a0875b71d28}">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40"/>
                </a:solidFill>
                <a:latin typeface="+mn-lt"/>
              </a:defRPr>
            </a:pPr>
            <a:r>
              <a:rPr sz="1400" b="0" i="0" u="none" strike="noStrike">
                <a:solidFill>
                  <a:srgbClr val="1B2440"/>
                </a:solidFill>
                <a:latin typeface="+mn-lt"/>
              </a:rPr>
              <a:t>궤도 크기별 궤도의 수</a:t>
            </a:r>
          </a:p>
        </c:rich>
      </c:tx>
      <c:layout/>
      <c:overlay val="0"/>
    </c:title>
    <c:autoTitleDeleted val="0"/>
    <c:plotArea>
      <c:layout/>
      <c:barChart>
        <c:barDir val="col"/>
        <c:grouping val="clustered"/>
        <c:varyColors val="0"/>
        <c:ser>
          <c:idx val="0"/>
          <c:order val="0"/>
          <c:tx>
            <c:strRef>
              <c:f>Sheet1!$B$1</c:f>
              <c:strCache>
                <c:ptCount val="1"/>
                <c:pt idx="0">
                  <c:v>궤도 수</c:v>
                </c:pt>
              </c:strCache>
            </c:strRef>
          </c:tx>
          <c:spPr>
            <a:solidFill>
              <a:srgbClr val="17A398"/>
            </a:solidFill>
            <a:effectLst/>
          </c:spPr>
          <c:invertIfNegative val="0"/>
          <c:dLbls>
            <c:numFmt formatCode="#,##0" sourceLinked="0"/>
            <c:txPr>
              <a:bodyPr/>
              <a:lstStyle/>
              <a:p>
                <a:pPr>
                  <a:defRPr b="0" i="0" strike="noStrike" sz="1300" u="none">
                    <a:solidFill>
                      <a:srgbClr val="1B2440"/>
                    </a:solidFill>
                    <a:latin typeface="+mn-lt"/>
                  </a:defRPr>
                </a:pPr>
              </a:p>
            </c:txPr>
            <c:showLegendKey val="0"/>
            <c:showVal val="1"/>
            <c:showCatName val="0"/>
            <c:showSerName val="0"/>
            <c:showPercent val="0"/>
            <c:showBubbleSize val="0"/>
            <c:showLeaderLines val="0"/>
          </c:dLbls>
          <c:cat>
            <c:multiLvlStrRef>
              <c:f>Sheet1!$A$2:$A$7</c:f>
              <c:multiLvlStrCache>
                <c:ptCount val="6"/>
                <c:lvl>
                  <c:pt idx="0">
                    <c:v>1</c:v>
                  </c:pt>
                  <c:pt idx="1">
                    <c:v>3</c:v>
                  </c:pt>
                  <c:pt idx="2">
                    <c:v>4</c:v>
                  </c:pt>
                  <c:pt idx="3">
                    <c:v>6</c:v>
                  </c:pt>
                  <c:pt idx="4">
                    <c:v>12</c:v>
                  </c:pt>
                  <c:pt idx="5">
                    <c:v>24</c:v>
                  </c:pt>
                </c:lvl>
              </c:multiLvlStrCache>
            </c:multiLvlStrRef>
          </c:cat>
          <c:val>
            <c:numRef>
              <c:f>Sheet1!$B$2:$B$7</c:f>
              <c:numCache>
                <c:formatCode>General</c:formatCode>
                <c:ptCount val="6"/>
                <c:pt idx="0">
                  <c:v>32</c:v>
                </c:pt>
                <c:pt idx="1">
                  <c:v>32</c:v>
                </c:pt>
                <c:pt idx="2">
                  <c:v>224</c:v>
                </c:pt>
                <c:pt idx="3">
                  <c:v>224</c:v>
                </c:pt>
                <c:pt idx="4">
                  <c:v>1680</c:v>
                </c:pt>
                <c:pt idx="5">
                  <c:v>1792</c:v>
                </c:pt>
              </c:numCache>
            </c:numRef>
          </c:val>
        </c:ser>
        <c:dLbls>
          <c:numFmt formatCode="#,##0" sourceLinked="0"/>
          <c:txPr>
            <a:bodyPr/>
            <a:lstStyle/>
            <a:p>
              <a:pPr>
                <a:defRPr b="0" i="0" strike="noStrike" sz="1300" u="none">
                  <a:solidFill>
                    <a:srgbClr val="1B24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C9D"/>
                    </a:solidFill>
                    <a:latin typeface="+mn-lt"/>
                  </a:defRPr>
                </a:pPr>
                <a:r>
                  <a:rPr sz="1200" b="0" i="0" u="none" strike="noStrike">
                    <a:solidFill>
                      <a:srgbClr val="5B6C9D"/>
                    </a:solidFill>
                    <a:latin typeface="+mn-lt"/>
                  </a:rPr>
                  <a:t>궤도 크기 (한 궤도에 들어 있는 함수의 수)</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440"/>
                </a:solidFill>
                <a:latin typeface="+mn-lt"/>
              </a:defRPr>
            </a:pPr>
            <a:endParaRPr lang="en-US"/>
          </a:p>
        </c:txPr>
        <c:crossAx val="2094734552"/>
        <c:crosses val="autoZero"/>
        <c:auto val="1"/>
        <c:lblAlgn val="ctr"/>
        <c:noMultiLvlLbl val="1"/>
      </c:catAx>
      <c:valAx>
        <c:axId val="2094734552"/>
        <c:scaling>
          <c:orientation val="minMax"/>
          <c:max val="2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C9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40"/>
                </a:solidFill>
                <a:latin typeface="+mn-lt"/>
              </a:defRPr>
            </a:pPr>
            <a:r>
              <a:rPr sz="1400" b="0" i="0" u="none" strike="noStrike">
                <a:solidFill>
                  <a:srgbClr val="1B2440"/>
                </a:solidFill>
                <a:latin typeface="+mn-lt"/>
              </a:rPr>
              <a:t>단조 함수의 궤도 크기 분포 (30개)</a:t>
            </a:r>
          </a:p>
        </c:rich>
      </c:tx>
      <c:layout/>
      <c:overlay val="0"/>
    </c:title>
    <c:autoTitleDeleted val="0"/>
    <c:plotArea>
      <c:layout/>
      <c:barChart>
        <c:barDir val="col"/>
        <c:grouping val="clustered"/>
        <c:varyColors val="0"/>
        <c:ser>
          <c:idx val="0"/>
          <c:order val="0"/>
          <c:tx>
            <c:strRef>
              <c:f>Sheet1!$B$1</c:f>
              <c:strCache>
                <c:ptCount val="1"/>
                <c:pt idx="0">
                  <c:v>궤도 수</c:v>
                </c:pt>
              </c:strCache>
            </c:strRef>
          </c:tx>
          <c:spPr>
            <a:solidFill>
              <a:srgbClr val="5B6C9D"/>
            </a:solidFill>
            <a:effectLst/>
          </c:spPr>
          <c:invertIfNegative val="0"/>
          <c:dLbls>
            <c:numFmt formatCode="#,##0" sourceLinked="0"/>
            <c:txPr>
              <a:bodyPr/>
              <a:lstStyle/>
              <a:p>
                <a:pPr>
                  <a:defRPr b="0" i="0" strike="noStrike" sz="1300" u="none">
                    <a:solidFill>
                      <a:srgbClr val="1B2440"/>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3</c:v>
                  </c:pt>
                  <c:pt idx="2">
                    <c:v>4</c:v>
                  </c:pt>
                  <c:pt idx="3">
                    <c:v>6</c:v>
                  </c:pt>
                  <c:pt idx="4">
                    <c:v>12</c:v>
                  </c:pt>
                </c:lvl>
              </c:multiLvlStrCache>
            </c:multiLvlStrRef>
          </c:cat>
          <c:val>
            <c:numRef>
              <c:f>Sheet1!$B$2:$B$6</c:f>
              <c:numCache>
                <c:formatCode>General</c:formatCode>
                <c:ptCount val="5"/>
                <c:pt idx="0">
                  <c:v>6</c:v>
                </c:pt>
                <c:pt idx="1">
                  <c:v>2</c:v>
                </c:pt>
                <c:pt idx="2">
                  <c:v>9</c:v>
                </c:pt>
                <c:pt idx="3">
                  <c:v>6</c:v>
                </c:pt>
                <c:pt idx="4">
                  <c:v>7</c:v>
                </c:pt>
              </c:numCache>
            </c:numRef>
          </c:val>
        </c:ser>
        <c:dLbls>
          <c:numFmt formatCode="#,##0" sourceLinked="0"/>
          <c:txPr>
            <a:bodyPr/>
            <a:lstStyle/>
            <a:p>
              <a:pPr>
                <a:defRPr b="0" i="0" strike="noStrike" sz="1300" u="none">
                  <a:solidFill>
                    <a:srgbClr val="1B24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C9D"/>
                    </a:solidFill>
                    <a:latin typeface="+mn-lt"/>
                  </a:defRPr>
                </a:pPr>
                <a:r>
                  <a:rPr sz="1200" b="0" i="0" u="none" strike="noStrike">
                    <a:solidFill>
                      <a:srgbClr val="5B6C9D"/>
                    </a:solidFill>
                    <a:latin typeface="+mn-lt"/>
                  </a:rPr>
                  <a:t>궤도 크기</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440"/>
                </a:solidFill>
                <a:latin typeface="+mn-lt"/>
              </a:defRPr>
            </a:pPr>
            <a:endParaRPr lang="en-US"/>
          </a:p>
        </c:txPr>
        <c:crossAx val="2094734552"/>
        <c:crosses val="autoZero"/>
        <c:auto val="1"/>
        <c:lblAlgn val="ctr"/>
        <c:noMultiLvlLbl val="1"/>
      </c:catAx>
      <c:valAx>
        <c:axId val="2094734552"/>
        <c:scaling>
          <c:orientation val="minMax"/>
          <c:max val="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C9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40"/>
                </a:solidFill>
                <a:latin typeface="+mn-lt"/>
              </a:defRPr>
            </a:pPr>
            <a:r>
              <a:rPr sz="1400" b="0" i="0" u="none" strike="noStrike">
                <a:solidFill>
                  <a:srgbClr val="1B2440"/>
                </a:solidFill>
                <a:latin typeface="+mn-lt"/>
              </a:rPr>
              <a:t>변수 순열 군 아래 궤도의 수 (n = 4, 5)</a:t>
            </a:r>
          </a:p>
        </c:rich>
      </c:tx>
      <c:layout/>
      <c:overlay val="0"/>
    </c:title>
    <c:autoTitleDeleted val="0"/>
    <c:plotArea>
      <c:layout/>
      <c:barChart>
        <c:barDir val="col"/>
        <c:grouping val="clustered"/>
        <c:varyColors val="0"/>
        <c:ser>
          <c:idx val="0"/>
          <c:order val="0"/>
          <c:tx>
            <c:strRef>
              <c:f>Sheet1!$B$1</c:f>
              <c:strCache>
                <c:ptCount val="1"/>
                <c:pt idx="0">
                  <c:v>4변수 (S₄)</c:v>
                </c:pt>
              </c:strCache>
            </c:strRef>
          </c:tx>
          <c:spPr>
            <a:solidFill>
              <a:srgbClr val="17A398"/>
            </a:solidFill>
            <a:effectLst/>
          </c:spPr>
          <c:invertIfNegative val="0"/>
          <c:dLbls>
            <c:numFmt formatCode="#,##0" sourceLinked="0"/>
            <c:txPr>
              <a:bodyPr/>
              <a:lstStyle/>
              <a:p>
                <a:pPr>
                  <a:defRPr b="0" i="0" strike="noStrike" sz="1300" u="none">
                    <a:solidFill>
                      <a:srgbClr val="1B2440"/>
                    </a:solidFill>
                    <a:latin typeface="+mn-lt"/>
                  </a:defRPr>
                </a:pPr>
              </a:p>
            </c:txPr>
            <c:showLegendKey val="0"/>
            <c:showVal val="1"/>
            <c:showCatName val="0"/>
            <c:showSerName val="0"/>
            <c:showPercent val="0"/>
            <c:showBubbleSize val="0"/>
            <c:showLeaderLines val="0"/>
          </c:dLbls>
          <c:cat>
            <c:multiLvlStrRef>
              <c:f>Sheet1!$A$2:$A$3</c:f>
              <c:multiLvlStrCache>
                <c:ptCount val="2"/>
                <c:lvl>
                  <c:pt idx="0">
                    <c:v>아핀 L</c:v>
                  </c:pt>
                  <c:pt idx="1">
                    <c:v>단조 M</c:v>
                  </c:pt>
                </c:lvl>
              </c:multiLvlStrCache>
            </c:multiLvlStrRef>
          </c:cat>
          <c:val>
            <c:numRef>
              <c:f>Sheet1!$B$2:$B$3</c:f>
              <c:numCache>
                <c:formatCode>General</c:formatCode>
                <c:ptCount val="2"/>
                <c:pt idx="0">
                  <c:v>10</c:v>
                </c:pt>
                <c:pt idx="1">
                  <c:v>30</c:v>
                </c:pt>
              </c:numCache>
            </c:numRef>
          </c:val>
        </c:ser>
        <c:ser>
          <c:idx val="1"/>
          <c:order val="1"/>
          <c:tx>
            <c:strRef>
              <c:f>Sheet1!$C$1</c:f>
              <c:strCache>
                <c:ptCount val="1"/>
                <c:pt idx="0">
                  <c:v>5변수 (S₅)</c:v>
                </c:pt>
              </c:strCache>
            </c:strRef>
          </c:tx>
          <c:spPr>
            <a:solidFill>
              <a:srgbClr val="E4572E"/>
            </a:solidFill>
            <a:effectLst/>
          </c:spPr>
          <c:invertIfNegative val="0"/>
          <c:dLbls>
            <c:numFmt formatCode="#,##0" sourceLinked="0"/>
            <c:txPr>
              <a:bodyPr/>
              <a:lstStyle/>
              <a:p>
                <a:pPr>
                  <a:defRPr b="0" i="0" strike="noStrike" sz="1300" u="none">
                    <a:solidFill>
                      <a:srgbClr val="1B2440"/>
                    </a:solidFill>
                    <a:latin typeface="+mn-lt"/>
                  </a:defRPr>
                </a:pPr>
              </a:p>
            </c:txPr>
            <c:showLegendKey val="0"/>
            <c:showVal val="1"/>
            <c:showCatName val="0"/>
            <c:showSerName val="0"/>
            <c:showPercent val="0"/>
            <c:showBubbleSize val="0"/>
            <c:showLeaderLines val="0"/>
          </c:dLbls>
          <c:cat>
            <c:multiLvlStrRef>
              <c:f>Sheet1!$A$2:$A$3</c:f>
              <c:multiLvlStrCache>
                <c:ptCount val="2"/>
                <c:lvl>
                  <c:pt idx="0">
                    <c:v>아핀 L</c:v>
                  </c:pt>
                  <c:pt idx="1">
                    <c:v>단조 M</c:v>
                  </c:pt>
                </c:lvl>
              </c:multiLvlStrCache>
            </c:multiLvlStrRef>
          </c:cat>
          <c:val>
            <c:numRef>
              <c:f>Sheet1!$C$2:$C$3</c:f>
              <c:numCache>
                <c:formatCode>General</c:formatCode>
                <c:ptCount val="2"/>
                <c:pt idx="0">
                  <c:v>12</c:v>
                </c:pt>
                <c:pt idx="1">
                  <c:v>210</c:v>
                </c:pt>
              </c:numCache>
            </c:numRef>
          </c:val>
        </c:ser>
        <c:dLbls>
          <c:numFmt formatCode="#,##0" sourceLinked="0"/>
          <c:txPr>
            <a:bodyPr/>
            <a:lstStyle/>
            <a:p>
              <a:pPr>
                <a:defRPr b="0" i="0" strike="noStrike" sz="1300" u="none">
                  <a:solidFill>
                    <a:srgbClr val="1B244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C9D"/>
                    </a:solidFill>
                    <a:latin typeface="+mn-lt"/>
                  </a:defRPr>
                </a:pPr>
                <a:r>
                  <a:rPr sz="1200" b="0" i="0" u="none" strike="noStrike">
                    <a:solidFill>
                      <a:srgbClr val="5B6C9D"/>
                    </a:solidFill>
                    <a:latin typeface="+mn-lt"/>
                  </a:rPr>
                  <a:t>공간</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440"/>
                </a:solidFill>
                <a:latin typeface="+mn-lt"/>
              </a:defRPr>
            </a:pPr>
            <a:endParaRPr lang="en-US"/>
          </a:p>
        </c:txPr>
        <c:crossAx val="2094734552"/>
        <c:crosses val="autoZero"/>
        <c:auto val="1"/>
        <c:lblAlgn val="ctr"/>
        <c:noMultiLvlLbl val="1"/>
      </c:catAx>
      <c:valAx>
        <c:axId val="2094734552"/>
        <c:scaling>
          <c:orientation val="minMax"/>
          <c:max val="2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C9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4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【강의 개요】 총 40장, 약 90분 분량입니다. 장마다 발표자 노트에 적힌 시간(【N분】)을 합했고, 노트가 없는 설명용 15장(3, 6, 7, 10, 11, 13, 15, 18, 20, 23, 26, 27, 31, 36, 39장)은 장당 2분으로 잡았습니다. 웹판(index.html)은 이 40장을 5분 안팎의 발표 20개로 나눈 것입니다.
시간 배분(안): 도입 1~4장 5분 / 1부 준비 5~13장 19분 / 2부 전체 공간 14~18장 11분 / 3부 세 가지 클론 19~32장 34분 / 4부 검증·확장 33~36장 9분 / 5부 정리·연습 37~40장 12분.
이 강의는 7번 논문(카르노맵 위의 4변수 부울 함수 공간의 군론적 분류) 중 6번 저장소에서 나온 핵심 결과, 곧 S₄ 아래의 궤도 분류에 집중합니다. 카르노맵 변수 배치와 격자 대칭, 완전 대칭 함수의 레이어 분류, 그림의 종류는 다루지 않습니다(변수 배치의 결론만 18장에서 짧게 소개합니다).
선수 지식: 군의 작용(궤도, 안정화군), 순열의 순환 분해 정도. 부족하면 5~13장(1부)에서 보충합니다.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질문으로 시작합니다. 4변수 부울 함수는 모두 2^16 = 65,536개입니다. 그런데 f(A,B,C,D)=A 와 g=B 는 변수 이름만 다를 뿐 '같은 모양'의 함수입니다. 이런 것들을 하나로 묶으면 몇 묶음이 될까요? 학생들에게 먼저 짐작해 보게 하세요(보통 수백~수천 사이를 말합니다).
답은 3,984입니다. 이 묶음을 군론에서는 '궤도(orbit)'라 부릅니다.
아래 세 칸은 오늘의 후반부 질문입니다. XOR로 만든 함수 32개, AND/OR로 만든 단조 함수 168개, NOT과 다수결로 만든 자기쌍대 함수 256개가 각각 몇 종류인지 — 답(10, 30, 32)은 21장과 32장에서 공개합니다.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학습 목표 세 가지를 읽어 줍니다. (1) 군의 작용·궤도·고정점을 부울 함수에 적용, (2) Burnside로 궤도 수를 직접 계산, (3) 세 클론의 궤도 구조 비교.
오른쪽 범위 박스를 강조하세요. 이 강의는 7번 논문이 이전 연구 1~6번을 통합한 것 중 6번 저장소의 핵심(S₄ 궤도 분류)을 다룹니다. 카르노맵 변수 배치 문제(3장), 완전 대칭 함수의 레이어 분류(4장), 카르노맵 그림의 종류(6.5절)는 이번 범위가 아닙니다.
입력 반전까지 허용한 B₄ 확장(35~36장)만 7번 논문에서 새로 정리된 내용입니다. 카르노맵 변수 배치의 결론(24가지 배치가 3개 동치류로 나뉜다)은 18장에서 짧게 소개합니다.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입력점 x=(x₁,x₂,x₃,x₄)는 {0,1}⁴의 16개 점입니다. 부울 함수는 이 16개 점 각각에 0 또는 1을 배정하는 것이므로 16비트 문자열 하나와 같습니다. 따라서 함수의 개수는 2의 16제곱, 65,536입니다.
왼쪽 격자는 입력점 16개를 2진수 순서로 늘어놓은 것이고, 칸 안의 큰 숫자가 함수값입니다. 예시는 4변수 XOR(홀수 개의 1이면 1)입니다: 0110 1001 1001 0110.
변수 이름은 A=x₁, B=x₂, C=x₃, D=x₄로 씁니다. 이 슬라이드의 격자는 단순한 진리표 배열일 뿐 카르노맵의 변수 배치 이야기가 아닙니다(그 부분은 오늘 범위 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S₄의 원소 π는 입력 좌표를 섞습니다: (πx)ᵢ = x_{π(i)}. 이것이 함수에 작용할 때는 (g·f)(x) = f(g⁻¹x)로 정의합니다. 직관적으로는 '변수 이름을 바꿔 쓴 함수'입니다.
아래 세 줄로 궤도의 모양을 보여 줍니다. f=x₁은 변수 이름만 바꾸면 x₂, x₃, x₄가 되어 크기 4인 궤도를 만듭니다. f=x₁⊕x₂는 변수 쌍을 고르는 방법 C(4,2)=6가지이므로 크기 6. 4변수 XOR은 어떻게 이름을 바꿔도 같은 함수이므로 크기 1, 곧 S₄의 고정점입니다.
참고: 이 정의는 합성 순서가 뒤집히는 오른쪽 작용이지만 궤도 수·고정점 수·안정화군은 왼쪽 작용으로 읽어도 달라지지 않습니다(논문 2.3절).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세 개념을 정의합니다. 궤도 G·f는 f에서 출발해 도달 가능한 함수들의 집합, 안정화군 Stab(f)는 f를 그대로 두는 원소들의 부분군입니다. 궤도–안정화군 정리에 의해 |궤도| = |G| / |Stab(f)| = 24/|Stab(f)|.
오른쪽 표는 그 예입니다. 상수 0은 모든 순열이 고정하므로 Stab = S₄, 크기 1. f=x₁은 x₁을 고정하는 순열이 변수 2,3,4를 섞는 S₃(위수 6)이므로 크기 24/6=4. f=x₁⊕x₂는 {x₁,x₂}와 {x₃,x₄}를 각각 보존하는 ⟨(12),(34)⟩ ≅ Z₂×Z₂(위수 4)이므로 크기 6.
크기 1인 궤도의 원소를 S₄-고정점이라 부릅니다. 이 개념이 뒤에서 세 클론을 구분하는 단서가 됩니다(고정점 있음/없음).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이 강의의 핵심 도구입니다. 유한군 G가 유한집합 X에 작용할 때 궤도 수 = (1/|G|) Σ |Fix(g,X)|. 읽는 법: 각 원소가 고정하는 대상의 수를 모두 더해 군의 크기로 나눈다, 곧 '고정점 수의 평균'.
부울 함수에서는 한 가지 사실이 계산을 단순하게 만듭니다. g로 불변인 함수는 g가 일으키는 입력점의 각 순환 위에서 값이 상수여야 하므로, |Fix(g, F₄)| = 2^{c(g)}, 여기서 c(g)는 입력점 16개 위의 순환 개수입니다.
워밍업(오른쪽 카드): 2변수, S₂. 항등은 2⁴=16개를 고정, 두 변수를 맞바꾸는 (12)는 입력점 00,11을 고정하고 01↔10을 맞바꾸므로 순환이 3개 → 2³=8개 고정. (16+8)/2 = 12. 직접 세어도 12임을 학생들과 확인해 보면 좋습니다.
참고: 이름은 Burnside(1897)의 교재에서 왔으나 Cauchy와 Frobenius가 먼저 알고 있었습니다(Neumann, 1979).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24개 원소를 일일이 볼 필요가 없습니다. 켤레인 원소는 입력점에 같은 순환 구조를 일으키므로 Fix 값이 같습니다. S₄는 순환 구조에 따라 5개 켤레류로 나뉘고 크기는 1, 6, 3, 8, 6(합 24)입니다.
c(g)는 순열을 입력점 16개에 직접 적용해 순환을 세면 얻습니다. 예: (12)는 x₁=x₂인 8개 점을 고정하고 나머지 8개를 4쌍으로 맞바꾸므로 8+4 = 12. (1234)는 고정점 2개(0000, 1111), 2-순환 1개(0101↔1010), 4-순환 3개 → 2+1+3 = 6.
학생 활동: (12)(34)와 (123)의 c(g)가 각각 10, 8임을 확인하게 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이제 Burnside에 대입합니다. 각 켤레류의 기여는 (원소 수) × 2^{c(g)}: 1×2¹⁶=65,536, 6×2¹²=24,576, 3×2¹⁰=3,072, 8×2⁸=2,048, 6×2⁶=384. 합은 95,616이고 24로 나누면 정확히 3,984입니다. 나누어떨어진다는 것 자체가 계산 검산입니다.
이 값은 새로운 결과가 아니라 문헌(OEIS A003180)에 알려진 값의 독립 재계산입니다. 또 저장소의 verify_orbits.py가 65,536개 함수를 직접 열거해 3,984를 얻고, Burnside 값과 일치함을 확인합니다(33장에서 다시 언급).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Burnside는 궤도의 '수'만 알려 줍니다. 크기 분포는 열거로 얻은 값입니다: 크기 1이 32개, 3이 32개, 4가 224개, 6이 224개, 12가 1,680개, 24가 1,792개. 크기×개수의 합 32+96+896+1,344+20,160+43,008 = 65,536, 개수의 합 = 3,984로 두 가지 검산이 가능합니다.
크기 24인 궤도(안정화군이 자명한 함수)가 가장 많습니다 — 대부분의 함수는 변수 이름을 바꾸면 24가지가 모두 다른 함수가 됩니다. 반대로 크기 1인 32개는 어떤 변수 순열에도 변하지 않는 함수들(완전 대칭 함수)이며, 이 정체는 다른 회차에서 다루므로 여기서는 'S₄-고정점'이라고만 부릅니다.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클론(clone)은 사영 함수를 포함하고 함수의 합성에 닫힌 함수들의 집합입니다. Post(1941)가 이런 집합 전체의 격자를 분류했습니다. 오늘은 그중 세 가지만 봅니다.
아핀 L: f = c₀⊕c₁x₁⊕…⊕c₄x₄, 크기 2⁵=32, XOR와 상수 1이 생성. 단조 M: x≤y(성분별)이면 f(x)≤f(y), 크기 168(4변수 Dedekind 수), AND·OR·상수가 생성. 자기쌍대 D: f(¬x)=¬f(x), 크기 2⁸=256, NOT과 3입력 다수결이 생성.
핵심: 세 집합은 모두 변수 순열에 닫혀 있습니다(변수 이름을 바꿔도 여전히 아핀/단조/자기쌍대). 그래서 각 집합은 S₄-궤도들로 쪼개지고, 각각에 Burnside를 따로 적용할 수 있습니다. 같은 클론 안의 두 함수가 같은 궤도일 필요는 없습니다(x₁과 x₁⊕x₂는 둘 다 아핀이지만 다른 궤도).
하단 띠: NAND/NOR는 세 클론(과 Post의 나머지 클래스) 어디에도 갇히지 않는 만능 게이트입니다(6번 저장소의 Post 정리 요약).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세 공간 각각에 대해 켤레류 대표원의 Fix 값을 적은 표입니다. '합'은 원소 수 가중합 Σ|Cₖ|·Fix, 이를 24로 나누면 궤도 수입니다.
아핀: 32 + 6·16 + 3·8 + 8·8 + 6·4 = 240 → 10. 단조: 168 + 6·50 + 3·28 + 8·15 + 6·8 = 720 → 30. 자기쌍대: 256 + 6·64 + 3·0 + 8·16 + 6·0 = 768 → 32. (맨 위 줄은 전체 공간, 2부의 결과.)
2장의 질문의 답이 여기서 나옵니다: 10, 30, 32. 그런데 이 Fix 값들은 어떻게 구할까요? 공간마다 논증이 달라서, 이어지는 22~31장에서 아핀 → 자기쌍대 → 단조 순서로 하나씩 보입니다.
눈여겨볼 점: 자기쌍대에서 C₃와 C₅의 Fix가 0입니다. 왜 0이 나오는지가 25~26장의 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아핀 함수 f = c₀⊕c₁x₁⊕…⊕c₄x₄에 변수 순열 σ를 적용하면 계수 벡터 (c₁,…,c₄)가 같은 방식으로 섞입니다. 따라서 σ로 불변이려면 σ의 같은 순환 안에 있는 변수들의 계수가 같아야 합니다.
변수 순환이 m개이면 자유롭게 고를 수 있는 것은 상수 c₀ 하나와 순환별 계수 하나씩, 모두 m+1개 → |Fix| = 2^{m+1}. 켤레류별 m은 4, 3, 2, 2, 1이므로 32, 16, 8, 8, 4. 합 240, 240/24 = 10.
전체 공간의 2^{c(g)}(입력점의 순환 수)와 달리 여기서는 '변수의 순환 수' m이 쓰이는 점을 짚어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10개 궤도는 (w, c₀)로 완전히 정해집니다. w는 계수 벡터 (c₁,…,c₄)에서 1의 개수(0~4), c₀는 상수항(0 또는 1)입니다. 5×2 = 10.
크기는 24/|Stab|: w=0과 w=4는 안정화군이 S₄이므로 크기 1(고정점 4개: 0, 1, XOR, XNOR). w=1과 w=3은 S₃(위수 6) → 크기 4. w=2는 Z₂×Z₂(위수 4) → 크기 6. 합 1+1+4+4+6+6+4+4+1+1 = 32.
여기서 아핀 공간의 고정점이 정확히 4개(O₁, O₂, O₉, O₁₀)라는 점이 자기쌍대(0개), 단조(6개)와 대비됩니다(32장).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자기쌍대 함수는 f(¬x) = ¬f(x)를 만족합니다. 변수 순열 σ는 보수 사상 x↦¬x와 가환하므로, 보수는 σ가 만드는 입력점 순환들을 서로 옮깁니다.
(i) 어떤 σ-순환이 보수에 대해 닫혀 있으면, σ로 불변인 f는 그 순환 위에서 상수여야 하는데, 순환 위의 점 x와 ¬x가 모두 있으므로 f(¬x)=¬f(x)와 모순 → Fix = 0. (ii) 그렇지 않으면 순환들이 보수 쌍으로 짝지어지고, 쌍마다 값을 하나 고르면 되므로 Fix = 2^{c(g)/2}.
구체 예: x=(0,1,0,1)을 (12)(34)로 보내면 (1,0,1,0) = ¬x입니다. 곧 이 순환 {x, ¬x}가 보수에 닫혀 있어 C₃에서 Fix=0. (1234)도 같은 점을 같은 점으로 보내므로 C₅에서 Fix=0. C₂, C₄에서는 그런 순환이 없어 2^{12/2}=64, 2^{8/2}=16.
결과: 256 + 6·64 + 0 + 8·16 + 0 = 768 → 32궤도(크기 4인 궤도 16개, 크기 12인 궤도 16개), 고정점 없음. 이 '고정점 없음'은 완전 대칭 함수에서 v₄₋ₖ = ¬vₖ가 k=2에서 모순이 된다는 것과 같은 이야기입니다(논문 5.5절).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단조 함수 f는 부분집합 격자 2^{[4]}의 상집합(up-set)과 일대일 대응합니다(f ↔ f⁻¹(1)). f가 σ로 불변이라는 것은 이 상집합이 σ가 만드는 궤도들의 합집합이라는 뜻입니다. 따라서 |Fix_M(σ)|는 '⟨σ⟩-궤도들에 순서를 준 집합 P_σ의 상집합 수'입니다.
예: σ=(1234)일 때 부분집합 16개는 6개의 궤도(원형 이진 목걸이)로 나뉘고, 순서는 ∅ &lt; {1} &lt; {{1,2},{1,3}} &lt; {1,2,3} &lt; {1,2,3,4}, 가운데 두 원소는 비교 불가능입니다. 상집합은 위쪽부터 채우므로: 빈 것 1, 최대 원소만 1, {123}까지 1, 가운데 {12}만/{13}만/둘 다 3, {1}까지 1, ∅까지(전체) 1. 합 1+1+1+3+1+1 = 8.
그림의 초록색 세 칸이 상집합의 한 예입니다({1,2,3,4}, {1,2,3}, {1,2}를 포함하면 그 위의 원소가 모두 포함되어 있음). 이 계산이 아주 작은 순서집합 위의 세기로 줄어드는 것이 이 방법의 장점입니다.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같은 방법을 나머지 켤레류에 적용하면 다섯 값이 나옵니다. C₁(항등)은 P가 16원소 격자 2^{[4]} 전체이므로 상집합 수가 4변수 Dedekind 수 168(Dedekind, 1897). C₂=(12)는 궤도가 (|S∩{1,2}|, x₃, x₄)로 정해져 P가 사슬 3×2×2의 곱이고, 상자 3×2×2 안의 평면분할 수 PP(2,2,3)=50(MacMahon, 1916). C₄=(123)은 P=4×2이고 상집합 수는 격자 경로 수 C(6,2)=15. C₅는 앞 장에서 8. C₃=(12)(34)는 궤도 10개 순서집합을 층별로 나누어 센 28(손 계산).
합: 168 + 6·50 + 3·28 + 8·15 + 6·8 = 168+300+84+120+48 = 720, 720/24 = 30. verify_monotone_fix.py가 정의대로 센 Fix와 일치함을 확인합니다.
참고: C₂에서 평면분할이 나오는 것은 단조 함수 계산이 조합론의 고전적 결과와 만나는 지점이라 학생들에게 흥미로운 곁가지가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30개 궤도의 크기 분포는 크기 1이 6개, 3이 2개, 4가 9개, 6이 6개, 12가 7개입니다. 6+6+36+36+84 = 168. 크기 24 궤도가 없다는 것은, 어떤 단조 함수도 변수 순열 중 적어도 하나(항등이 아닌)로는 변하지 않는다는 뜻입니다.
크기 1인 6개는 임계값 함수 At-Least-k(k=0,…,5, k=0은 상수 1, k=5는 상수 0)입니다. 크기 3은 x₁x₂∨x₃x₄와 (x₁∨x₂)(x₃∨x₄), 크기 4는 x₁, x₁x₂x₃, x₁∨x₂∨x₃, 크기 6은 x₁x₂와 x₁∨x₂, 크기 12는 x₁(x₂∨x₃) 같은 함수들입니다.
30개 대표 함수의 전체 목록은 논문 5.5절 표에 있고, 목록 자체는 열거로 얻었습니다(verify_extras.py [D]가 30개 대표의 단조성·서로 다른 궤도·크기·합집합=168을 확인). 크기 분포는 S₄의 부분군 30개 위의 뫼비우스 반전으로 유도했는데 이는 컴퓨터 계산이며 닫힌 식은 아닙니다(37장에서 한계로 다시).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3부의 결산입니다. 2장에서 물었던 '? 종류'의 답이 아핀 10, 단조 30, 자기쌍대 32입니다. 표의 마지막 열(S₄-고정점)에 주목하세요: 아핀 4개(0, 1, XOR, XNOR), 단조 6개(임계값 함수), 자기쌍대 0개. 클론마다 대칭성의 정도가 다릅니다.
세 공간은 포함 관계가 아닙니다. 아핀이면서 단조인 함수는 {0, 1, x₁, x₂, x₃, x₄} 6개뿐이고(x₁⊕x₂는 단조가 아니고 ¬x₁=x₁⊕1도 단조가 아님), 이 6개는 3개의 S₄-궤도(크기 1, 1, 4)를 이룹니다. 또 'Exactly-2'(입력 중 정확히 2개가 1)는 S₄-고정점이지만 L, M, D 어디에도 속하지 않습니다.
마지막 행에 전체 공간을 함께 적어 두었습니다. 클론으로 제한하면 궤도 구조가 훨씬 단순해진다는 점이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연구 논문을 강의할 때 꼭 짚어야 할 부분입니다. 3,984는 OEIS A003180(변수 순열 아래 4변수 함수의 동치류 수)에, 단조 30은 A003182에 이미 있는 값입니다. 논문은 이를 '새 결과'라고 주장하지 않고 독립 재계산으로 제시합니다. 우리 Fix 표가 이 값들을 재현한다는 것이 검증입니다.
논문이 덧붙이는 것은 (1) 켤레류별 Fix 표와 안정화군, (2) 아핀 10궤도와 단조 30궤도의 명시적 목록, (3) 궤도 크기 분포입니다. 자기쌍대 함수의 S₄-궤도 수(32)와 아핀 함수의 궤도 수는 저자가 검색한 범위에서 문헌 값을 찾지 못했다고 밝혀 두었습니다.
솔직한 한계도 함께 전달하세요: 선행 연구 조사는 웹 검색과 OEIS 조회에 한정되었으므로, 클론별 궤도 구조의 선행 여부는 전문가 검토가 필요하다고 논문 스스로 적고 있습니다. 또 이론 계산과 스크립트가 같은 저자의 작업이어서 외부 검증은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변수 순열만 허용한 예비 계산입니다(논문 7.3절, verify_extras.py [F]). 아핀 함수는 4변수 32개 → 5변수 64개, S₅-궤도는 10 → 12로 완만하게 늘어납니다. 단조 함수는 168개 → 7,581개(5변수 자유 분배 격자의 크기 7,579에 상수 두 개를 더한 값; Church, 1940), 궤도는 30 → 210으로 7배 증가합니다.
단조 210은 OEIS A003182에 있는 값과 같습니다. 두 값 모두 6번 저장소의 5변수 확장 계산에도 나오며, 7번 논문은 이를 예비 결과로만 싣고 있습니다. 학생 질문: 왜 단조만 이렇게 빨리 늘까? → 함수 수 자체가 이중 지수적으로 늘어나기 때문(Dedekind 수).
이 장은 '4변수에 한정된 결과'라는 한계(37장)를 시각적으로 보여 주는 역할도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마지막으로 7번 논문에서 새로 정리된 확장을 한 장으로 소개합니다(6번 저장소의 paper.md에는 없던 내용). 변수 순열 S₄에 입력 반전 Z₂⁴(x ↦ x⊕c)를 더한 군이 부호 순열군 B₄ = Z₂⁴ ⋊ S₄, 위수 2⁴·4! = 384입니다(4차원 초입방체 Q₄의 자기동형군).
B₄ 아래에서 전체 공간은 402개 궤도(문헌의 4변수 NP 동치류 수, Slepian 1953), 아핀 공간은 6개, 자기쌍대 공간은 7개로 줄어듭니다. 단조 공간은 입력 반전에 닫혀 있지 않아(x₁을 반전하면 ¬x₁은 단조가 아님) B₄-궤도 분해가 정의되지 않습니다.
아핀이 6개인 이유: w=0이면 상수 0과 1이 별개의 궤도 2개, w≥1이면 입력 반전으로 c₀를 뒤집을 수 있고 S₄가 같은 무게의 계수 벡터를 옮기므로 무게마다 궤도 1개 → 2+4 = 6. 계산은 B₄의 20개 켤레류에 대한 Burnside로 154,368/384 = 402이며 verify_b4_table.py가 384개 원소를 전수 열거해 확인합니다.
참고: 출력 반전까지 허용하면 NPN 동치류이고 그 수는 222로 알려져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논문이 스스로 밝힌 한계를 정리합니다. 왼쪽: (1) 결과는 4변수에 한정. (2) 단조 공간의 Fix는 궤도 순서집합의 상집합 수로 환원해 손 계산 또는 알려진 값(Dedekind 수)으로 얻었고, 궤도 크기 분포는 S₄의 부분군 30개 위의 뫼비우스 반전이라는 유한 계산이며 닫힌 식이 아닙니다. (3) 30개 궤도의 대표 함수 목록은 열거에 의존합니다. (4) 선행 연구 조사는 웹 검색과 OEIS에 한정되었습니다.
오른쪽 열린 문제: n변수 일반화(5변수 예비 계산 12, 210), 닫힌 식 유도(단조 궤도 크기 분포 6,2,9,6,7을 부분군 격자의 구조에서), 30개 대표 목록을 열거 없이 얻는 방법.
토론 제안: '컴퓨터로 확인한 사실'과 '증명한 사실'을 어떻게 구분해 서술하면 좋을까요? 논문이 '(verify_*.py로 확인)'이라는 표기를 쓰는 이유를 이야기해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【5분】 정답과 해설(교수용)
1) n=2: F₂의 함수는 16개. S₂ 아래 궤도는 12개. 항등 Fix=16, (12) Fix=2^3=8 → (16+8)/2 = 12. 열거로는 x₁과 x₂, ¬x₁과 ¬x₂, x₁∧¬x₂와 ¬x₁∧x₂, x₁→x₂와 x₂→x₁ 등 4쌍이 한 궤도를 이루고 나머지가 크기 1 → 16−4 = 12.
2) n=3: S₃의 켤레류는 항등(1), 호환(3), 3-순환(2). 입력점 8개 위의 순환 수 c: 항등 8, (12)는 x₁=x₂인 4점 고정+나머지 4점이 2쌍 → 6, 3-순환은 000, 111 고정+나머지 6점이 2개의 3-순환 → 4. (2⁸ + 3·2⁶ + 2·2⁴)/6 = (256+192+32)/6 = 80. (OEIS A003180: 4, 12, 80, 3984, …)
3) D에서 C₃의 Fix가 0인 이유: x=(0,1,0,1)을 (12)(34)로 보내면 (1,0,1,0)=¬x. 순환 {x,¬x}에서 σ-불변이면 f(x)=f(¬x)인데 자기쌍대는 f(¬x)=¬f(x)이므로 모순.
4) 아핀 공간 L의 B₄-궤도: w=0이면 상수 0과 1이 별개(2개). w≥1이면 입력 반전 e로 c·e=1이 되게 해 c₀를 뒤집을 수 있고 S₄가 같은 무게의 c를 옮기므로 무게 1~4 각 1개(4개). 합 6.
토론) 크기 24 궤도가 단조 공간에 없다는 것은 안정화군이 자명한(위수 1) 단조 함수가 없다는 뜻입니다. 논문은 S₄의 부분군 30개 위의 뫼비우스 반전으로 위수별 함수 수(24:6개, 8:6개, 6:36개, 4:36개, 2:84개, 그 밖은 0)를 얻었고, 이는 컴퓨터 계산이며 닫힌 증명은 열린 문제입니다. 학생들이 단조 함수 몇 개를 직접 시험해 보며 왜 그럴지 가설을 세워 보게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【2분】 네 가지로 닫습니다. (1) 번사이드: 궤도 수는 고정점 수의 평균. (2) 숫자: 전체 3,984, 아핀 10, 단조 30, 자기쌍대 32. (3) 방법: 공간마다 Fix를 세는 논증이 다르다 — 아핀은 변수 순환 수 m(2^{m+1}), 자기쌍대는 보수와의 충돌(0 또는 2^{c/2}), 단조는 궤도 순서집합의 상집합 수. (4) 군을 키우면 궤도는 줄어든다: S₄ → B₄에서 3,984 → 402.
마무리 멘트 예시: '변수 이름만 바꾼 것을 같은 것으로 보는 아주 작은 눈높이 변화가, 65,536개의 함수를 3,984개의 종류로 정리해 줍니다. 대칭을 어떻게 정의하느냐에 따라 분류가 어떻게 달라지는지를 오늘 직접 계산해 보았습니다.'
다음 단계로는 n변수 일반화와 닫힌 식 유도(열린 문제)를 안내하고, 질의응답을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부울 함수 공간의 S₄ 궤도 분류 · 강의 교안</a:t>
            </a:r>
            <a:endParaRPr lang="en-US" sz="1000" dirty="0"/>
          </a:p>
        </p:txBody>
      </p:sp>
      <p:sp>
        <p:nvSpPr>
          <p:cNvPr id="3" name="Text 1"/>
          <p:cNvSpPr/>
          <p:nvPr>
            <p:ph idx="101" type="title" hasCustomPrompt="1"/>
          </p:nvPr>
        </p:nvSpPr>
        <p:spPr>
          <a:xfrm>
            <a:off x="548640" y="658368"/>
            <a:ext cx="11094415"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440"/>
        </a:solidFill>
      </p:bgPr>
    </p:bg>
    <p:spTree>
      <p:nvGrpSpPr>
        <p:cNvPr id="1" name=""/>
        <p:cNvGrpSpPr/>
        <p:nvPr/>
      </p:nvGrpSpPr>
      <p:grpSpPr>
        <a:xfrm>
          <a:off x="0" y="0"/>
          <a:ext cx="0" cy="0"/>
          <a:chOff x="0" y="0"/>
          <a:chExt cx="0" cy="0"/>
        </a:xfrm>
      </p:grpSpPr>
      <p:sp>
        <p:nvSpPr>
          <p:cNvPr id="2" name="Text 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부울 함수 공간의 S₄ 궤도 분류 · 강의 교안</a:t>
            </a:r>
            <a:endParaRPr lang="en-US" sz="1000" dirty="0"/>
          </a:p>
        </p:txBody>
      </p:sp>
      <p:sp>
        <p:nvSpPr>
          <p:cNvPr id="3" name="Text 1"/>
          <p:cNvSpPr/>
          <p:nvPr>
            <p:ph idx="101" type="title" hasCustomPrompt="1"/>
          </p:nvPr>
        </p:nvSpPr>
        <p:spPr>
          <a:xfrm>
            <a:off x="548640" y="658368"/>
            <a:ext cx="11094415"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B24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78308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3977640"/>
            <a:ext cx="6583680" cy="8686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it-ring"/>
          <p:cNvSpPr/>
          <p:nvPr/>
        </p:nvSpPr>
        <p:spPr>
          <a:xfrm>
            <a:off x="6583680" y="365760"/>
            <a:ext cx="6035040" cy="6035040"/>
          </a:xfrm>
          <a:prstGeom prst="ellipse">
            <a:avLst/>
          </a:prstGeom>
          <a:ln w="19050">
            <a:solidFill>
              <a:schemeClr val="tx2"/>
            </a:solidFill>
            <a:prstDash val="solid"/>
          </a:ln>
        </p:spPr>
      </p:sp>
      <p:sp>
        <p:nvSpPr>
          <p:cNvPr id="3" name="orbit-ring"/>
          <p:cNvSpPr/>
          <p:nvPr/>
        </p:nvSpPr>
        <p:spPr>
          <a:xfrm>
            <a:off x="7315200" y="1097280"/>
            <a:ext cx="4572000" cy="4572000"/>
          </a:xfrm>
          <a:prstGeom prst="ellipse">
            <a:avLst/>
          </a:prstGeom>
          <a:ln w="19050">
            <a:solidFill>
              <a:schemeClr val="tx2"/>
            </a:solidFill>
            <a:prstDash val="solid"/>
          </a:ln>
        </p:spPr>
      </p:sp>
      <p:sp>
        <p:nvSpPr>
          <p:cNvPr id="4" name="orbit-ring"/>
          <p:cNvSpPr/>
          <p:nvPr/>
        </p:nvSpPr>
        <p:spPr>
          <a:xfrm>
            <a:off x="8046720" y="1828800"/>
            <a:ext cx="3108960" cy="3108960"/>
          </a:xfrm>
          <a:prstGeom prst="ellipse">
            <a:avLst/>
          </a:prstGeom>
          <a:ln w="19050">
            <a:solidFill>
              <a:schemeClr val="tx2"/>
            </a:solidFill>
            <a:prstDash val="solid"/>
          </a:ln>
        </p:spPr>
      </p:sp>
      <p:sp>
        <p:nvSpPr>
          <p:cNvPr id="5" name="orbit-core"/>
          <p:cNvSpPr/>
          <p:nvPr/>
        </p:nvSpPr>
        <p:spPr>
          <a:xfrm>
            <a:off x="8778240" y="2560320"/>
            <a:ext cx="1645920" cy="1645920"/>
          </a:xfrm>
          <a:prstGeom prst="ellipse">
            <a:avLst/>
          </a:prstGeom>
          <a:solidFill>
            <a:schemeClr val="tx2"/>
          </a:solidFill>
          <a:ln w="6350">
            <a:solidFill>
              <a:schemeClr val="tx2"/>
            </a:solidFill>
            <a:prstDash val="solid"/>
          </a:ln>
        </p:spPr>
      </p:sp>
      <p:sp>
        <p:nvSpPr>
          <p:cNvPr id="6" name="orbit-dot"/>
          <p:cNvSpPr/>
          <p:nvPr/>
        </p:nvSpPr>
        <p:spPr>
          <a:xfrm>
            <a:off x="11795760" y="3200400"/>
            <a:ext cx="365760" cy="365760"/>
          </a:xfrm>
          <a:prstGeom prst="ellipse">
            <a:avLst/>
          </a:prstGeom>
          <a:solidFill>
            <a:schemeClr val="accent1"/>
          </a:solidFill>
          <a:ln w="6350">
            <a:solidFill>
              <a:schemeClr val="accent1"/>
            </a:solidFill>
            <a:prstDash val="solid"/>
          </a:ln>
        </p:spPr>
      </p:sp>
      <p:sp>
        <p:nvSpPr>
          <p:cNvPr id="7" name="orbit-dot"/>
          <p:cNvSpPr/>
          <p:nvPr/>
        </p:nvSpPr>
        <p:spPr>
          <a:xfrm>
            <a:off x="10927080" y="1051560"/>
            <a:ext cx="274320" cy="274320"/>
          </a:xfrm>
          <a:prstGeom prst="ellipse">
            <a:avLst/>
          </a:prstGeom>
          <a:solidFill>
            <a:schemeClr val="accent2"/>
          </a:solidFill>
          <a:ln w="6350">
            <a:solidFill>
              <a:schemeClr val="accent2"/>
            </a:solidFill>
            <a:prstDash val="solid"/>
          </a:ln>
        </p:spPr>
      </p:sp>
      <p:sp>
        <p:nvSpPr>
          <p:cNvPr id="8" name="orbit-dot"/>
          <p:cNvSpPr/>
          <p:nvPr/>
        </p:nvSpPr>
        <p:spPr>
          <a:xfrm>
            <a:off x="7818120" y="3794760"/>
            <a:ext cx="237744" cy="237744"/>
          </a:xfrm>
          <a:prstGeom prst="ellipse">
            <a:avLst/>
          </a:prstGeom>
          <a:solidFill>
            <a:schemeClr val="accent3"/>
          </a:solidFill>
          <a:ln w="6350">
            <a:solidFill>
              <a:schemeClr val="accent3"/>
            </a:solidFill>
            <a:prstDash val="solid"/>
          </a:ln>
        </p:spPr>
      </p:sp>
      <p:sp>
        <p:nvSpPr>
          <p:cNvPr id="9" name="Text 0"/>
          <p:cNvSpPr/>
          <p:nvPr>
            <p:ph idx="100" type="title" hasCustomPrompt="1"/>
          </p:nvPr>
        </p:nvSpPr>
        <p:spPr>
          <a:xfrm>
            <a:off x="822960" y="1783080"/>
            <a:ext cx="6949440" cy="2011680"/>
          </a:xfrm>
          <a:prstGeom prst="rect">
            <a:avLst/>
          </a:prstGeom>
          <a:noFill/>
          <a:ln/>
        </p:spPr>
        <p:txBody>
          <a:bodyPr wrap="square" lIns="0" tIns="0" rIns="0" bIns="0" rtlCol="0" anchor="t"/>
          <a:lstStyle/>
          <a:p>
            <a:pPr algn="l" indent="0" marL="0">
              <a:buNone/>
            </a:pPr>
            <a:r>
              <a:rPr lang="en-US" sz="4400" b="1" dirty="0">
                <a:solidFill>
                  <a:schemeClr val="bg1"/>
                </a:solidFill>
              </a:rPr>
              <a:t>4변수 부울 함수 공간의</a:t>
            </a:r>
            <a:endParaRPr lang="en-US" sz="4400" dirty="0"/>
          </a:p>
          <a:p>
            <a:pPr algn="l" indent="0" marL="0">
              <a:buNone/>
            </a:pPr>
            <a:r>
              <a:rPr lang="en-US" sz="4400" b="1" dirty="0">
                <a:solidFill>
                  <a:schemeClr val="bg1"/>
                </a:solidFill>
              </a:rPr>
              <a:t>S</a:t>
            </a:r>
            <a:r>
              <a:rPr lang="en-US" sz="4400" b="1" baseline="-40000" dirty="0">
                <a:solidFill>
                  <a:schemeClr val="bg1"/>
                </a:solidFill>
              </a:rPr>
              <a:t>4</a:t>
            </a:r>
            <a:r>
              <a:rPr lang="en-US" sz="4400" b="1" dirty="0">
                <a:solidFill>
                  <a:schemeClr val="bg1"/>
                </a:solidFill>
              </a:rPr>
              <a:t> 궤도 분류</a:t>
            </a:r>
            <a:endParaRPr lang="en-US" sz="4400" dirty="0"/>
          </a:p>
        </p:txBody>
      </p:sp>
      <p:sp>
        <p:nvSpPr>
          <p:cNvPr id="10" name="Text 0"/>
          <p:cNvSpPr/>
          <p:nvPr>
            <p:ph idx="101" type="body" hasCustomPrompt="1"/>
          </p:nvPr>
        </p:nvSpPr>
        <p:spPr>
          <a:xfrm>
            <a:off x="822960" y="3977640"/>
            <a:ext cx="6583680" cy="868680"/>
          </a:xfrm>
          <a:prstGeom prst="rect">
            <a:avLst/>
          </a:prstGeom>
          <a:noFill/>
          <a:ln/>
        </p:spPr>
        <p:txBody>
          <a:bodyPr wrap="square" lIns="0" tIns="0" rIns="0" bIns="0" rtlCol="0" anchor="t"/>
          <a:lstStyle/>
          <a:p>
            <a:pPr algn="l" indent="0" marL="0">
              <a:buNone/>
            </a:pPr>
            <a:r>
              <a:rPr lang="en-US" sz="2000" dirty="0">
                <a:solidFill>
                  <a:schemeClr val="accent6"/>
                </a:solidFill>
              </a:rPr>
              <a:t>번사이드 보조정리와 세 가지 클론</a:t>
            </a:r>
            <a:endParaRPr lang="en-US" sz="2000" dirty="0"/>
          </a:p>
          <a:p>
            <a:pPr algn="l" indent="0" marL="0">
              <a:buNone/>
            </a:pPr>
            <a:r>
              <a:rPr lang="en-US" sz="2000" dirty="0">
                <a:solidFill>
                  <a:schemeClr val="accent6"/>
                </a:solidFill>
              </a:rPr>
              <a:t>(아핀 · 단조 · 자기쌍대)</a:t>
            </a:r>
            <a:endParaRPr lang="en-US" sz="2000" dirty="0"/>
          </a:p>
        </p:txBody>
      </p:sp>
      <p:sp>
        <p:nvSpPr>
          <p:cNvPr id="11" name="byline"/>
          <p:cNvSpPr txBox="1"/>
          <p:nvPr/>
        </p:nvSpPr>
        <p:spPr>
          <a:xfrm>
            <a:off x="822960" y="5486400"/>
            <a:ext cx="6949440" cy="731520"/>
          </a:xfrm>
          <a:prstGeom prst="rect">
            <a:avLst/>
          </a:prstGeom>
          <a:noFill/>
          <a:ln/>
        </p:spPr>
        <p:txBody>
          <a:bodyPr wrap="square" lIns="0" tIns="0" rIns="0" bIns="0" rtlCol="0" anchor="t"/>
          <a:lstStyle/>
          <a:p>
            <a:pPr indent="0" marL="0">
              <a:buNone/>
            </a:pPr>
            <a:r>
              <a:rPr lang="en-US" sz="1400" dirty="0">
                <a:solidFill>
                  <a:schemeClr val="accent6"/>
                </a:solidFill>
              </a:rPr>
              <a:t>논문 「카르노맵 위의 4변수 부울 함수 공간의 군론적 분류」 5장 중심 강의 교안</a:t>
            </a:r>
            <a:endParaRPr lang="en-US" sz="1400" dirty="0"/>
          </a:p>
          <a:p>
            <a:pPr indent="0" marL="0">
              <a:buNone/>
            </a:pPr>
            <a:r>
              <a:rPr lang="en-US" sz="1400" dirty="0">
                <a:solidFill>
                  <a:schemeClr val="accent6"/>
                </a:solidFill>
              </a:rPr>
              <a:t>최종훈 (Jonghun Choi) · 인하공업전문대학 2학년 재학 · 독립 연구자</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0</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도입</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오늘의 질문</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변수 이름 A, B, C, D를 바꿔도 같은 함수로 본다면, 함수는 몇 종류일까?</a:t>
            </a:r>
            <a:endParaRPr lang="en-US" sz="1800" dirty="0"/>
          </a:p>
        </p:txBody>
      </p:sp>
      <p:sp>
        <p:nvSpPr>
          <p:cNvPr id="8" name="stat-card"/>
          <p:cNvSpPr/>
          <p:nvPr/>
        </p:nvSpPr>
        <p:spPr>
          <a:xfrm>
            <a:off x="548640" y="2057400"/>
            <a:ext cx="4480560" cy="2331720"/>
          </a:xfrm>
          <a:prstGeom prst="roundRect">
            <a:avLst>
              <a:gd name="adj" fmla="val 3137"/>
            </a:avLst>
          </a:prstGeom>
          <a:solidFill>
            <a:schemeClr val="bg2"/>
          </a:solidFill>
          <a:ln w="3175">
            <a:solidFill>
              <a:schemeClr val="bg2"/>
            </a:solidFill>
            <a:prstDash val="solid"/>
          </a:ln>
        </p:spPr>
      </p:sp>
      <p:sp>
        <p:nvSpPr>
          <p:cNvPr id="9" name="stat-all"/>
          <p:cNvSpPr txBox="1"/>
          <p:nvPr/>
        </p:nvSpPr>
        <p:spPr>
          <a:xfrm>
            <a:off x="548640" y="2194560"/>
            <a:ext cx="4480560" cy="1280160"/>
          </a:xfrm>
          <a:prstGeom prst="rect">
            <a:avLst/>
          </a:prstGeom>
          <a:noFill/>
          <a:ln/>
        </p:spPr>
        <p:txBody>
          <a:bodyPr wrap="square" lIns="0" tIns="0" rIns="0" bIns="0" rtlCol="0" anchor="ctr"/>
          <a:lstStyle/>
          <a:p>
            <a:pPr algn="ctr" indent="0" marL="0">
              <a:buNone/>
            </a:pPr>
            <a:r>
              <a:rPr lang="en-US" sz="6600" b="1" dirty="0">
                <a:solidFill>
                  <a:schemeClr val="tx1"/>
                </a:solidFill>
              </a:rPr>
              <a:t>65,536</a:t>
            </a:r>
            <a:endParaRPr lang="en-US" sz="6600" dirty="0"/>
          </a:p>
        </p:txBody>
      </p:sp>
      <p:sp>
        <p:nvSpPr>
          <p:cNvPr id="10" name="Text 7"/>
          <p:cNvSpPr txBox="1"/>
          <p:nvPr/>
        </p:nvSpPr>
        <p:spPr>
          <a:xfrm>
            <a:off x="548640" y="3474720"/>
            <a:ext cx="4480560" cy="548640"/>
          </a:xfrm>
          <a:prstGeom prst="rect">
            <a:avLst/>
          </a:prstGeom>
          <a:noFill/>
          <a:ln/>
        </p:spPr>
        <p:txBody>
          <a:bodyPr wrap="square" lIns="0" tIns="0" rIns="0" bIns="0" rtlCol="0" anchor="t"/>
          <a:lstStyle/>
          <a:p>
            <a:pPr algn="ctr" indent="0" marL="0">
              <a:buNone/>
            </a:pPr>
            <a:r>
              <a:rPr lang="en-US" sz="1600" dirty="0">
                <a:solidFill>
                  <a:schemeClr val="tx2"/>
                </a:solidFill>
              </a:rPr>
              <a:t>4변수 부울 함수의 개수 (2</a:t>
            </a:r>
            <a:r>
              <a:rPr lang="en-US" sz="1600" baseline="30000" dirty="0">
                <a:solidFill>
                  <a:schemeClr val="tx2"/>
                </a:solidFill>
              </a:rPr>
              <a:t>16</a:t>
            </a:r>
            <a:r>
              <a:rPr lang="en-US" sz="1600" dirty="0">
                <a:solidFill>
                  <a:schemeClr val="tx2"/>
                </a:solidFill>
              </a:rPr>
              <a:t>)</a:t>
            </a:r>
            <a:endParaRPr lang="en-US" sz="1600" dirty="0"/>
          </a:p>
        </p:txBody>
      </p:sp>
      <p:sp>
        <p:nvSpPr>
          <p:cNvPr id="11" name="arrow"/>
          <p:cNvSpPr/>
          <p:nvPr/>
        </p:nvSpPr>
        <p:spPr>
          <a:xfrm>
            <a:off x="5257800" y="2834640"/>
            <a:ext cx="1645920" cy="822960"/>
          </a:xfrm>
          <a:prstGeom prst="rightArrow">
            <a:avLst/>
          </a:prstGeom>
          <a:solidFill>
            <a:schemeClr val="accent1"/>
          </a:solidFill>
          <a:ln w="3175">
            <a:solidFill>
              <a:schemeClr val="accent1"/>
            </a:solidFill>
            <a:prstDash val="solid"/>
          </a:ln>
        </p:spPr>
      </p:sp>
      <p:sp>
        <p:nvSpPr>
          <p:cNvPr id="12" name="Text 9"/>
          <p:cNvSpPr txBox="1"/>
          <p:nvPr/>
        </p:nvSpPr>
        <p:spPr>
          <a:xfrm>
            <a:off x="5074920" y="3749040"/>
            <a:ext cx="2011680" cy="685800"/>
          </a:xfrm>
          <a:prstGeom prst="rect">
            <a:avLst/>
          </a:prstGeom>
          <a:noFill/>
          <a:ln/>
        </p:spPr>
        <p:txBody>
          <a:bodyPr wrap="square" lIns="0" tIns="0" rIns="0" bIns="0" rtlCol="0" anchor="t"/>
          <a:lstStyle/>
          <a:p>
            <a:pPr algn="ctr" indent="0" marL="0">
              <a:buNone/>
            </a:pPr>
            <a:r>
              <a:rPr lang="en-US" sz="1400" dirty="0">
                <a:solidFill>
                  <a:schemeClr val="tx2"/>
                </a:solidFill>
              </a:rPr>
              <a:t>변수 이름을 바꿔 같아지는 것끼리 묶기</a:t>
            </a:r>
            <a:endParaRPr lang="en-US" sz="1400" dirty="0"/>
          </a:p>
        </p:txBody>
      </p:sp>
      <p:sp>
        <p:nvSpPr>
          <p:cNvPr id="13" name="stat-card"/>
          <p:cNvSpPr/>
          <p:nvPr/>
        </p:nvSpPr>
        <p:spPr>
          <a:xfrm>
            <a:off x="7159752" y="2057400"/>
            <a:ext cx="4480560" cy="2331720"/>
          </a:xfrm>
          <a:prstGeom prst="roundRect">
            <a:avLst>
              <a:gd name="adj" fmla="val 3137"/>
            </a:avLst>
          </a:prstGeom>
          <a:solidFill>
            <a:schemeClr val="bg2"/>
          </a:solidFill>
          <a:ln w="3175">
            <a:solidFill>
              <a:schemeClr val="bg2"/>
            </a:solidFill>
            <a:prstDash val="solid"/>
          </a:ln>
        </p:spPr>
      </p:sp>
      <p:sp>
        <p:nvSpPr>
          <p:cNvPr id="14" name="stat-orbits"/>
          <p:cNvSpPr txBox="1"/>
          <p:nvPr/>
        </p:nvSpPr>
        <p:spPr>
          <a:xfrm>
            <a:off x="7159752" y="2194560"/>
            <a:ext cx="4480560" cy="1280160"/>
          </a:xfrm>
          <a:prstGeom prst="rect">
            <a:avLst/>
          </a:prstGeom>
          <a:noFill/>
          <a:ln/>
        </p:spPr>
        <p:txBody>
          <a:bodyPr wrap="square" lIns="0" tIns="0" rIns="0" bIns="0" rtlCol="0" anchor="ctr"/>
          <a:lstStyle/>
          <a:p>
            <a:pPr algn="ctr" indent="0" marL="0">
              <a:buNone/>
            </a:pPr>
            <a:r>
              <a:rPr lang="en-US" sz="6600" b="1" dirty="0">
                <a:solidFill>
                  <a:schemeClr val="accent1"/>
                </a:solidFill>
              </a:rPr>
              <a:t>3,984</a:t>
            </a:r>
            <a:endParaRPr lang="en-US" sz="6600" dirty="0"/>
          </a:p>
        </p:txBody>
      </p:sp>
      <p:sp>
        <p:nvSpPr>
          <p:cNvPr id="15" name="Text 12"/>
          <p:cNvSpPr txBox="1"/>
          <p:nvPr/>
        </p:nvSpPr>
        <p:spPr>
          <a:xfrm>
            <a:off x="7159752" y="3474720"/>
            <a:ext cx="4480560" cy="548640"/>
          </a:xfrm>
          <a:prstGeom prst="rect">
            <a:avLst/>
          </a:prstGeom>
          <a:noFill/>
          <a:ln/>
        </p:spPr>
        <p:txBody>
          <a:bodyPr wrap="square" lIns="0" tIns="0" rIns="0" bIns="0" rtlCol="0" anchor="t"/>
          <a:lstStyle/>
          <a:p>
            <a:pPr algn="ctr" indent="0" marL="0">
              <a:buNone/>
            </a:pPr>
            <a:r>
              <a:rPr lang="en-US" sz="1600" dirty="0">
                <a:solidFill>
                  <a:schemeClr val="tx2"/>
                </a:solidFill>
              </a:rPr>
              <a:t>서로 다른 종류 (궤도의 수)</a:t>
            </a:r>
            <a:endParaRPr lang="en-US" sz="1600" dirty="0"/>
          </a:p>
        </p:txBody>
      </p:sp>
      <p:sp>
        <p:nvSpPr>
          <p:cNvPr id="16" name="question-card"/>
          <p:cNvSpPr/>
          <p:nvPr/>
        </p:nvSpPr>
        <p:spPr>
          <a:xfrm>
            <a:off x="548640" y="4754880"/>
            <a:ext cx="3602736" cy="1371600"/>
          </a:xfrm>
          <a:prstGeom prst="roundRect">
            <a:avLst>
              <a:gd name="adj" fmla="val 5333"/>
            </a:avLst>
          </a:prstGeom>
          <a:solidFill>
            <a:schemeClr val="bg1"/>
          </a:solidFill>
          <a:ln w="12700">
            <a:solidFill>
              <a:schemeClr val="accent6"/>
            </a:solidFill>
            <a:prstDash val="solid"/>
          </a:ln>
        </p:spPr>
      </p:sp>
      <p:sp>
        <p:nvSpPr>
          <p:cNvPr id="17" name="Text 14"/>
          <p:cNvSpPr txBox="1"/>
          <p:nvPr/>
        </p:nvSpPr>
        <p:spPr>
          <a:xfrm>
            <a:off x="731520" y="4846320"/>
            <a:ext cx="2423160" cy="118872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아핀 L · 32개</a:t>
            </a:r>
            <a:endParaRPr lang="en-US" sz="1600" dirty="0"/>
          </a:p>
          <a:p>
            <a:pPr indent="0" marL="0">
              <a:buNone/>
            </a:pPr>
            <a:r>
              <a:rPr lang="en-US" sz="1400" dirty="0">
                <a:solidFill>
                  <a:schemeClr val="tx2"/>
                </a:solidFill>
              </a:rPr>
              <a:t>XOR로 만든 함수</a:t>
            </a:r>
            <a:endParaRPr lang="en-US" sz="1600" dirty="0"/>
          </a:p>
        </p:txBody>
      </p:sp>
      <p:sp>
        <p:nvSpPr>
          <p:cNvPr id="18" name="Text 15"/>
          <p:cNvSpPr txBox="1"/>
          <p:nvPr/>
        </p:nvSpPr>
        <p:spPr>
          <a:xfrm>
            <a:off x="3154680" y="4846320"/>
            <a:ext cx="914400" cy="1188720"/>
          </a:xfrm>
          <a:prstGeom prst="rect">
            <a:avLst/>
          </a:prstGeom>
          <a:noFill/>
          <a:ln/>
        </p:spPr>
        <p:txBody>
          <a:bodyPr wrap="square" lIns="0" tIns="0" rIns="0" bIns="0" rtlCol="0" anchor="ctr"/>
          <a:lstStyle/>
          <a:p>
            <a:pPr algn="ctr" indent="0" marL="0">
              <a:buNone/>
            </a:pPr>
            <a:r>
              <a:rPr lang="en-US" sz="2200" b="1" dirty="0">
                <a:solidFill>
                  <a:schemeClr val="accent1"/>
                </a:solidFill>
              </a:rPr>
              <a:t>? 종류</a:t>
            </a:r>
            <a:endParaRPr lang="en-US" sz="2200" dirty="0"/>
          </a:p>
        </p:txBody>
      </p:sp>
      <p:sp>
        <p:nvSpPr>
          <p:cNvPr id="19" name="question-card"/>
          <p:cNvSpPr/>
          <p:nvPr/>
        </p:nvSpPr>
        <p:spPr>
          <a:xfrm>
            <a:off x="4315968" y="4754880"/>
            <a:ext cx="3602736" cy="1371600"/>
          </a:xfrm>
          <a:prstGeom prst="roundRect">
            <a:avLst>
              <a:gd name="adj" fmla="val 5333"/>
            </a:avLst>
          </a:prstGeom>
          <a:solidFill>
            <a:schemeClr val="bg1"/>
          </a:solidFill>
          <a:ln w="12700">
            <a:solidFill>
              <a:schemeClr val="accent6"/>
            </a:solidFill>
            <a:prstDash val="solid"/>
          </a:ln>
        </p:spPr>
      </p:sp>
      <p:sp>
        <p:nvSpPr>
          <p:cNvPr id="20" name="Text 17"/>
          <p:cNvSpPr txBox="1"/>
          <p:nvPr/>
        </p:nvSpPr>
        <p:spPr>
          <a:xfrm>
            <a:off x="4498848" y="4846320"/>
            <a:ext cx="2423160" cy="118872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단조 M · 168개</a:t>
            </a:r>
            <a:endParaRPr lang="en-US" sz="1600" dirty="0"/>
          </a:p>
          <a:p>
            <a:pPr indent="0" marL="0">
              <a:buNone/>
            </a:pPr>
            <a:r>
              <a:rPr lang="en-US" sz="1400" dirty="0">
                <a:solidFill>
                  <a:schemeClr val="tx2"/>
                </a:solidFill>
              </a:rPr>
              <a:t>AND, OR로 만든 함수</a:t>
            </a:r>
            <a:endParaRPr lang="en-US" sz="1600" dirty="0"/>
          </a:p>
        </p:txBody>
      </p:sp>
      <p:sp>
        <p:nvSpPr>
          <p:cNvPr id="21" name="Text 18"/>
          <p:cNvSpPr txBox="1"/>
          <p:nvPr/>
        </p:nvSpPr>
        <p:spPr>
          <a:xfrm>
            <a:off x="6922008" y="4846320"/>
            <a:ext cx="914400" cy="1188720"/>
          </a:xfrm>
          <a:prstGeom prst="rect">
            <a:avLst/>
          </a:prstGeom>
          <a:noFill/>
          <a:ln/>
        </p:spPr>
        <p:txBody>
          <a:bodyPr wrap="square" lIns="0" tIns="0" rIns="0" bIns="0" rtlCol="0" anchor="ctr"/>
          <a:lstStyle/>
          <a:p>
            <a:pPr algn="ctr" indent="0" marL="0">
              <a:buNone/>
            </a:pPr>
            <a:r>
              <a:rPr lang="en-US" sz="2200" b="1" dirty="0">
                <a:solidFill>
                  <a:schemeClr val="accent1"/>
                </a:solidFill>
              </a:rPr>
              <a:t>? 종류</a:t>
            </a:r>
            <a:endParaRPr lang="en-US" sz="2200" dirty="0"/>
          </a:p>
        </p:txBody>
      </p:sp>
      <p:sp>
        <p:nvSpPr>
          <p:cNvPr id="22" name="question-card"/>
          <p:cNvSpPr/>
          <p:nvPr/>
        </p:nvSpPr>
        <p:spPr>
          <a:xfrm>
            <a:off x="8083296" y="4754880"/>
            <a:ext cx="3602736" cy="1371600"/>
          </a:xfrm>
          <a:prstGeom prst="roundRect">
            <a:avLst>
              <a:gd name="adj" fmla="val 5333"/>
            </a:avLst>
          </a:prstGeom>
          <a:solidFill>
            <a:schemeClr val="bg1"/>
          </a:solidFill>
          <a:ln w="12700">
            <a:solidFill>
              <a:schemeClr val="accent6"/>
            </a:solidFill>
            <a:prstDash val="solid"/>
          </a:ln>
        </p:spPr>
      </p:sp>
      <p:sp>
        <p:nvSpPr>
          <p:cNvPr id="23" name="Text 20"/>
          <p:cNvSpPr txBox="1"/>
          <p:nvPr/>
        </p:nvSpPr>
        <p:spPr>
          <a:xfrm>
            <a:off x="8266176" y="4846320"/>
            <a:ext cx="2423160" cy="118872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자기쌍대 D · 256개</a:t>
            </a:r>
            <a:endParaRPr lang="en-US" sz="1600" dirty="0"/>
          </a:p>
          <a:p>
            <a:pPr indent="0" marL="0">
              <a:buNone/>
            </a:pPr>
            <a:r>
              <a:rPr lang="en-US" sz="1400" dirty="0">
                <a:solidFill>
                  <a:schemeClr val="tx2"/>
                </a:solidFill>
              </a:rPr>
              <a:t>NOT, 다수결로 만든 함수</a:t>
            </a:r>
            <a:endParaRPr lang="en-US" sz="1600" dirty="0"/>
          </a:p>
        </p:txBody>
      </p:sp>
      <p:sp>
        <p:nvSpPr>
          <p:cNvPr id="24" name="Text 21"/>
          <p:cNvSpPr txBox="1"/>
          <p:nvPr/>
        </p:nvSpPr>
        <p:spPr>
          <a:xfrm>
            <a:off x="10689336" y="4846320"/>
            <a:ext cx="914400" cy="1188720"/>
          </a:xfrm>
          <a:prstGeom prst="rect">
            <a:avLst/>
          </a:prstGeom>
          <a:noFill/>
          <a:ln/>
        </p:spPr>
        <p:txBody>
          <a:bodyPr wrap="square" lIns="0" tIns="0" rIns="0" bIns="0" rtlCol="0" anchor="ctr"/>
          <a:lstStyle/>
          <a:p>
            <a:pPr algn="ctr" indent="0" marL="0">
              <a:buNone/>
            </a:pPr>
            <a:r>
              <a:rPr lang="en-US" sz="2200" b="1" dirty="0">
                <a:solidFill>
                  <a:schemeClr val="accent1"/>
                </a:solidFill>
              </a:rPr>
              <a:t>? 종류</a:t>
            </a:r>
            <a:endParaRPr lang="en-US" sz="2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0</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도입</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학습 목표와 오늘의 범위</a:t>
            </a:r>
            <a:endParaRPr lang="en-US" sz="3400" dirty="0"/>
          </a:p>
        </p:txBody>
      </p:sp>
      <p:sp>
        <p:nvSpPr>
          <p:cNvPr id="7" name="Text 4"/>
          <p:cNvSpPr txBox="1"/>
          <p:nvPr/>
        </p:nvSpPr>
        <p:spPr>
          <a:xfrm>
            <a:off x="548640" y="1600200"/>
            <a:ext cx="5943600" cy="365760"/>
          </a:xfrm>
          <a:prstGeom prst="rect">
            <a:avLst/>
          </a:prstGeom>
          <a:noFill/>
          <a:ln/>
        </p:spPr>
        <p:txBody>
          <a:bodyPr wrap="square" lIns="0" tIns="0" rIns="0" bIns="0" rtlCol="0" anchor="ctr"/>
          <a:lstStyle/>
          <a:p>
            <a:pPr indent="0" marL="0">
              <a:buNone/>
            </a:pPr>
            <a:r>
              <a:rPr lang="en-US" sz="2000" b="1" dirty="0">
                <a:solidFill>
                  <a:schemeClr val="tx1"/>
                </a:solidFill>
              </a:rPr>
              <a:t>학습 목표</a:t>
            </a:r>
            <a:endParaRPr lang="en-US" sz="2000" dirty="0"/>
          </a:p>
        </p:txBody>
      </p:sp>
      <p:sp>
        <p:nvSpPr>
          <p:cNvPr id="8" name="goal-card"/>
          <p:cNvSpPr/>
          <p:nvPr/>
        </p:nvSpPr>
        <p:spPr>
          <a:xfrm>
            <a:off x="548640" y="2103120"/>
            <a:ext cx="5943600" cy="896112"/>
          </a:xfrm>
          <a:prstGeom prst="roundRect">
            <a:avLst>
              <a:gd name="adj" fmla="val 8163"/>
            </a:avLst>
          </a:prstGeom>
          <a:solidFill>
            <a:schemeClr val="bg2"/>
          </a:solidFill>
          <a:ln w="3175">
            <a:solidFill>
              <a:schemeClr val="bg2"/>
            </a:solidFill>
            <a:prstDash val="solid"/>
          </a:ln>
        </p:spPr>
      </p:sp>
      <p:sp>
        <p:nvSpPr>
          <p:cNvPr id="9" name="badge"/>
          <p:cNvSpPr/>
          <p:nvPr/>
        </p:nvSpPr>
        <p:spPr>
          <a:xfrm>
            <a:off x="731520" y="2322576"/>
            <a:ext cx="457200" cy="457200"/>
          </a:xfrm>
          <a:prstGeom prst="ellipse">
            <a:avLst/>
          </a:prstGeom>
          <a:solidFill>
            <a:schemeClr val="accent2"/>
          </a:solidFill>
          <a:ln w="3175">
            <a:solidFill>
              <a:schemeClr val="accent2"/>
            </a:solidFill>
            <a:prstDash val="solid"/>
          </a:ln>
        </p:spPr>
      </p:sp>
      <p:sp>
        <p:nvSpPr>
          <p:cNvPr id="10" name="badge-label"/>
          <p:cNvSpPr txBox="1"/>
          <p:nvPr/>
        </p:nvSpPr>
        <p:spPr>
          <a:xfrm>
            <a:off x="731520" y="232257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1371600" y="2176272"/>
            <a:ext cx="4937760" cy="749808"/>
          </a:xfrm>
          <a:prstGeom prst="rect">
            <a:avLst/>
          </a:prstGeom>
          <a:noFill/>
          <a:ln/>
        </p:spPr>
        <p:txBody>
          <a:bodyPr wrap="square" lIns="0" tIns="0" rIns="0" bIns="0" rtlCol="0" anchor="ctr"/>
          <a:lstStyle/>
          <a:p>
            <a:pPr indent="0" marL="0">
              <a:buNone/>
            </a:pPr>
            <a:r>
              <a:rPr lang="en-US" sz="1600" dirty="0">
                <a:solidFill>
                  <a:schemeClr val="tx1"/>
                </a:solidFill>
              </a:rPr>
              <a:t>군의 작용, 궤도, 고정점을 4변수 부울 함수에 적용한다.</a:t>
            </a:r>
            <a:endParaRPr lang="en-US" sz="1600" dirty="0"/>
          </a:p>
        </p:txBody>
      </p:sp>
      <p:sp>
        <p:nvSpPr>
          <p:cNvPr id="12" name="goal-card"/>
          <p:cNvSpPr/>
          <p:nvPr/>
        </p:nvSpPr>
        <p:spPr>
          <a:xfrm>
            <a:off x="548640" y="3127248"/>
            <a:ext cx="5943600" cy="896112"/>
          </a:xfrm>
          <a:prstGeom prst="roundRect">
            <a:avLst>
              <a:gd name="adj" fmla="val 8163"/>
            </a:avLst>
          </a:prstGeom>
          <a:solidFill>
            <a:schemeClr val="bg2"/>
          </a:solidFill>
          <a:ln w="3175">
            <a:solidFill>
              <a:schemeClr val="bg2"/>
            </a:solidFill>
            <a:prstDash val="solid"/>
          </a:ln>
        </p:spPr>
      </p:sp>
      <p:sp>
        <p:nvSpPr>
          <p:cNvPr id="13" name="badge"/>
          <p:cNvSpPr/>
          <p:nvPr/>
        </p:nvSpPr>
        <p:spPr>
          <a:xfrm>
            <a:off x="731520" y="3346704"/>
            <a:ext cx="457200" cy="457200"/>
          </a:xfrm>
          <a:prstGeom prst="ellipse">
            <a:avLst/>
          </a:prstGeom>
          <a:solidFill>
            <a:schemeClr val="accent2"/>
          </a:solidFill>
          <a:ln w="3175">
            <a:solidFill>
              <a:schemeClr val="accent2"/>
            </a:solidFill>
            <a:prstDash val="solid"/>
          </a:ln>
        </p:spPr>
      </p:sp>
      <p:sp>
        <p:nvSpPr>
          <p:cNvPr id="14" name="badge-label"/>
          <p:cNvSpPr txBox="1"/>
          <p:nvPr/>
        </p:nvSpPr>
        <p:spPr>
          <a:xfrm>
            <a:off x="731520" y="334670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1371600" y="3200400"/>
            <a:ext cx="4937760" cy="749808"/>
          </a:xfrm>
          <a:prstGeom prst="rect">
            <a:avLst/>
          </a:prstGeom>
          <a:noFill/>
          <a:ln/>
        </p:spPr>
        <p:txBody>
          <a:bodyPr wrap="square" lIns="0" tIns="0" rIns="0" bIns="0" rtlCol="0" anchor="ctr"/>
          <a:lstStyle/>
          <a:p>
            <a:pPr indent="0" marL="0">
              <a:buNone/>
            </a:pPr>
            <a:r>
              <a:rPr lang="en-US" sz="1600" dirty="0">
                <a:solidFill>
                  <a:schemeClr val="tx1"/>
                </a:solidFill>
              </a:rPr>
              <a:t>번사이드 보조정리로 궤도의 수를 직접 계산한다 (3,984).</a:t>
            </a:r>
            <a:endParaRPr lang="en-US" sz="1600" dirty="0"/>
          </a:p>
        </p:txBody>
      </p:sp>
      <p:sp>
        <p:nvSpPr>
          <p:cNvPr id="16" name="goal-card"/>
          <p:cNvSpPr/>
          <p:nvPr/>
        </p:nvSpPr>
        <p:spPr>
          <a:xfrm>
            <a:off x="548640" y="4151376"/>
            <a:ext cx="5943600" cy="896112"/>
          </a:xfrm>
          <a:prstGeom prst="roundRect">
            <a:avLst>
              <a:gd name="adj" fmla="val 8163"/>
            </a:avLst>
          </a:prstGeom>
          <a:solidFill>
            <a:schemeClr val="bg2"/>
          </a:solidFill>
          <a:ln w="3175">
            <a:solidFill>
              <a:schemeClr val="bg2"/>
            </a:solidFill>
            <a:prstDash val="solid"/>
          </a:ln>
        </p:spPr>
      </p:sp>
      <p:sp>
        <p:nvSpPr>
          <p:cNvPr id="17" name="badge"/>
          <p:cNvSpPr/>
          <p:nvPr/>
        </p:nvSpPr>
        <p:spPr>
          <a:xfrm>
            <a:off x="731520" y="4370832"/>
            <a:ext cx="457200" cy="457200"/>
          </a:xfrm>
          <a:prstGeom prst="ellipse">
            <a:avLst/>
          </a:prstGeom>
          <a:solidFill>
            <a:schemeClr val="accent2"/>
          </a:solidFill>
          <a:ln w="3175">
            <a:solidFill>
              <a:schemeClr val="accent2"/>
            </a:solidFill>
            <a:prstDash val="solid"/>
          </a:ln>
        </p:spPr>
      </p:sp>
      <p:sp>
        <p:nvSpPr>
          <p:cNvPr id="18" name="badge-label"/>
          <p:cNvSpPr txBox="1"/>
          <p:nvPr/>
        </p:nvSpPr>
        <p:spPr>
          <a:xfrm>
            <a:off x="731520" y="437083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6"/>
          <p:cNvSpPr txBox="1"/>
          <p:nvPr/>
        </p:nvSpPr>
        <p:spPr>
          <a:xfrm>
            <a:off x="1371600" y="4224528"/>
            <a:ext cx="4937760" cy="749808"/>
          </a:xfrm>
          <a:prstGeom prst="rect">
            <a:avLst/>
          </a:prstGeom>
          <a:noFill/>
          <a:ln/>
        </p:spPr>
        <p:txBody>
          <a:bodyPr wrap="square" lIns="0" tIns="0" rIns="0" bIns="0" rtlCol="0" anchor="ctr"/>
          <a:lstStyle/>
          <a:p>
            <a:pPr indent="0" marL="0">
              <a:buNone/>
            </a:pPr>
            <a:r>
              <a:rPr lang="en-US" sz="1600" dirty="0">
                <a:solidFill>
                  <a:schemeClr val="tx1"/>
                </a:solidFill>
              </a:rPr>
              <a:t>아핀·단조·자기쌍대 세 클론의 궤도 구조(10 · 30 · 32)를 비교한다.</a:t>
            </a:r>
            <a:endParaRPr lang="en-US" sz="1600" dirty="0"/>
          </a:p>
        </p:txBody>
      </p:sp>
      <p:sp>
        <p:nvSpPr>
          <p:cNvPr id="20" name="scope-card"/>
          <p:cNvSpPr/>
          <p:nvPr/>
        </p:nvSpPr>
        <p:spPr>
          <a:xfrm>
            <a:off x="6812280" y="1600200"/>
            <a:ext cx="4828032" cy="3310128"/>
          </a:xfrm>
          <a:prstGeom prst="roundRect">
            <a:avLst>
              <a:gd name="adj" fmla="val 2210"/>
            </a:avLst>
          </a:prstGeom>
          <a:solidFill>
            <a:schemeClr val="bg1"/>
          </a:solidFill>
          <a:ln w="12700">
            <a:solidFill>
              <a:schemeClr val="accent6"/>
            </a:solidFill>
            <a:prstDash val="solid"/>
          </a:ln>
        </p:spPr>
      </p:sp>
      <p:sp>
        <p:nvSpPr>
          <p:cNvPr id="21" name="Text 18"/>
          <p:cNvSpPr txBox="1"/>
          <p:nvPr/>
        </p:nvSpPr>
        <p:spPr>
          <a:xfrm>
            <a:off x="7040880" y="1691640"/>
            <a:ext cx="4389120" cy="365760"/>
          </a:xfrm>
          <a:prstGeom prst="rect">
            <a:avLst/>
          </a:prstGeom>
          <a:noFill/>
          <a:ln/>
        </p:spPr>
        <p:txBody>
          <a:bodyPr wrap="square" lIns="0" tIns="0" rIns="0" bIns="0" rtlCol="0" anchor="ctr"/>
          <a:lstStyle/>
          <a:p>
            <a:pPr indent="0" marL="0">
              <a:buNone/>
            </a:pPr>
            <a:r>
              <a:rPr lang="en-US" sz="2000" b="1" dirty="0">
                <a:solidFill>
                  <a:schemeClr val="tx1"/>
                </a:solidFill>
              </a:rPr>
              <a:t>오늘의 범위</a:t>
            </a:r>
            <a:endParaRPr lang="en-US" sz="2000" dirty="0"/>
          </a:p>
        </p:txBody>
      </p:sp>
      <p:sp>
        <p:nvSpPr>
          <p:cNvPr id="22" name="Text 19"/>
          <p:cNvSpPr txBox="1"/>
          <p:nvPr/>
        </p:nvSpPr>
        <p:spPr>
          <a:xfrm>
            <a:off x="7040880" y="2148840"/>
            <a:ext cx="4434840" cy="269748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다루는 것</a:t>
            </a:r>
            <a:endParaRPr lang="en-US" sz="1700" dirty="0"/>
          </a:p>
          <a:p>
            <a:pPr marL="342900" indent="-342900">
              <a:spcAft>
                <a:spcPts val="400"/>
              </a:spcAft>
              <a:buSzPct val="100000"/>
              <a:buChar char="•"/>
            </a:pPr>
            <a:r>
              <a:rPr lang="en-US" sz="1500" dirty="0">
                <a:solidFill>
                  <a:schemeClr val="tx1"/>
                </a:solidFill>
              </a:rPr>
              <a:t>7번 논문 2.3–2.4절 (군의 작용, 번사이드)</a:t>
            </a:r>
            <a:endParaRPr lang="en-US" sz="1700" dirty="0"/>
          </a:p>
          <a:p>
            <a:pPr marL="342900" indent="-342900">
              <a:spcAft>
                <a:spcPts val="400"/>
              </a:spcAft>
              <a:buSzPct val="100000"/>
              <a:buChar char="•"/>
            </a:pPr>
            <a:r>
              <a:rPr lang="en-US" sz="1500" dirty="0">
                <a:solidFill>
                  <a:schemeClr val="tx1"/>
                </a:solidFill>
              </a:rPr>
              <a:t>5장 S₄ 궤도 분류 (6번 저장소의 핵심 결과)</a:t>
            </a:r>
            <a:endParaRPr lang="en-US" sz="1700" dirty="0"/>
          </a:p>
          <a:p>
            <a:pPr marL="342900" indent="-342900">
              <a:spcAft>
                <a:spcPts val="1200"/>
              </a:spcAft>
              <a:buSzPct val="100000"/>
              <a:buChar char="•"/>
            </a:pPr>
            <a:r>
              <a:rPr lang="en-US" sz="1500" dirty="0">
                <a:solidFill>
                  <a:schemeClr val="tx1"/>
                </a:solidFill>
              </a:rPr>
              <a:t>6장 요약: 입력 반전까지 허용한 B₄ (확장)</a:t>
            </a:r>
            <a:endParaRPr lang="en-US" sz="1700" dirty="0"/>
          </a:p>
          <a:p>
            <a:pPr indent="0" marL="0">
              <a:spcAft>
                <a:spcPts val="400"/>
              </a:spcAft>
              <a:buNone/>
            </a:pPr>
            <a:r>
              <a:rPr lang="en-US" sz="1700" b="1" dirty="0">
                <a:solidFill>
                  <a:schemeClr val="accent1"/>
                </a:solidFill>
              </a:rPr>
              <a:t>다루지 않는 것</a:t>
            </a:r>
            <a:endParaRPr lang="en-US" sz="1700" dirty="0"/>
          </a:p>
          <a:p>
            <a:pPr marL="342900" indent="-342900">
              <a:spcAft>
                <a:spcPts val="400"/>
              </a:spcAft>
              <a:buSzPct val="100000"/>
              <a:buChar char="•"/>
            </a:pPr>
            <a:r>
              <a:rPr lang="en-US" sz="1500" dirty="0">
                <a:solidFill>
                  <a:schemeClr val="tx1"/>
                </a:solidFill>
              </a:rPr>
              <a:t>카르노맵 변수 배치와 격자 대칭 (3장) — 결론만 18장에서 소개</a:t>
            </a:r>
            <a:endParaRPr lang="en-US" sz="1700" dirty="0"/>
          </a:p>
          <a:p>
            <a:pPr marL="342900" indent="-342900">
              <a:spcAft>
                <a:spcPts val="400"/>
              </a:spcAft>
              <a:buSzPct val="100000"/>
              <a:buChar char="•"/>
            </a:pPr>
            <a:r>
              <a:rPr lang="en-US" sz="1500" dirty="0">
                <a:solidFill>
                  <a:schemeClr val="tx1"/>
                </a:solidFill>
              </a:rPr>
              <a:t>완전 대칭 함수의 레이어 분류 (4장)</a:t>
            </a:r>
            <a:endParaRPr lang="en-US" sz="1700" dirty="0"/>
          </a:p>
          <a:p>
            <a:pPr marL="342900" indent="-342900">
              <a:buSzPct val="100000"/>
              <a:buChar char="•"/>
            </a:pPr>
            <a:r>
              <a:rPr lang="en-US" sz="1500" dirty="0">
                <a:solidFill>
                  <a:schemeClr val="tx1"/>
                </a:solidFill>
              </a:rPr>
              <a:t>카르노맵 그림의 종류 (6.5절)</a:t>
            </a:r>
            <a:endParaRPr lang="en-US" sz="1700" dirty="0"/>
          </a:p>
        </p:txBody>
      </p:sp>
      <p:sp>
        <p:nvSpPr>
          <p:cNvPr id="23" name="Text 20"/>
          <p:cNvSpPr txBox="1"/>
          <p:nvPr/>
        </p:nvSpPr>
        <p:spPr>
          <a:xfrm>
            <a:off x="548640" y="5285232"/>
            <a:ext cx="1828800" cy="320040"/>
          </a:xfrm>
          <a:prstGeom prst="rect">
            <a:avLst/>
          </a:prstGeom>
          <a:noFill/>
          <a:ln/>
        </p:spPr>
        <p:txBody>
          <a:bodyPr wrap="square" lIns="0" tIns="0" rIns="0" bIns="0" rtlCol="0" anchor="ctr"/>
          <a:lstStyle/>
          <a:p>
            <a:pPr indent="0" marL="0">
              <a:buNone/>
            </a:pPr>
            <a:r>
              <a:rPr lang="en-US" sz="1400" b="1" dirty="0">
                <a:solidFill>
                  <a:schemeClr val="tx2"/>
                </a:solidFill>
              </a:rPr>
              <a:t>오늘의 순서</a:t>
            </a:r>
            <a:endParaRPr lang="en-US" sz="1400" dirty="0"/>
          </a:p>
        </p:txBody>
      </p:sp>
      <p:sp>
        <p:nvSpPr>
          <p:cNvPr id="24" name="agenda-chip"/>
          <p:cNvSpPr/>
          <p:nvPr/>
        </p:nvSpPr>
        <p:spPr>
          <a:xfrm>
            <a:off x="548640" y="5669280"/>
            <a:ext cx="2103120" cy="502920"/>
          </a:xfrm>
          <a:prstGeom prst="roundRect">
            <a:avLst>
              <a:gd name="adj" fmla="val 14545"/>
            </a:avLst>
          </a:prstGeom>
          <a:solidFill>
            <a:schemeClr val="tx1"/>
          </a:solidFill>
          <a:ln w="3175">
            <a:solidFill>
              <a:schemeClr val="tx1"/>
            </a:solidFill>
            <a:prstDash val="solid"/>
          </a:ln>
        </p:spPr>
      </p:sp>
      <p:sp>
        <p:nvSpPr>
          <p:cNvPr id="25" name="Text 22"/>
          <p:cNvSpPr txBox="1"/>
          <p:nvPr/>
        </p:nvSpPr>
        <p:spPr>
          <a:xfrm>
            <a:off x="548640" y="566928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① 준비</a:t>
            </a:r>
            <a:endParaRPr lang="en-US" sz="1400" dirty="0"/>
          </a:p>
        </p:txBody>
      </p:sp>
      <p:sp>
        <p:nvSpPr>
          <p:cNvPr id="26" name="agenda-chip"/>
          <p:cNvSpPr/>
          <p:nvPr/>
        </p:nvSpPr>
        <p:spPr>
          <a:xfrm>
            <a:off x="2788920" y="5669280"/>
            <a:ext cx="2103120" cy="502920"/>
          </a:xfrm>
          <a:prstGeom prst="roundRect">
            <a:avLst>
              <a:gd name="adj" fmla="val 14545"/>
            </a:avLst>
          </a:prstGeom>
          <a:solidFill>
            <a:schemeClr val="tx1"/>
          </a:solidFill>
          <a:ln w="3175">
            <a:solidFill>
              <a:schemeClr val="tx1"/>
            </a:solidFill>
            <a:prstDash val="solid"/>
          </a:ln>
        </p:spPr>
      </p:sp>
      <p:sp>
        <p:nvSpPr>
          <p:cNvPr id="27" name="Text 24"/>
          <p:cNvSpPr txBox="1"/>
          <p:nvPr/>
        </p:nvSpPr>
        <p:spPr>
          <a:xfrm>
            <a:off x="2788920" y="566928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② 전체 공간</a:t>
            </a:r>
            <a:endParaRPr lang="en-US" sz="1400" dirty="0"/>
          </a:p>
        </p:txBody>
      </p:sp>
      <p:sp>
        <p:nvSpPr>
          <p:cNvPr id="28" name="agenda-chip"/>
          <p:cNvSpPr/>
          <p:nvPr/>
        </p:nvSpPr>
        <p:spPr>
          <a:xfrm>
            <a:off x="5029200" y="5669280"/>
            <a:ext cx="2103120" cy="502920"/>
          </a:xfrm>
          <a:prstGeom prst="roundRect">
            <a:avLst>
              <a:gd name="adj" fmla="val 14545"/>
            </a:avLst>
          </a:prstGeom>
          <a:solidFill>
            <a:schemeClr val="tx1"/>
          </a:solidFill>
          <a:ln w="3175">
            <a:solidFill>
              <a:schemeClr val="tx1"/>
            </a:solidFill>
            <a:prstDash val="solid"/>
          </a:ln>
        </p:spPr>
      </p:sp>
      <p:sp>
        <p:nvSpPr>
          <p:cNvPr id="29" name="Text 26"/>
          <p:cNvSpPr txBox="1"/>
          <p:nvPr/>
        </p:nvSpPr>
        <p:spPr>
          <a:xfrm>
            <a:off x="5029200" y="566928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③ 세 가지 클론</a:t>
            </a:r>
            <a:endParaRPr lang="en-US" sz="1400" dirty="0"/>
          </a:p>
        </p:txBody>
      </p:sp>
      <p:sp>
        <p:nvSpPr>
          <p:cNvPr id="30" name="agenda-chip"/>
          <p:cNvSpPr/>
          <p:nvPr/>
        </p:nvSpPr>
        <p:spPr>
          <a:xfrm>
            <a:off x="7269480" y="5669280"/>
            <a:ext cx="2103120" cy="502920"/>
          </a:xfrm>
          <a:prstGeom prst="roundRect">
            <a:avLst>
              <a:gd name="adj" fmla="val 14545"/>
            </a:avLst>
          </a:prstGeom>
          <a:solidFill>
            <a:schemeClr val="tx1"/>
          </a:solidFill>
          <a:ln w="3175">
            <a:solidFill>
              <a:schemeClr val="tx1"/>
            </a:solidFill>
            <a:prstDash val="solid"/>
          </a:ln>
        </p:spPr>
      </p:sp>
      <p:sp>
        <p:nvSpPr>
          <p:cNvPr id="31" name="Text 28"/>
          <p:cNvSpPr txBox="1"/>
          <p:nvPr/>
        </p:nvSpPr>
        <p:spPr>
          <a:xfrm>
            <a:off x="7269480" y="566928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④ 검증과 확장</a:t>
            </a:r>
            <a:endParaRPr lang="en-US" sz="1400" dirty="0"/>
          </a:p>
        </p:txBody>
      </p:sp>
      <p:sp>
        <p:nvSpPr>
          <p:cNvPr id="32" name="agenda-chip"/>
          <p:cNvSpPr/>
          <p:nvPr/>
        </p:nvSpPr>
        <p:spPr>
          <a:xfrm>
            <a:off x="9509760" y="5669280"/>
            <a:ext cx="2103120" cy="502920"/>
          </a:xfrm>
          <a:prstGeom prst="roundRect">
            <a:avLst>
              <a:gd name="adj" fmla="val 14545"/>
            </a:avLst>
          </a:prstGeom>
          <a:solidFill>
            <a:schemeClr val="tx1"/>
          </a:solidFill>
          <a:ln w="3175">
            <a:solidFill>
              <a:schemeClr val="tx1"/>
            </a:solidFill>
            <a:prstDash val="solid"/>
          </a:ln>
        </p:spPr>
      </p:sp>
      <p:sp>
        <p:nvSpPr>
          <p:cNvPr id="33" name="Text 30"/>
          <p:cNvSpPr txBox="1"/>
          <p:nvPr/>
        </p:nvSpPr>
        <p:spPr>
          <a:xfrm>
            <a:off x="9509760" y="566928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⑤ 정리</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4</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1부 · 준비</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4변수 부울 함수 공간</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함수 하나는 16비트 하나이므로, 함수는 모두 2</a:t>
            </a:r>
            <a:r>
              <a:rPr lang="en-US" sz="1800" baseline="30000" dirty="0">
                <a:solidFill>
                  <a:schemeClr val="tx2"/>
                </a:solidFill>
              </a:rPr>
              <a:t>16</a:t>
            </a:r>
            <a:r>
              <a:rPr lang="en-US" sz="1800" dirty="0">
                <a:solidFill>
                  <a:schemeClr val="tx2"/>
                </a:solidFill>
              </a:rPr>
              <a:t> = 65,536개</a:t>
            </a:r>
            <a:endParaRPr lang="en-US" sz="1800" dirty="0"/>
          </a:p>
        </p:txBody>
      </p:sp>
      <p:sp>
        <p:nvSpPr>
          <p:cNvPr id="8" name="bit-cell"/>
          <p:cNvSpPr/>
          <p:nvPr/>
        </p:nvSpPr>
        <p:spPr>
          <a:xfrm>
            <a:off x="594360" y="2011680"/>
            <a:ext cx="896112" cy="896112"/>
          </a:xfrm>
          <a:prstGeom prst="roundRect">
            <a:avLst>
              <a:gd name="adj" fmla="val 6122"/>
            </a:avLst>
          </a:prstGeom>
          <a:solidFill>
            <a:schemeClr val="bg2"/>
          </a:solidFill>
          <a:ln w="9525">
            <a:solidFill>
              <a:schemeClr val="accent6"/>
            </a:solidFill>
            <a:prstDash val="solid"/>
          </a:ln>
        </p:spPr>
      </p:sp>
      <p:sp>
        <p:nvSpPr>
          <p:cNvPr id="9" name="Text 6"/>
          <p:cNvSpPr txBox="1"/>
          <p:nvPr/>
        </p:nvSpPr>
        <p:spPr>
          <a:xfrm>
            <a:off x="594360" y="2066544"/>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10" name="Text 7"/>
          <p:cNvSpPr txBox="1"/>
          <p:nvPr/>
        </p:nvSpPr>
        <p:spPr>
          <a:xfrm>
            <a:off x="594360" y="2578608"/>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0000</a:t>
            </a:r>
            <a:endParaRPr lang="en-US" sz="1200" dirty="0"/>
          </a:p>
        </p:txBody>
      </p:sp>
      <p:sp>
        <p:nvSpPr>
          <p:cNvPr id="11" name="bit-cell"/>
          <p:cNvSpPr/>
          <p:nvPr/>
        </p:nvSpPr>
        <p:spPr>
          <a:xfrm>
            <a:off x="1581912" y="2011680"/>
            <a:ext cx="896112" cy="896112"/>
          </a:xfrm>
          <a:prstGeom prst="roundRect">
            <a:avLst>
              <a:gd name="adj" fmla="val 6122"/>
            </a:avLst>
          </a:prstGeom>
          <a:solidFill>
            <a:schemeClr val="accent2"/>
          </a:solidFill>
          <a:ln w="9525">
            <a:solidFill>
              <a:schemeClr val="accent2"/>
            </a:solidFill>
            <a:prstDash val="solid"/>
          </a:ln>
        </p:spPr>
      </p:sp>
      <p:sp>
        <p:nvSpPr>
          <p:cNvPr id="12" name="Text 9"/>
          <p:cNvSpPr txBox="1"/>
          <p:nvPr/>
        </p:nvSpPr>
        <p:spPr>
          <a:xfrm>
            <a:off x="1581912" y="2066544"/>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3" name="Text 10"/>
          <p:cNvSpPr txBox="1"/>
          <p:nvPr/>
        </p:nvSpPr>
        <p:spPr>
          <a:xfrm>
            <a:off x="1581912" y="2578608"/>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0001</a:t>
            </a:r>
            <a:endParaRPr lang="en-US" sz="1200" dirty="0"/>
          </a:p>
        </p:txBody>
      </p:sp>
      <p:sp>
        <p:nvSpPr>
          <p:cNvPr id="14" name="bit-cell"/>
          <p:cNvSpPr/>
          <p:nvPr/>
        </p:nvSpPr>
        <p:spPr>
          <a:xfrm>
            <a:off x="2569464" y="2011680"/>
            <a:ext cx="896112" cy="896112"/>
          </a:xfrm>
          <a:prstGeom prst="roundRect">
            <a:avLst>
              <a:gd name="adj" fmla="val 6122"/>
            </a:avLst>
          </a:prstGeom>
          <a:solidFill>
            <a:schemeClr val="accent2"/>
          </a:solidFill>
          <a:ln w="9525">
            <a:solidFill>
              <a:schemeClr val="accent2"/>
            </a:solidFill>
            <a:prstDash val="solid"/>
          </a:ln>
        </p:spPr>
      </p:sp>
      <p:sp>
        <p:nvSpPr>
          <p:cNvPr id="15" name="Text 12"/>
          <p:cNvSpPr txBox="1"/>
          <p:nvPr/>
        </p:nvSpPr>
        <p:spPr>
          <a:xfrm>
            <a:off x="2569464" y="2066544"/>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6" name="Text 13"/>
          <p:cNvSpPr txBox="1"/>
          <p:nvPr/>
        </p:nvSpPr>
        <p:spPr>
          <a:xfrm>
            <a:off x="2569464" y="2578608"/>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0010</a:t>
            </a:r>
            <a:endParaRPr lang="en-US" sz="1200" dirty="0"/>
          </a:p>
        </p:txBody>
      </p:sp>
      <p:sp>
        <p:nvSpPr>
          <p:cNvPr id="17" name="bit-cell"/>
          <p:cNvSpPr/>
          <p:nvPr/>
        </p:nvSpPr>
        <p:spPr>
          <a:xfrm>
            <a:off x="3557016" y="2011680"/>
            <a:ext cx="896112" cy="896112"/>
          </a:xfrm>
          <a:prstGeom prst="roundRect">
            <a:avLst>
              <a:gd name="adj" fmla="val 6122"/>
            </a:avLst>
          </a:prstGeom>
          <a:solidFill>
            <a:schemeClr val="bg2"/>
          </a:solidFill>
          <a:ln w="9525">
            <a:solidFill>
              <a:schemeClr val="accent6"/>
            </a:solidFill>
            <a:prstDash val="solid"/>
          </a:ln>
        </p:spPr>
      </p:sp>
      <p:sp>
        <p:nvSpPr>
          <p:cNvPr id="18" name="Text 15"/>
          <p:cNvSpPr txBox="1"/>
          <p:nvPr/>
        </p:nvSpPr>
        <p:spPr>
          <a:xfrm>
            <a:off x="3557016" y="2066544"/>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19" name="Text 16"/>
          <p:cNvSpPr txBox="1"/>
          <p:nvPr/>
        </p:nvSpPr>
        <p:spPr>
          <a:xfrm>
            <a:off x="3557016" y="2578608"/>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0011</a:t>
            </a:r>
            <a:endParaRPr lang="en-US" sz="1200" dirty="0"/>
          </a:p>
        </p:txBody>
      </p:sp>
      <p:sp>
        <p:nvSpPr>
          <p:cNvPr id="20" name="bit-cell"/>
          <p:cNvSpPr/>
          <p:nvPr/>
        </p:nvSpPr>
        <p:spPr>
          <a:xfrm>
            <a:off x="594360" y="2999232"/>
            <a:ext cx="896112" cy="896112"/>
          </a:xfrm>
          <a:prstGeom prst="roundRect">
            <a:avLst>
              <a:gd name="adj" fmla="val 6122"/>
            </a:avLst>
          </a:prstGeom>
          <a:solidFill>
            <a:schemeClr val="accent2"/>
          </a:solidFill>
          <a:ln w="9525">
            <a:solidFill>
              <a:schemeClr val="accent2"/>
            </a:solidFill>
            <a:prstDash val="solid"/>
          </a:ln>
        </p:spPr>
      </p:sp>
      <p:sp>
        <p:nvSpPr>
          <p:cNvPr id="21" name="Text 18"/>
          <p:cNvSpPr txBox="1"/>
          <p:nvPr/>
        </p:nvSpPr>
        <p:spPr>
          <a:xfrm>
            <a:off x="594360" y="3054096"/>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22" name="Text 19"/>
          <p:cNvSpPr txBox="1"/>
          <p:nvPr/>
        </p:nvSpPr>
        <p:spPr>
          <a:xfrm>
            <a:off x="594360" y="3566160"/>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0100</a:t>
            </a:r>
            <a:endParaRPr lang="en-US" sz="1200" dirty="0"/>
          </a:p>
        </p:txBody>
      </p:sp>
      <p:sp>
        <p:nvSpPr>
          <p:cNvPr id="23" name="bit-cell"/>
          <p:cNvSpPr/>
          <p:nvPr/>
        </p:nvSpPr>
        <p:spPr>
          <a:xfrm>
            <a:off x="1581912" y="2999232"/>
            <a:ext cx="896112" cy="896112"/>
          </a:xfrm>
          <a:prstGeom prst="roundRect">
            <a:avLst>
              <a:gd name="adj" fmla="val 6122"/>
            </a:avLst>
          </a:prstGeom>
          <a:solidFill>
            <a:schemeClr val="bg2"/>
          </a:solidFill>
          <a:ln w="9525">
            <a:solidFill>
              <a:schemeClr val="accent6"/>
            </a:solidFill>
            <a:prstDash val="solid"/>
          </a:ln>
        </p:spPr>
      </p:sp>
      <p:sp>
        <p:nvSpPr>
          <p:cNvPr id="24" name="Text 21"/>
          <p:cNvSpPr txBox="1"/>
          <p:nvPr/>
        </p:nvSpPr>
        <p:spPr>
          <a:xfrm>
            <a:off x="1581912" y="3054096"/>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25" name="Text 22"/>
          <p:cNvSpPr txBox="1"/>
          <p:nvPr/>
        </p:nvSpPr>
        <p:spPr>
          <a:xfrm>
            <a:off x="1581912" y="3566160"/>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0101</a:t>
            </a:r>
            <a:endParaRPr lang="en-US" sz="1200" dirty="0"/>
          </a:p>
        </p:txBody>
      </p:sp>
      <p:sp>
        <p:nvSpPr>
          <p:cNvPr id="26" name="bit-cell"/>
          <p:cNvSpPr/>
          <p:nvPr/>
        </p:nvSpPr>
        <p:spPr>
          <a:xfrm>
            <a:off x="2569464" y="2999232"/>
            <a:ext cx="896112" cy="896112"/>
          </a:xfrm>
          <a:prstGeom prst="roundRect">
            <a:avLst>
              <a:gd name="adj" fmla="val 6122"/>
            </a:avLst>
          </a:prstGeom>
          <a:solidFill>
            <a:schemeClr val="bg2"/>
          </a:solidFill>
          <a:ln w="9525">
            <a:solidFill>
              <a:schemeClr val="accent6"/>
            </a:solidFill>
            <a:prstDash val="solid"/>
          </a:ln>
        </p:spPr>
      </p:sp>
      <p:sp>
        <p:nvSpPr>
          <p:cNvPr id="27" name="Text 24"/>
          <p:cNvSpPr txBox="1"/>
          <p:nvPr/>
        </p:nvSpPr>
        <p:spPr>
          <a:xfrm>
            <a:off x="2569464" y="3054096"/>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28" name="Text 25"/>
          <p:cNvSpPr txBox="1"/>
          <p:nvPr/>
        </p:nvSpPr>
        <p:spPr>
          <a:xfrm>
            <a:off x="2569464" y="3566160"/>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0110</a:t>
            </a:r>
            <a:endParaRPr lang="en-US" sz="1200" dirty="0"/>
          </a:p>
        </p:txBody>
      </p:sp>
      <p:sp>
        <p:nvSpPr>
          <p:cNvPr id="29" name="bit-cell"/>
          <p:cNvSpPr/>
          <p:nvPr/>
        </p:nvSpPr>
        <p:spPr>
          <a:xfrm>
            <a:off x="3557016" y="2999232"/>
            <a:ext cx="896112" cy="896112"/>
          </a:xfrm>
          <a:prstGeom prst="roundRect">
            <a:avLst>
              <a:gd name="adj" fmla="val 6122"/>
            </a:avLst>
          </a:prstGeom>
          <a:solidFill>
            <a:schemeClr val="accent2"/>
          </a:solidFill>
          <a:ln w="9525">
            <a:solidFill>
              <a:schemeClr val="accent2"/>
            </a:solidFill>
            <a:prstDash val="solid"/>
          </a:ln>
        </p:spPr>
      </p:sp>
      <p:sp>
        <p:nvSpPr>
          <p:cNvPr id="30" name="Text 27"/>
          <p:cNvSpPr txBox="1"/>
          <p:nvPr/>
        </p:nvSpPr>
        <p:spPr>
          <a:xfrm>
            <a:off x="3557016" y="3054096"/>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31" name="Text 28"/>
          <p:cNvSpPr txBox="1"/>
          <p:nvPr/>
        </p:nvSpPr>
        <p:spPr>
          <a:xfrm>
            <a:off x="3557016" y="3566160"/>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0111</a:t>
            </a:r>
            <a:endParaRPr lang="en-US" sz="1200" dirty="0"/>
          </a:p>
        </p:txBody>
      </p:sp>
      <p:sp>
        <p:nvSpPr>
          <p:cNvPr id="32" name="bit-cell"/>
          <p:cNvSpPr/>
          <p:nvPr/>
        </p:nvSpPr>
        <p:spPr>
          <a:xfrm>
            <a:off x="594360" y="3986784"/>
            <a:ext cx="896112" cy="896112"/>
          </a:xfrm>
          <a:prstGeom prst="roundRect">
            <a:avLst>
              <a:gd name="adj" fmla="val 6122"/>
            </a:avLst>
          </a:prstGeom>
          <a:solidFill>
            <a:schemeClr val="accent2"/>
          </a:solidFill>
          <a:ln w="9525">
            <a:solidFill>
              <a:schemeClr val="accent2"/>
            </a:solidFill>
            <a:prstDash val="solid"/>
          </a:ln>
        </p:spPr>
      </p:sp>
      <p:sp>
        <p:nvSpPr>
          <p:cNvPr id="33" name="Text 30"/>
          <p:cNvSpPr txBox="1"/>
          <p:nvPr/>
        </p:nvSpPr>
        <p:spPr>
          <a:xfrm>
            <a:off x="594360" y="4041648"/>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34" name="Text 31"/>
          <p:cNvSpPr txBox="1"/>
          <p:nvPr/>
        </p:nvSpPr>
        <p:spPr>
          <a:xfrm>
            <a:off x="594360" y="4553712"/>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1000</a:t>
            </a:r>
            <a:endParaRPr lang="en-US" sz="1200" dirty="0"/>
          </a:p>
        </p:txBody>
      </p:sp>
      <p:sp>
        <p:nvSpPr>
          <p:cNvPr id="35" name="bit-cell"/>
          <p:cNvSpPr/>
          <p:nvPr/>
        </p:nvSpPr>
        <p:spPr>
          <a:xfrm>
            <a:off x="1581912" y="3986784"/>
            <a:ext cx="896112" cy="896112"/>
          </a:xfrm>
          <a:prstGeom prst="roundRect">
            <a:avLst>
              <a:gd name="adj" fmla="val 6122"/>
            </a:avLst>
          </a:prstGeom>
          <a:solidFill>
            <a:schemeClr val="bg2"/>
          </a:solidFill>
          <a:ln w="9525">
            <a:solidFill>
              <a:schemeClr val="accent6"/>
            </a:solidFill>
            <a:prstDash val="solid"/>
          </a:ln>
        </p:spPr>
      </p:sp>
      <p:sp>
        <p:nvSpPr>
          <p:cNvPr id="36" name="Text 33"/>
          <p:cNvSpPr txBox="1"/>
          <p:nvPr/>
        </p:nvSpPr>
        <p:spPr>
          <a:xfrm>
            <a:off x="1581912" y="4041648"/>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37" name="Text 34"/>
          <p:cNvSpPr txBox="1"/>
          <p:nvPr/>
        </p:nvSpPr>
        <p:spPr>
          <a:xfrm>
            <a:off x="1581912" y="4553712"/>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1001</a:t>
            </a:r>
            <a:endParaRPr lang="en-US" sz="1200" dirty="0"/>
          </a:p>
        </p:txBody>
      </p:sp>
      <p:sp>
        <p:nvSpPr>
          <p:cNvPr id="38" name="bit-cell"/>
          <p:cNvSpPr/>
          <p:nvPr/>
        </p:nvSpPr>
        <p:spPr>
          <a:xfrm>
            <a:off x="2569464" y="3986784"/>
            <a:ext cx="896112" cy="896112"/>
          </a:xfrm>
          <a:prstGeom prst="roundRect">
            <a:avLst>
              <a:gd name="adj" fmla="val 6122"/>
            </a:avLst>
          </a:prstGeom>
          <a:solidFill>
            <a:schemeClr val="bg2"/>
          </a:solidFill>
          <a:ln w="9525">
            <a:solidFill>
              <a:schemeClr val="accent6"/>
            </a:solidFill>
            <a:prstDash val="solid"/>
          </a:ln>
        </p:spPr>
      </p:sp>
      <p:sp>
        <p:nvSpPr>
          <p:cNvPr id="39" name="Text 36"/>
          <p:cNvSpPr txBox="1"/>
          <p:nvPr/>
        </p:nvSpPr>
        <p:spPr>
          <a:xfrm>
            <a:off x="2569464" y="4041648"/>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40" name="Text 37"/>
          <p:cNvSpPr txBox="1"/>
          <p:nvPr/>
        </p:nvSpPr>
        <p:spPr>
          <a:xfrm>
            <a:off x="2569464" y="4553712"/>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1010</a:t>
            </a:r>
            <a:endParaRPr lang="en-US" sz="1200" dirty="0"/>
          </a:p>
        </p:txBody>
      </p:sp>
      <p:sp>
        <p:nvSpPr>
          <p:cNvPr id="41" name="bit-cell"/>
          <p:cNvSpPr/>
          <p:nvPr/>
        </p:nvSpPr>
        <p:spPr>
          <a:xfrm>
            <a:off x="3557016" y="3986784"/>
            <a:ext cx="896112" cy="896112"/>
          </a:xfrm>
          <a:prstGeom prst="roundRect">
            <a:avLst>
              <a:gd name="adj" fmla="val 6122"/>
            </a:avLst>
          </a:prstGeom>
          <a:solidFill>
            <a:schemeClr val="accent2"/>
          </a:solidFill>
          <a:ln w="9525">
            <a:solidFill>
              <a:schemeClr val="accent2"/>
            </a:solidFill>
            <a:prstDash val="solid"/>
          </a:ln>
        </p:spPr>
      </p:sp>
      <p:sp>
        <p:nvSpPr>
          <p:cNvPr id="42" name="Text 39"/>
          <p:cNvSpPr txBox="1"/>
          <p:nvPr/>
        </p:nvSpPr>
        <p:spPr>
          <a:xfrm>
            <a:off x="3557016" y="4041648"/>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43" name="Text 40"/>
          <p:cNvSpPr txBox="1"/>
          <p:nvPr/>
        </p:nvSpPr>
        <p:spPr>
          <a:xfrm>
            <a:off x="3557016" y="4553712"/>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1011</a:t>
            </a:r>
            <a:endParaRPr lang="en-US" sz="1200" dirty="0"/>
          </a:p>
        </p:txBody>
      </p:sp>
      <p:sp>
        <p:nvSpPr>
          <p:cNvPr id="44" name="bit-cell"/>
          <p:cNvSpPr/>
          <p:nvPr/>
        </p:nvSpPr>
        <p:spPr>
          <a:xfrm>
            <a:off x="594360" y="4974336"/>
            <a:ext cx="896112" cy="896112"/>
          </a:xfrm>
          <a:prstGeom prst="roundRect">
            <a:avLst>
              <a:gd name="adj" fmla="val 6122"/>
            </a:avLst>
          </a:prstGeom>
          <a:solidFill>
            <a:schemeClr val="bg2"/>
          </a:solidFill>
          <a:ln w="9525">
            <a:solidFill>
              <a:schemeClr val="accent6"/>
            </a:solidFill>
            <a:prstDash val="solid"/>
          </a:ln>
        </p:spPr>
      </p:sp>
      <p:sp>
        <p:nvSpPr>
          <p:cNvPr id="45" name="Text 42"/>
          <p:cNvSpPr txBox="1"/>
          <p:nvPr/>
        </p:nvSpPr>
        <p:spPr>
          <a:xfrm>
            <a:off x="594360" y="5029200"/>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46" name="Text 43"/>
          <p:cNvSpPr txBox="1"/>
          <p:nvPr/>
        </p:nvSpPr>
        <p:spPr>
          <a:xfrm>
            <a:off x="594360" y="5541264"/>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1100</a:t>
            </a:r>
            <a:endParaRPr lang="en-US" sz="1200" dirty="0"/>
          </a:p>
        </p:txBody>
      </p:sp>
      <p:sp>
        <p:nvSpPr>
          <p:cNvPr id="47" name="bit-cell"/>
          <p:cNvSpPr/>
          <p:nvPr/>
        </p:nvSpPr>
        <p:spPr>
          <a:xfrm>
            <a:off x="1581912" y="4974336"/>
            <a:ext cx="896112" cy="896112"/>
          </a:xfrm>
          <a:prstGeom prst="roundRect">
            <a:avLst>
              <a:gd name="adj" fmla="val 6122"/>
            </a:avLst>
          </a:prstGeom>
          <a:solidFill>
            <a:schemeClr val="accent2"/>
          </a:solidFill>
          <a:ln w="9525">
            <a:solidFill>
              <a:schemeClr val="accent2"/>
            </a:solidFill>
            <a:prstDash val="solid"/>
          </a:ln>
        </p:spPr>
      </p:sp>
      <p:sp>
        <p:nvSpPr>
          <p:cNvPr id="48" name="Text 45"/>
          <p:cNvSpPr txBox="1"/>
          <p:nvPr/>
        </p:nvSpPr>
        <p:spPr>
          <a:xfrm>
            <a:off x="1581912" y="5029200"/>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49" name="Text 46"/>
          <p:cNvSpPr txBox="1"/>
          <p:nvPr/>
        </p:nvSpPr>
        <p:spPr>
          <a:xfrm>
            <a:off x="1581912" y="5541264"/>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1101</a:t>
            </a:r>
            <a:endParaRPr lang="en-US" sz="1200" dirty="0"/>
          </a:p>
        </p:txBody>
      </p:sp>
      <p:sp>
        <p:nvSpPr>
          <p:cNvPr id="50" name="bit-cell"/>
          <p:cNvSpPr/>
          <p:nvPr/>
        </p:nvSpPr>
        <p:spPr>
          <a:xfrm>
            <a:off x="2569464" y="4974336"/>
            <a:ext cx="896112" cy="896112"/>
          </a:xfrm>
          <a:prstGeom prst="roundRect">
            <a:avLst>
              <a:gd name="adj" fmla="val 6122"/>
            </a:avLst>
          </a:prstGeom>
          <a:solidFill>
            <a:schemeClr val="accent2"/>
          </a:solidFill>
          <a:ln w="9525">
            <a:solidFill>
              <a:schemeClr val="accent2"/>
            </a:solidFill>
            <a:prstDash val="solid"/>
          </a:ln>
        </p:spPr>
      </p:sp>
      <p:sp>
        <p:nvSpPr>
          <p:cNvPr id="51" name="Text 48"/>
          <p:cNvSpPr txBox="1"/>
          <p:nvPr/>
        </p:nvSpPr>
        <p:spPr>
          <a:xfrm>
            <a:off x="2569464" y="5029200"/>
            <a:ext cx="896112"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2" name="Text 49"/>
          <p:cNvSpPr txBox="1"/>
          <p:nvPr/>
        </p:nvSpPr>
        <p:spPr>
          <a:xfrm>
            <a:off x="2569464" y="5541264"/>
            <a:ext cx="896112" cy="274320"/>
          </a:xfrm>
          <a:prstGeom prst="rect">
            <a:avLst/>
          </a:prstGeom>
          <a:noFill/>
          <a:ln/>
        </p:spPr>
        <p:txBody>
          <a:bodyPr wrap="square" lIns="0" tIns="0" rIns="0" bIns="0" rtlCol="0" anchor="ctr"/>
          <a:lstStyle/>
          <a:p>
            <a:pPr algn="ctr" indent="0" marL="0">
              <a:buNone/>
            </a:pPr>
            <a:r>
              <a:rPr lang="en-US" sz="1200" dirty="0">
                <a:solidFill>
                  <a:schemeClr val="bg1"/>
                </a:solidFill>
              </a:rPr>
              <a:t>1110</a:t>
            </a:r>
            <a:endParaRPr lang="en-US" sz="1200" dirty="0"/>
          </a:p>
        </p:txBody>
      </p:sp>
      <p:sp>
        <p:nvSpPr>
          <p:cNvPr id="53" name="bit-cell"/>
          <p:cNvSpPr/>
          <p:nvPr/>
        </p:nvSpPr>
        <p:spPr>
          <a:xfrm>
            <a:off x="3557016" y="4974336"/>
            <a:ext cx="896112" cy="896112"/>
          </a:xfrm>
          <a:prstGeom prst="roundRect">
            <a:avLst>
              <a:gd name="adj" fmla="val 6122"/>
            </a:avLst>
          </a:prstGeom>
          <a:solidFill>
            <a:schemeClr val="bg2"/>
          </a:solidFill>
          <a:ln w="9525">
            <a:solidFill>
              <a:schemeClr val="accent6"/>
            </a:solidFill>
            <a:prstDash val="solid"/>
          </a:ln>
        </p:spPr>
      </p:sp>
      <p:sp>
        <p:nvSpPr>
          <p:cNvPr id="54" name="Text 51"/>
          <p:cNvSpPr txBox="1"/>
          <p:nvPr/>
        </p:nvSpPr>
        <p:spPr>
          <a:xfrm>
            <a:off x="3557016" y="5029200"/>
            <a:ext cx="896112" cy="502920"/>
          </a:xfrm>
          <a:prstGeom prst="rect">
            <a:avLst/>
          </a:prstGeom>
          <a:noFill/>
          <a:ln/>
        </p:spPr>
        <p:txBody>
          <a:bodyPr wrap="square" lIns="0" tIns="0" rIns="0" bIns="0" rtlCol="0" anchor="ctr"/>
          <a:lstStyle/>
          <a:p>
            <a:pPr algn="ctr" indent="0" marL="0">
              <a:buNone/>
            </a:pPr>
            <a:r>
              <a:rPr lang="en-US" sz="2400" b="1" dirty="0">
                <a:solidFill>
                  <a:schemeClr val="tx1"/>
                </a:solidFill>
              </a:rPr>
              <a:t>0</a:t>
            </a:r>
            <a:endParaRPr lang="en-US" sz="2400" dirty="0"/>
          </a:p>
        </p:txBody>
      </p:sp>
      <p:sp>
        <p:nvSpPr>
          <p:cNvPr id="55" name="Text 52"/>
          <p:cNvSpPr txBox="1"/>
          <p:nvPr/>
        </p:nvSpPr>
        <p:spPr>
          <a:xfrm>
            <a:off x="3557016" y="5541264"/>
            <a:ext cx="896112" cy="274320"/>
          </a:xfrm>
          <a:prstGeom prst="rect">
            <a:avLst/>
          </a:prstGeom>
          <a:noFill/>
          <a:ln/>
        </p:spPr>
        <p:txBody>
          <a:bodyPr wrap="square" lIns="0" tIns="0" rIns="0" bIns="0" rtlCol="0" anchor="ctr"/>
          <a:lstStyle/>
          <a:p>
            <a:pPr algn="ctr" indent="0" marL="0">
              <a:buNone/>
            </a:pPr>
            <a:r>
              <a:rPr lang="en-US" sz="1200" dirty="0">
                <a:solidFill>
                  <a:schemeClr val="tx2"/>
                </a:solidFill>
              </a:rPr>
              <a:t>1111</a:t>
            </a:r>
            <a:endParaRPr lang="en-US" sz="1200" dirty="0"/>
          </a:p>
        </p:txBody>
      </p:sp>
      <p:sp>
        <p:nvSpPr>
          <p:cNvPr id="56" name="Text 53"/>
          <p:cNvSpPr txBox="1"/>
          <p:nvPr/>
        </p:nvSpPr>
        <p:spPr>
          <a:xfrm>
            <a:off x="548640" y="5989320"/>
            <a:ext cx="5120640" cy="274320"/>
          </a:xfrm>
          <a:prstGeom prst="rect">
            <a:avLst/>
          </a:prstGeom>
          <a:noFill/>
          <a:ln/>
        </p:spPr>
        <p:txBody>
          <a:bodyPr wrap="square" lIns="0" tIns="0" rIns="0" bIns="0" rtlCol="0" anchor="ctr"/>
          <a:lstStyle/>
          <a:p>
            <a:pPr indent="0" marL="0">
              <a:buNone/>
            </a:pPr>
            <a:r>
              <a:rPr lang="en-US" sz="1200" dirty="0">
                <a:solidFill>
                  <a:schemeClr val="tx2"/>
                </a:solidFill>
              </a:rPr>
              <a:t>예: 4변수 XOR = 0110 1001 1001 0110 (칸 아래: 입력점 x₁x₂x₃x₄)</a:t>
            </a:r>
            <a:endParaRPr lang="en-US" sz="1200" dirty="0"/>
          </a:p>
        </p:txBody>
      </p:sp>
      <p:sp>
        <p:nvSpPr>
          <p:cNvPr id="57" name="info-card"/>
          <p:cNvSpPr/>
          <p:nvPr/>
        </p:nvSpPr>
        <p:spPr>
          <a:xfrm>
            <a:off x="5806440" y="2011680"/>
            <a:ext cx="5833872" cy="3858768"/>
          </a:xfrm>
          <a:prstGeom prst="roundRect">
            <a:avLst>
              <a:gd name="adj" fmla="val 1896"/>
            </a:avLst>
          </a:prstGeom>
          <a:solidFill>
            <a:schemeClr val="bg2"/>
          </a:solidFill>
          <a:ln w="3175">
            <a:solidFill>
              <a:schemeClr val="bg2"/>
            </a:solidFill>
            <a:prstDash val="solid"/>
          </a:ln>
        </p:spPr>
      </p:sp>
      <p:sp>
        <p:nvSpPr>
          <p:cNvPr id="58" name="Text 55"/>
          <p:cNvSpPr txBox="1"/>
          <p:nvPr/>
        </p:nvSpPr>
        <p:spPr>
          <a:xfrm>
            <a:off x="6080760" y="2194560"/>
            <a:ext cx="5303520" cy="352044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입력점과 함수</a:t>
            </a:r>
            <a:endParaRPr lang="en-US" sz="1800" dirty="0"/>
          </a:p>
          <a:p>
            <a:pPr marL="342900" indent="-342900">
              <a:spcAft>
                <a:spcPts val="600"/>
              </a:spcAft>
              <a:buSzPct val="100000"/>
              <a:buChar char="•"/>
            </a:pPr>
            <a:r>
              <a:rPr lang="en-US" sz="1600" dirty="0">
                <a:solidFill>
                  <a:schemeClr val="tx1"/>
                </a:solidFill>
              </a:rPr>
              <a:t>입력점 x = (x</a:t>
            </a:r>
            <a:r>
              <a:rPr lang="en-US" sz="1600" baseline="-40000" dirty="0">
                <a:solidFill>
                  <a:schemeClr val="tx1"/>
                </a:solidFill>
              </a:rPr>
              <a:t>1</a:t>
            </a:r>
            <a:r>
              <a:rPr lang="en-US" sz="1600" dirty="0">
                <a:solidFill>
                  <a:schemeClr val="tx1"/>
                </a:solidFill>
              </a:rPr>
              <a:t>, x</a:t>
            </a:r>
            <a:r>
              <a:rPr lang="en-US" sz="1600" baseline="-40000" dirty="0">
                <a:solidFill>
                  <a:schemeClr val="tx1"/>
                </a:solidFill>
              </a:rPr>
              <a:t>2</a:t>
            </a:r>
            <a:r>
              <a:rPr lang="en-US" sz="1600" dirty="0">
                <a:solidFill>
                  <a:schemeClr val="tx1"/>
                </a:solidFill>
              </a:rPr>
              <a:t>, x</a:t>
            </a:r>
            <a:r>
              <a:rPr lang="en-US" sz="1600" baseline="-40000" dirty="0">
                <a:solidFill>
                  <a:schemeClr val="tx1"/>
                </a:solidFill>
              </a:rPr>
              <a:t>3</a:t>
            </a:r>
            <a:r>
              <a:rPr lang="en-US" sz="1600" dirty="0">
                <a:solidFill>
                  <a:schemeClr val="tx1"/>
                </a:solidFill>
              </a:rPr>
              <a:t>, x</a:t>
            </a:r>
            <a:r>
              <a:rPr lang="en-US" sz="1600" baseline="-40000" dirty="0">
                <a:solidFill>
                  <a:schemeClr val="tx1"/>
                </a:solidFill>
              </a:rPr>
              <a:t>4</a:t>
            </a:r>
            <a:r>
              <a:rPr lang="en-US" sz="1600" dirty="0">
                <a:solidFill>
                  <a:schemeClr val="tx1"/>
                </a:solidFill>
              </a:rPr>
              <a:t>) ∈ Z</a:t>
            </a:r>
            <a:r>
              <a:rPr lang="en-US" sz="1600" baseline="-40000" dirty="0">
                <a:solidFill>
                  <a:schemeClr val="tx1"/>
                </a:solidFill>
              </a:rPr>
              <a:t>2</a:t>
            </a:r>
            <a:r>
              <a:rPr lang="en-US" sz="1600" baseline="30000" dirty="0">
                <a:solidFill>
                  <a:schemeClr val="tx1"/>
                </a:solidFill>
              </a:rPr>
              <a:t>4</a:t>
            </a:r>
            <a:r>
              <a:rPr lang="en-US" sz="1600" dirty="0">
                <a:solidFill>
                  <a:schemeClr val="tx1"/>
                </a:solidFill>
              </a:rPr>
              <a:t>: 모두 16개</a:t>
            </a:r>
            <a:endParaRPr lang="en-US" sz="1800" dirty="0"/>
          </a:p>
          <a:p>
            <a:pPr marL="342900" indent="-342900">
              <a:spcAft>
                <a:spcPts val="600"/>
              </a:spcAft>
              <a:buSzPct val="100000"/>
              <a:buChar char="•"/>
            </a:pPr>
            <a:r>
              <a:rPr lang="en-US" sz="1600" dirty="0">
                <a:solidFill>
                  <a:schemeClr val="tx1"/>
                </a:solidFill>
              </a:rPr>
              <a:t>변수 이름: A = x</a:t>
            </a:r>
            <a:r>
              <a:rPr lang="en-US" sz="1600" baseline="-40000" dirty="0">
                <a:solidFill>
                  <a:schemeClr val="tx1"/>
                </a:solidFill>
              </a:rPr>
              <a:t>1</a:t>
            </a:r>
            <a:r>
              <a:rPr lang="en-US" sz="1600" dirty="0">
                <a:solidFill>
                  <a:schemeClr val="tx1"/>
                </a:solidFill>
              </a:rPr>
              <a:t>, B = x</a:t>
            </a:r>
            <a:r>
              <a:rPr lang="en-US" sz="1600" baseline="-40000" dirty="0">
                <a:solidFill>
                  <a:schemeClr val="tx1"/>
                </a:solidFill>
              </a:rPr>
              <a:t>2</a:t>
            </a:r>
            <a:r>
              <a:rPr lang="en-US" sz="1600" dirty="0">
                <a:solidFill>
                  <a:schemeClr val="tx1"/>
                </a:solidFill>
              </a:rPr>
              <a:t>, C = x</a:t>
            </a:r>
            <a:r>
              <a:rPr lang="en-US" sz="1600" baseline="-40000" dirty="0">
                <a:solidFill>
                  <a:schemeClr val="tx1"/>
                </a:solidFill>
              </a:rPr>
              <a:t>3</a:t>
            </a:r>
            <a:r>
              <a:rPr lang="en-US" sz="1600" dirty="0">
                <a:solidFill>
                  <a:schemeClr val="tx1"/>
                </a:solidFill>
              </a:rPr>
              <a:t>, D = x</a:t>
            </a:r>
            <a:r>
              <a:rPr lang="en-US" sz="1600" baseline="-40000" dirty="0">
                <a:solidFill>
                  <a:schemeClr val="tx1"/>
                </a:solidFill>
              </a:rPr>
              <a:t>4</a:t>
            </a:r>
            <a:endParaRPr lang="en-US" sz="1800" dirty="0"/>
          </a:p>
          <a:p>
            <a:pPr marL="342900" indent="-342900">
              <a:spcAft>
                <a:spcPts val="600"/>
              </a:spcAft>
              <a:buSzPct val="100000"/>
              <a:buChar char="•"/>
            </a:pPr>
            <a:r>
              <a:rPr lang="en-US" sz="1600" dirty="0">
                <a:solidFill>
                  <a:schemeClr val="tx1"/>
                </a:solidFill>
              </a:rPr>
              <a:t>함수 f : Z</a:t>
            </a:r>
            <a:r>
              <a:rPr lang="en-US" sz="1600" baseline="-40000" dirty="0">
                <a:solidFill>
                  <a:schemeClr val="tx1"/>
                </a:solidFill>
              </a:rPr>
              <a:t>2</a:t>
            </a:r>
            <a:r>
              <a:rPr lang="en-US" sz="1600" baseline="30000" dirty="0">
                <a:solidFill>
                  <a:schemeClr val="tx1"/>
                </a:solidFill>
              </a:rPr>
              <a:t>4</a:t>
            </a:r>
            <a:r>
              <a:rPr lang="en-US" sz="1600" dirty="0">
                <a:solidFill>
                  <a:schemeClr val="tx1"/>
                </a:solidFill>
              </a:rPr>
              <a:t> → Z</a:t>
            </a:r>
            <a:r>
              <a:rPr lang="en-US" sz="1600" baseline="-40000" dirty="0">
                <a:solidFill>
                  <a:schemeClr val="tx1"/>
                </a:solidFill>
              </a:rPr>
              <a:t>2</a:t>
            </a:r>
            <a:r>
              <a:rPr lang="en-US" sz="1600" dirty="0">
                <a:solidFill>
                  <a:schemeClr val="tx1"/>
                </a:solidFill>
              </a:rPr>
              <a:t>는 16개 값으로 결정된다</a:t>
            </a:r>
            <a:endParaRPr lang="en-US" sz="1800" dirty="0"/>
          </a:p>
          <a:p>
            <a:pPr marL="342900" indent="-342900">
              <a:spcAft>
                <a:spcPts val="600"/>
              </a:spcAft>
              <a:buSzPct val="100000"/>
              <a:buChar char="•"/>
            </a:pPr>
            <a:r>
              <a:rPr lang="en-US" sz="1600" b="1" dirty="0">
                <a:solidFill>
                  <a:schemeClr val="tx1"/>
                </a:solidFill>
              </a:rPr>
              <a:t>함수 공간 F</a:t>
            </a:r>
            <a:r>
              <a:rPr lang="en-US" sz="1600" b="1" baseline="-40000" dirty="0">
                <a:solidFill>
                  <a:schemeClr val="tx1"/>
                </a:solidFill>
              </a:rPr>
              <a:t>4</a:t>
            </a:r>
            <a:r>
              <a:rPr lang="en-US" sz="1600" b="1" dirty="0">
                <a:solidFill>
                  <a:schemeClr val="tx1"/>
                </a:solidFill>
              </a:rPr>
              <a:t>의 크기 |F</a:t>
            </a:r>
            <a:r>
              <a:rPr lang="en-US" sz="1600" b="1" baseline="-40000" dirty="0">
                <a:solidFill>
                  <a:schemeClr val="tx1"/>
                </a:solidFill>
              </a:rPr>
              <a:t>4</a:t>
            </a:r>
            <a:r>
              <a:rPr lang="en-US" sz="1600" b="1" dirty="0">
                <a:solidFill>
                  <a:schemeClr val="tx1"/>
                </a:solidFill>
              </a:rPr>
              <a:t>| = 2</a:t>
            </a:r>
            <a:r>
              <a:rPr lang="en-US" sz="1600" b="1" baseline="30000" dirty="0">
                <a:solidFill>
                  <a:schemeClr val="tx1"/>
                </a:solidFill>
              </a:rPr>
              <a:t>16</a:t>
            </a:r>
            <a:r>
              <a:rPr lang="en-US" sz="1600" b="1" dirty="0">
                <a:solidFill>
                  <a:schemeClr val="tx1"/>
                </a:solidFill>
              </a:rPr>
              <a:t> = 65,536</a:t>
            </a:r>
            <a:endParaRPr lang="en-US" sz="1800" dirty="0"/>
          </a:p>
          <a:p>
            <a:pPr marL="342900" indent="-342900">
              <a:buSzPct val="100000"/>
              <a:buChar char="•"/>
            </a:pPr>
            <a:r>
              <a:rPr lang="en-US" sz="1600" dirty="0">
                <a:solidFill>
                  <a:schemeClr val="tx1"/>
                </a:solidFill>
              </a:rPr>
              <a:t>표기: m(i, j, …)는 입력 i, j, …에서만 1인 함수 (민텀의 합)</a:t>
            </a:r>
            <a:endParaRPr lang="en-US"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5</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1부 · 준비</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변수를 바꾸면 함수가 옮겨진다</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변수 순열군 S</a:t>
            </a:r>
            <a:r>
              <a:rPr lang="en-US" sz="1800" baseline="-40000" dirty="0">
                <a:solidFill>
                  <a:schemeClr val="tx2"/>
                </a:solidFill>
              </a:rPr>
              <a:t>4</a:t>
            </a:r>
            <a:r>
              <a:rPr lang="en-US" sz="1800" dirty="0">
                <a:solidFill>
                  <a:schemeClr val="tx2"/>
                </a:solidFill>
              </a:rPr>
              <a:t> (위수 24)가 입력점과 함수에 작용한다</a:t>
            </a:r>
            <a:endParaRPr lang="en-US" sz="1800" dirty="0"/>
          </a:p>
        </p:txBody>
      </p:sp>
      <p:sp>
        <p:nvSpPr>
          <p:cNvPr id="8" name="formula-card"/>
          <p:cNvSpPr/>
          <p:nvPr/>
        </p:nvSpPr>
        <p:spPr>
          <a:xfrm>
            <a:off x="548640" y="1965960"/>
            <a:ext cx="11091672" cy="914400"/>
          </a:xfrm>
          <a:prstGeom prst="roundRect">
            <a:avLst>
              <a:gd name="adj" fmla="val 8000"/>
            </a:avLst>
          </a:prstGeom>
          <a:solidFill>
            <a:schemeClr val="bg2"/>
          </a:solidFill>
          <a:ln w="3175">
            <a:solidFill>
              <a:schemeClr val="bg2"/>
            </a:solidFill>
            <a:prstDash val="solid"/>
          </a:ln>
        </p:spPr>
      </p:sp>
      <p:sp>
        <p:nvSpPr>
          <p:cNvPr id="9" name="Text 6"/>
          <p:cNvSpPr txBox="1"/>
          <p:nvPr/>
        </p:nvSpPr>
        <p:spPr>
          <a:xfrm>
            <a:off x="822960" y="1965960"/>
            <a:ext cx="10607040" cy="914400"/>
          </a:xfrm>
          <a:prstGeom prst="rect">
            <a:avLst/>
          </a:prstGeom>
          <a:noFill/>
          <a:ln/>
        </p:spPr>
        <p:txBody>
          <a:bodyPr wrap="square" lIns="0" tIns="0" rIns="0" bIns="0" rtlCol="0" anchor="ctr"/>
          <a:lstStyle/>
          <a:p>
            <a:pPr indent="0" marL="0">
              <a:buNone/>
            </a:pPr>
            <a:r>
              <a:rPr lang="en-US" sz="2000" b="1" dirty="0">
                <a:solidFill>
                  <a:schemeClr val="tx1"/>
                </a:solidFill>
              </a:rPr>
              <a:t>입력점에 작용:  </a:t>
            </a:r>
            <a:r>
              <a:rPr lang="en-US" sz="2000" dirty="0">
                <a:solidFill>
                  <a:schemeClr val="tx1"/>
                </a:solidFill>
              </a:rPr>
              <a:t>(πx)</a:t>
            </a:r>
            <a:r>
              <a:rPr lang="en-US" sz="2000" baseline="-40000" dirty="0">
                <a:solidFill>
                  <a:schemeClr val="tx1"/>
                </a:solidFill>
              </a:rPr>
              <a:t>i</a:t>
            </a:r>
            <a:r>
              <a:rPr lang="en-US" sz="2000" dirty="0">
                <a:solidFill>
                  <a:schemeClr val="tx1"/>
                </a:solidFill>
              </a:rPr>
              <a:t> = x</a:t>
            </a:r>
            <a:r>
              <a:rPr lang="en-US" sz="2000" baseline="-40000" dirty="0">
                <a:solidFill>
                  <a:schemeClr val="tx1"/>
                </a:solidFill>
              </a:rPr>
              <a:t>π(i)</a:t>
            </a:r>
            <a:r>
              <a:rPr lang="en-US" sz="2000" b="1" dirty="0">
                <a:solidFill>
                  <a:schemeClr val="tx1"/>
                </a:solidFill>
              </a:rPr>
              <a:t>        함수에 작용:  </a:t>
            </a:r>
            <a:r>
              <a:rPr lang="en-US" sz="2000" dirty="0">
                <a:solidFill>
                  <a:schemeClr val="tx1"/>
                </a:solidFill>
              </a:rPr>
              <a:t>(g·f)(x) = f(g</a:t>
            </a:r>
            <a:r>
              <a:rPr lang="en-US" sz="2000" baseline="30000" dirty="0">
                <a:solidFill>
                  <a:schemeClr val="tx1"/>
                </a:solidFill>
              </a:rPr>
              <a:t>-1</a:t>
            </a:r>
            <a:r>
              <a:rPr lang="en-US" sz="2000" dirty="0">
                <a:solidFill>
                  <a:schemeClr val="tx1"/>
                </a:solidFill>
              </a:rPr>
              <a:t>x)</a:t>
            </a:r>
            <a:endParaRPr lang="en-US" sz="2000" dirty="0"/>
          </a:p>
        </p:txBody>
      </p:sp>
      <p:sp>
        <p:nvSpPr>
          <p:cNvPr id="10" name="Text 7"/>
          <p:cNvSpPr txBox="1"/>
          <p:nvPr/>
        </p:nvSpPr>
        <p:spPr>
          <a:xfrm>
            <a:off x="548640" y="3200400"/>
            <a:ext cx="2240280" cy="822960"/>
          </a:xfrm>
          <a:prstGeom prst="rect">
            <a:avLst/>
          </a:prstGeom>
          <a:noFill/>
          <a:ln/>
        </p:spPr>
        <p:txBody>
          <a:bodyPr wrap="square" lIns="0" tIns="0" rIns="0" bIns="0" rtlCol="0" anchor="ctr"/>
          <a:lstStyle/>
          <a:p>
            <a:pPr indent="0" marL="0">
              <a:buNone/>
            </a:pPr>
            <a:r>
              <a:rPr lang="en-US" sz="1600" b="1" dirty="0">
                <a:solidFill>
                  <a:schemeClr val="tx1"/>
                </a:solidFill>
              </a:rPr>
              <a:t>f = x₁</a:t>
            </a:r>
            <a:endParaRPr lang="en-US" sz="1600" dirty="0"/>
          </a:p>
        </p:txBody>
      </p:sp>
      <p:sp>
        <p:nvSpPr>
          <p:cNvPr id="11" name="orbit-chip"/>
          <p:cNvSpPr/>
          <p:nvPr/>
        </p:nvSpPr>
        <p:spPr>
          <a:xfrm>
            <a:off x="2880360" y="3291840"/>
            <a:ext cx="1024128" cy="640080"/>
          </a:xfrm>
          <a:prstGeom prst="roundRect">
            <a:avLst>
              <a:gd name="adj" fmla="val 11429"/>
            </a:avLst>
          </a:prstGeom>
          <a:solidFill>
            <a:schemeClr val="accent2"/>
          </a:solidFill>
          <a:ln w="3175">
            <a:solidFill>
              <a:schemeClr val="accent2"/>
            </a:solidFill>
            <a:prstDash val="solid"/>
          </a:ln>
        </p:spPr>
      </p:sp>
      <p:sp>
        <p:nvSpPr>
          <p:cNvPr id="12" name="Text 9"/>
          <p:cNvSpPr txBox="1"/>
          <p:nvPr/>
        </p:nvSpPr>
        <p:spPr>
          <a:xfrm>
            <a:off x="2880360" y="3291840"/>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x₁</a:t>
            </a:r>
            <a:endParaRPr lang="en-US" sz="1400" dirty="0"/>
          </a:p>
        </p:txBody>
      </p:sp>
      <p:sp>
        <p:nvSpPr>
          <p:cNvPr id="13" name="orbit-chip"/>
          <p:cNvSpPr/>
          <p:nvPr/>
        </p:nvSpPr>
        <p:spPr>
          <a:xfrm>
            <a:off x="3977640" y="3291840"/>
            <a:ext cx="1024128" cy="640080"/>
          </a:xfrm>
          <a:prstGeom prst="roundRect">
            <a:avLst>
              <a:gd name="adj" fmla="val 11429"/>
            </a:avLst>
          </a:prstGeom>
          <a:solidFill>
            <a:schemeClr val="accent2"/>
          </a:solidFill>
          <a:ln w="3175">
            <a:solidFill>
              <a:schemeClr val="accent2"/>
            </a:solidFill>
            <a:prstDash val="solid"/>
          </a:ln>
        </p:spPr>
      </p:sp>
      <p:sp>
        <p:nvSpPr>
          <p:cNvPr id="14" name="Text 11"/>
          <p:cNvSpPr txBox="1"/>
          <p:nvPr/>
        </p:nvSpPr>
        <p:spPr>
          <a:xfrm>
            <a:off x="3977640" y="3291840"/>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x₂</a:t>
            </a:r>
            <a:endParaRPr lang="en-US" sz="1400" dirty="0"/>
          </a:p>
        </p:txBody>
      </p:sp>
      <p:sp>
        <p:nvSpPr>
          <p:cNvPr id="15" name="orbit-chip"/>
          <p:cNvSpPr/>
          <p:nvPr/>
        </p:nvSpPr>
        <p:spPr>
          <a:xfrm>
            <a:off x="5074920" y="3291840"/>
            <a:ext cx="1024128" cy="640080"/>
          </a:xfrm>
          <a:prstGeom prst="roundRect">
            <a:avLst>
              <a:gd name="adj" fmla="val 11429"/>
            </a:avLst>
          </a:prstGeom>
          <a:solidFill>
            <a:schemeClr val="accent2"/>
          </a:solidFill>
          <a:ln w="3175">
            <a:solidFill>
              <a:schemeClr val="accent2"/>
            </a:solidFill>
            <a:prstDash val="solid"/>
          </a:ln>
        </p:spPr>
      </p:sp>
      <p:sp>
        <p:nvSpPr>
          <p:cNvPr id="16" name="Text 13"/>
          <p:cNvSpPr txBox="1"/>
          <p:nvPr/>
        </p:nvSpPr>
        <p:spPr>
          <a:xfrm>
            <a:off x="5074920" y="3291840"/>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x₃</a:t>
            </a:r>
            <a:endParaRPr lang="en-US" sz="1400" dirty="0"/>
          </a:p>
        </p:txBody>
      </p:sp>
      <p:sp>
        <p:nvSpPr>
          <p:cNvPr id="17" name="orbit-chip"/>
          <p:cNvSpPr/>
          <p:nvPr/>
        </p:nvSpPr>
        <p:spPr>
          <a:xfrm>
            <a:off x="6172200" y="3291840"/>
            <a:ext cx="1024128" cy="640080"/>
          </a:xfrm>
          <a:prstGeom prst="roundRect">
            <a:avLst>
              <a:gd name="adj" fmla="val 11429"/>
            </a:avLst>
          </a:prstGeom>
          <a:solidFill>
            <a:schemeClr val="accent2"/>
          </a:solidFill>
          <a:ln w="3175">
            <a:solidFill>
              <a:schemeClr val="accent2"/>
            </a:solidFill>
            <a:prstDash val="solid"/>
          </a:ln>
        </p:spPr>
      </p:sp>
      <p:sp>
        <p:nvSpPr>
          <p:cNvPr id="18" name="Text 15"/>
          <p:cNvSpPr txBox="1"/>
          <p:nvPr/>
        </p:nvSpPr>
        <p:spPr>
          <a:xfrm>
            <a:off x="6172200" y="3291840"/>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x₄</a:t>
            </a:r>
            <a:endParaRPr lang="en-US" sz="1400" dirty="0"/>
          </a:p>
        </p:txBody>
      </p:sp>
      <p:sp>
        <p:nvSpPr>
          <p:cNvPr id="19" name="Text 16"/>
          <p:cNvSpPr txBox="1"/>
          <p:nvPr/>
        </p:nvSpPr>
        <p:spPr>
          <a:xfrm>
            <a:off x="9372600" y="3200400"/>
            <a:ext cx="2267712" cy="822960"/>
          </a:xfrm>
          <a:prstGeom prst="rect">
            <a:avLst/>
          </a:prstGeom>
          <a:noFill/>
          <a:ln/>
        </p:spPr>
        <p:txBody>
          <a:bodyPr wrap="square" lIns="0" tIns="0" rIns="0" bIns="0" rtlCol="0" anchor="ctr"/>
          <a:lstStyle/>
          <a:p>
            <a:pPr algn="r" indent="0" marL="0">
              <a:buNone/>
            </a:pPr>
            <a:r>
              <a:rPr lang="en-US" sz="1600" b="1" dirty="0">
                <a:solidFill>
                  <a:schemeClr val="tx2"/>
                </a:solidFill>
              </a:rPr>
              <a:t>궤도 크기 4</a:t>
            </a:r>
            <a:endParaRPr lang="en-US" sz="1600" dirty="0"/>
          </a:p>
        </p:txBody>
      </p:sp>
      <p:sp>
        <p:nvSpPr>
          <p:cNvPr id="20" name="Text 17"/>
          <p:cNvSpPr txBox="1"/>
          <p:nvPr/>
        </p:nvSpPr>
        <p:spPr>
          <a:xfrm>
            <a:off x="548640" y="4224528"/>
            <a:ext cx="2240280" cy="822960"/>
          </a:xfrm>
          <a:prstGeom prst="rect">
            <a:avLst/>
          </a:prstGeom>
          <a:noFill/>
          <a:ln/>
        </p:spPr>
        <p:txBody>
          <a:bodyPr wrap="square" lIns="0" tIns="0" rIns="0" bIns="0" rtlCol="0" anchor="ctr"/>
          <a:lstStyle/>
          <a:p>
            <a:pPr indent="0" marL="0">
              <a:buNone/>
            </a:pPr>
            <a:r>
              <a:rPr lang="en-US" sz="1600" b="1" dirty="0">
                <a:solidFill>
                  <a:schemeClr val="tx1"/>
                </a:solidFill>
              </a:rPr>
              <a:t>f = x₁ ⊕ x₂</a:t>
            </a:r>
            <a:endParaRPr lang="en-US" sz="1600" dirty="0"/>
          </a:p>
        </p:txBody>
      </p:sp>
      <p:sp>
        <p:nvSpPr>
          <p:cNvPr id="21" name="orbit-chip"/>
          <p:cNvSpPr/>
          <p:nvPr/>
        </p:nvSpPr>
        <p:spPr>
          <a:xfrm>
            <a:off x="2880360" y="4315968"/>
            <a:ext cx="1024128" cy="640080"/>
          </a:xfrm>
          <a:prstGeom prst="roundRect">
            <a:avLst>
              <a:gd name="adj" fmla="val 11429"/>
            </a:avLst>
          </a:prstGeom>
          <a:solidFill>
            <a:schemeClr val="accent4"/>
          </a:solidFill>
          <a:ln w="3175">
            <a:solidFill>
              <a:schemeClr val="accent4"/>
            </a:solidFill>
            <a:prstDash val="solid"/>
          </a:ln>
        </p:spPr>
      </p:sp>
      <p:sp>
        <p:nvSpPr>
          <p:cNvPr id="22" name="Text 19"/>
          <p:cNvSpPr txBox="1"/>
          <p:nvPr/>
        </p:nvSpPr>
        <p:spPr>
          <a:xfrm>
            <a:off x="2880360" y="4315968"/>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x₁⊕x₂</a:t>
            </a:r>
            <a:endParaRPr lang="en-US" sz="1400" dirty="0"/>
          </a:p>
        </p:txBody>
      </p:sp>
      <p:sp>
        <p:nvSpPr>
          <p:cNvPr id="23" name="orbit-chip"/>
          <p:cNvSpPr/>
          <p:nvPr/>
        </p:nvSpPr>
        <p:spPr>
          <a:xfrm>
            <a:off x="3977640" y="4315968"/>
            <a:ext cx="1024128" cy="640080"/>
          </a:xfrm>
          <a:prstGeom prst="roundRect">
            <a:avLst>
              <a:gd name="adj" fmla="val 11429"/>
            </a:avLst>
          </a:prstGeom>
          <a:solidFill>
            <a:schemeClr val="accent4"/>
          </a:solidFill>
          <a:ln w="3175">
            <a:solidFill>
              <a:schemeClr val="accent4"/>
            </a:solidFill>
            <a:prstDash val="solid"/>
          </a:ln>
        </p:spPr>
      </p:sp>
      <p:sp>
        <p:nvSpPr>
          <p:cNvPr id="24" name="Text 21"/>
          <p:cNvSpPr txBox="1"/>
          <p:nvPr/>
        </p:nvSpPr>
        <p:spPr>
          <a:xfrm>
            <a:off x="3977640" y="4315968"/>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x₁⊕x₃</a:t>
            </a:r>
            <a:endParaRPr lang="en-US" sz="1400" dirty="0"/>
          </a:p>
        </p:txBody>
      </p:sp>
      <p:sp>
        <p:nvSpPr>
          <p:cNvPr id="25" name="orbit-chip"/>
          <p:cNvSpPr/>
          <p:nvPr/>
        </p:nvSpPr>
        <p:spPr>
          <a:xfrm>
            <a:off x="5074920" y="4315968"/>
            <a:ext cx="1024128" cy="640080"/>
          </a:xfrm>
          <a:prstGeom prst="roundRect">
            <a:avLst>
              <a:gd name="adj" fmla="val 11429"/>
            </a:avLst>
          </a:prstGeom>
          <a:solidFill>
            <a:schemeClr val="accent4"/>
          </a:solidFill>
          <a:ln w="3175">
            <a:solidFill>
              <a:schemeClr val="accent4"/>
            </a:solidFill>
            <a:prstDash val="solid"/>
          </a:ln>
        </p:spPr>
      </p:sp>
      <p:sp>
        <p:nvSpPr>
          <p:cNvPr id="26" name="Text 23"/>
          <p:cNvSpPr txBox="1"/>
          <p:nvPr/>
        </p:nvSpPr>
        <p:spPr>
          <a:xfrm>
            <a:off x="5074920" y="4315968"/>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x₁⊕x₄</a:t>
            </a:r>
            <a:endParaRPr lang="en-US" sz="1400" dirty="0"/>
          </a:p>
        </p:txBody>
      </p:sp>
      <p:sp>
        <p:nvSpPr>
          <p:cNvPr id="27" name="orbit-chip"/>
          <p:cNvSpPr/>
          <p:nvPr/>
        </p:nvSpPr>
        <p:spPr>
          <a:xfrm>
            <a:off x="6172200" y="4315968"/>
            <a:ext cx="1024128" cy="640080"/>
          </a:xfrm>
          <a:prstGeom prst="roundRect">
            <a:avLst>
              <a:gd name="adj" fmla="val 11429"/>
            </a:avLst>
          </a:prstGeom>
          <a:solidFill>
            <a:schemeClr val="accent4"/>
          </a:solidFill>
          <a:ln w="3175">
            <a:solidFill>
              <a:schemeClr val="accent4"/>
            </a:solidFill>
            <a:prstDash val="solid"/>
          </a:ln>
        </p:spPr>
      </p:sp>
      <p:sp>
        <p:nvSpPr>
          <p:cNvPr id="28" name="Text 25"/>
          <p:cNvSpPr txBox="1"/>
          <p:nvPr/>
        </p:nvSpPr>
        <p:spPr>
          <a:xfrm>
            <a:off x="6172200" y="4315968"/>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x₂⊕x₃</a:t>
            </a:r>
            <a:endParaRPr lang="en-US" sz="1400" dirty="0"/>
          </a:p>
        </p:txBody>
      </p:sp>
      <p:sp>
        <p:nvSpPr>
          <p:cNvPr id="29" name="orbit-chip"/>
          <p:cNvSpPr/>
          <p:nvPr/>
        </p:nvSpPr>
        <p:spPr>
          <a:xfrm>
            <a:off x="7269480" y="4315968"/>
            <a:ext cx="1024128" cy="640080"/>
          </a:xfrm>
          <a:prstGeom prst="roundRect">
            <a:avLst>
              <a:gd name="adj" fmla="val 11429"/>
            </a:avLst>
          </a:prstGeom>
          <a:solidFill>
            <a:schemeClr val="accent4"/>
          </a:solidFill>
          <a:ln w="3175">
            <a:solidFill>
              <a:schemeClr val="accent4"/>
            </a:solidFill>
            <a:prstDash val="solid"/>
          </a:ln>
        </p:spPr>
      </p:sp>
      <p:sp>
        <p:nvSpPr>
          <p:cNvPr id="30" name="Text 27"/>
          <p:cNvSpPr txBox="1"/>
          <p:nvPr/>
        </p:nvSpPr>
        <p:spPr>
          <a:xfrm>
            <a:off x="7269480" y="4315968"/>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x₂⊕x₄</a:t>
            </a:r>
            <a:endParaRPr lang="en-US" sz="1400" dirty="0"/>
          </a:p>
        </p:txBody>
      </p:sp>
      <p:sp>
        <p:nvSpPr>
          <p:cNvPr id="31" name="orbit-chip"/>
          <p:cNvSpPr/>
          <p:nvPr/>
        </p:nvSpPr>
        <p:spPr>
          <a:xfrm>
            <a:off x="8366760" y="4315968"/>
            <a:ext cx="1024128" cy="640080"/>
          </a:xfrm>
          <a:prstGeom prst="roundRect">
            <a:avLst>
              <a:gd name="adj" fmla="val 11429"/>
            </a:avLst>
          </a:prstGeom>
          <a:solidFill>
            <a:schemeClr val="accent4"/>
          </a:solidFill>
          <a:ln w="3175">
            <a:solidFill>
              <a:schemeClr val="accent4"/>
            </a:solidFill>
            <a:prstDash val="solid"/>
          </a:ln>
        </p:spPr>
      </p:sp>
      <p:sp>
        <p:nvSpPr>
          <p:cNvPr id="32" name="Text 29"/>
          <p:cNvSpPr txBox="1"/>
          <p:nvPr/>
        </p:nvSpPr>
        <p:spPr>
          <a:xfrm>
            <a:off x="8366760" y="4315968"/>
            <a:ext cx="1024128" cy="640080"/>
          </a:xfrm>
          <a:prstGeom prst="rect">
            <a:avLst/>
          </a:prstGeom>
          <a:noFill/>
          <a:ln/>
        </p:spPr>
        <p:txBody>
          <a:bodyPr wrap="square" lIns="0" tIns="0" rIns="0" bIns="0" rtlCol="0" anchor="ctr"/>
          <a:lstStyle/>
          <a:p>
            <a:pPr algn="ctr" indent="0" marL="0">
              <a:buNone/>
            </a:pPr>
            <a:r>
              <a:rPr lang="en-US" sz="1400" b="1" dirty="0">
                <a:solidFill>
                  <a:schemeClr val="bg1"/>
                </a:solidFill>
              </a:rPr>
              <a:t>x₃⊕x₄</a:t>
            </a:r>
            <a:endParaRPr lang="en-US" sz="1400" dirty="0"/>
          </a:p>
        </p:txBody>
      </p:sp>
      <p:sp>
        <p:nvSpPr>
          <p:cNvPr id="33" name="Text 30"/>
          <p:cNvSpPr txBox="1"/>
          <p:nvPr/>
        </p:nvSpPr>
        <p:spPr>
          <a:xfrm>
            <a:off x="9372600" y="4224528"/>
            <a:ext cx="2267712" cy="822960"/>
          </a:xfrm>
          <a:prstGeom prst="rect">
            <a:avLst/>
          </a:prstGeom>
          <a:noFill/>
          <a:ln/>
        </p:spPr>
        <p:txBody>
          <a:bodyPr wrap="square" lIns="0" tIns="0" rIns="0" bIns="0" rtlCol="0" anchor="ctr"/>
          <a:lstStyle/>
          <a:p>
            <a:pPr algn="r" indent="0" marL="0">
              <a:buNone/>
            </a:pPr>
            <a:r>
              <a:rPr lang="en-US" sz="1600" b="1" dirty="0">
                <a:solidFill>
                  <a:schemeClr val="tx2"/>
                </a:solidFill>
              </a:rPr>
              <a:t>궤도 크기 6</a:t>
            </a:r>
            <a:endParaRPr lang="en-US" sz="1600" dirty="0"/>
          </a:p>
        </p:txBody>
      </p:sp>
      <p:sp>
        <p:nvSpPr>
          <p:cNvPr id="34" name="Text 31"/>
          <p:cNvSpPr txBox="1"/>
          <p:nvPr/>
        </p:nvSpPr>
        <p:spPr>
          <a:xfrm>
            <a:off x="548640" y="5248656"/>
            <a:ext cx="2240280" cy="822960"/>
          </a:xfrm>
          <a:prstGeom prst="rect">
            <a:avLst/>
          </a:prstGeom>
          <a:noFill/>
          <a:ln/>
        </p:spPr>
        <p:txBody>
          <a:bodyPr wrap="square" lIns="0" tIns="0" rIns="0" bIns="0" rtlCol="0" anchor="ctr"/>
          <a:lstStyle/>
          <a:p>
            <a:pPr indent="0" marL="0">
              <a:buNone/>
            </a:pPr>
            <a:r>
              <a:rPr lang="en-US" sz="1600" b="1" dirty="0">
                <a:solidFill>
                  <a:schemeClr val="tx1"/>
                </a:solidFill>
              </a:rPr>
              <a:t>f = x₁⊕x₂⊕x₃⊕x₄</a:t>
            </a:r>
            <a:endParaRPr lang="en-US" sz="1600" dirty="0"/>
          </a:p>
        </p:txBody>
      </p:sp>
      <p:sp>
        <p:nvSpPr>
          <p:cNvPr id="35" name="orbit-chip"/>
          <p:cNvSpPr/>
          <p:nvPr/>
        </p:nvSpPr>
        <p:spPr>
          <a:xfrm>
            <a:off x="2880360" y="5340096"/>
            <a:ext cx="2377440" cy="640080"/>
          </a:xfrm>
          <a:prstGeom prst="roundRect">
            <a:avLst>
              <a:gd name="adj" fmla="val 11429"/>
            </a:avLst>
          </a:prstGeom>
          <a:solidFill>
            <a:schemeClr val="accent1"/>
          </a:solidFill>
          <a:ln w="3175">
            <a:solidFill>
              <a:schemeClr val="accent1"/>
            </a:solidFill>
            <a:prstDash val="solid"/>
          </a:ln>
        </p:spPr>
      </p:sp>
      <p:sp>
        <p:nvSpPr>
          <p:cNvPr id="36" name="Text 33"/>
          <p:cNvSpPr txBox="1"/>
          <p:nvPr/>
        </p:nvSpPr>
        <p:spPr>
          <a:xfrm>
            <a:off x="2880360" y="5340096"/>
            <a:ext cx="2377440" cy="640080"/>
          </a:xfrm>
          <a:prstGeom prst="rect">
            <a:avLst/>
          </a:prstGeom>
          <a:noFill/>
          <a:ln/>
        </p:spPr>
        <p:txBody>
          <a:bodyPr wrap="square" lIns="0" tIns="0" rIns="0" bIns="0" rtlCol="0" anchor="ctr"/>
          <a:lstStyle/>
          <a:p>
            <a:pPr algn="ctr" indent="0" marL="0">
              <a:buNone/>
            </a:pPr>
            <a:r>
              <a:rPr lang="en-US" sz="1400" b="1" dirty="0">
                <a:solidFill>
                  <a:schemeClr val="bg1"/>
                </a:solidFill>
              </a:rPr>
              <a:t>x₁⊕x₂⊕x₃⊕x₄</a:t>
            </a:r>
            <a:endParaRPr lang="en-US" sz="1400" dirty="0"/>
          </a:p>
        </p:txBody>
      </p:sp>
      <p:sp>
        <p:nvSpPr>
          <p:cNvPr id="37" name="Text 34"/>
          <p:cNvSpPr txBox="1"/>
          <p:nvPr/>
        </p:nvSpPr>
        <p:spPr>
          <a:xfrm>
            <a:off x="9372600" y="5248656"/>
            <a:ext cx="2267712" cy="822960"/>
          </a:xfrm>
          <a:prstGeom prst="rect">
            <a:avLst/>
          </a:prstGeom>
          <a:noFill/>
          <a:ln/>
        </p:spPr>
        <p:txBody>
          <a:bodyPr wrap="square" lIns="0" tIns="0" rIns="0" bIns="0" rtlCol="0" anchor="ctr"/>
          <a:lstStyle/>
          <a:p>
            <a:pPr algn="r" indent="0" marL="0">
              <a:buNone/>
            </a:pPr>
            <a:r>
              <a:rPr lang="en-US" sz="1600" b="1" dirty="0">
                <a:solidFill>
                  <a:schemeClr val="tx2"/>
                </a:solidFill>
              </a:rPr>
              <a:t>궤도 크기 1 (고정점)</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8</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1부 · 준비</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궤도 · 안정화군 · 고정점</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궤도의 크기는 24를 안정화군의 위수로 나눈 값</a:t>
            </a:r>
            <a:endParaRPr lang="en-US" sz="1800" dirty="0"/>
          </a:p>
        </p:txBody>
      </p:sp>
      <p:sp>
        <p:nvSpPr>
          <p:cNvPr id="8" name="def-card"/>
          <p:cNvSpPr/>
          <p:nvPr/>
        </p:nvSpPr>
        <p:spPr>
          <a:xfrm>
            <a:off x="548640" y="1965960"/>
            <a:ext cx="5486400" cy="914400"/>
          </a:xfrm>
          <a:prstGeom prst="roundRect">
            <a:avLst>
              <a:gd name="adj" fmla="val 8000"/>
            </a:avLst>
          </a:prstGeom>
          <a:solidFill>
            <a:schemeClr val="bg2"/>
          </a:solidFill>
          <a:ln w="3175">
            <a:solidFill>
              <a:schemeClr val="bg2"/>
            </a:solidFill>
            <a:prstDash val="solid"/>
          </a:ln>
        </p:spPr>
      </p:sp>
      <p:sp>
        <p:nvSpPr>
          <p:cNvPr id="9" name="Text 6"/>
          <p:cNvSpPr txBox="1"/>
          <p:nvPr/>
        </p:nvSpPr>
        <p:spPr>
          <a:xfrm>
            <a:off x="731520" y="2002536"/>
            <a:ext cx="5120640" cy="841248"/>
          </a:xfrm>
          <a:prstGeom prst="rect">
            <a:avLst/>
          </a:prstGeom>
          <a:noFill/>
          <a:ln/>
        </p:spPr>
        <p:txBody>
          <a:bodyPr wrap="square" lIns="0" tIns="0" rIns="0" bIns="0" rtlCol="0" anchor="ctr"/>
          <a:lstStyle/>
          <a:p>
            <a:pPr indent="0" marL="0">
              <a:buNone/>
            </a:pPr>
            <a:r>
              <a:rPr lang="en-US" sz="1400" b="1" dirty="0">
                <a:solidFill>
                  <a:schemeClr val="accent2"/>
                </a:solidFill>
              </a:rPr>
              <a:t>궤도</a:t>
            </a:r>
            <a:endParaRPr lang="en-US" sz="1400" dirty="0"/>
          </a:p>
          <a:p>
            <a:pPr indent="0" marL="0">
              <a:buNone/>
            </a:pPr>
            <a:r>
              <a:rPr lang="en-US" sz="1600" b="1" dirty="0">
                <a:solidFill>
                  <a:schemeClr val="tx1"/>
                </a:solidFill>
              </a:rPr>
              <a:t>G·f = { g·f : g ∈ G }</a:t>
            </a:r>
            <a:endParaRPr lang="en-US" sz="1400" dirty="0"/>
          </a:p>
          <a:p>
            <a:pPr indent="0" marL="0">
              <a:buNone/>
            </a:pPr>
            <a:r>
              <a:rPr lang="en-US" sz="1200" dirty="0">
                <a:solidFill>
                  <a:schemeClr val="tx2"/>
                </a:solidFill>
              </a:rPr>
              <a:t>f와 같은 모양의 함수 전체</a:t>
            </a:r>
            <a:endParaRPr lang="en-US" sz="1400" dirty="0"/>
          </a:p>
        </p:txBody>
      </p:sp>
      <p:sp>
        <p:nvSpPr>
          <p:cNvPr id="10" name="def-card"/>
          <p:cNvSpPr/>
          <p:nvPr/>
        </p:nvSpPr>
        <p:spPr>
          <a:xfrm>
            <a:off x="548640" y="2990088"/>
            <a:ext cx="5486400" cy="914400"/>
          </a:xfrm>
          <a:prstGeom prst="roundRect">
            <a:avLst>
              <a:gd name="adj" fmla="val 8000"/>
            </a:avLst>
          </a:prstGeom>
          <a:solidFill>
            <a:schemeClr val="bg2"/>
          </a:solidFill>
          <a:ln w="3175">
            <a:solidFill>
              <a:schemeClr val="bg2"/>
            </a:solidFill>
            <a:prstDash val="solid"/>
          </a:ln>
        </p:spPr>
      </p:sp>
      <p:sp>
        <p:nvSpPr>
          <p:cNvPr id="11" name="Text 8"/>
          <p:cNvSpPr txBox="1"/>
          <p:nvPr/>
        </p:nvSpPr>
        <p:spPr>
          <a:xfrm>
            <a:off x="731520" y="3026664"/>
            <a:ext cx="5120640" cy="841248"/>
          </a:xfrm>
          <a:prstGeom prst="rect">
            <a:avLst/>
          </a:prstGeom>
          <a:noFill/>
          <a:ln/>
        </p:spPr>
        <p:txBody>
          <a:bodyPr wrap="square" lIns="0" tIns="0" rIns="0" bIns="0" rtlCol="0" anchor="ctr"/>
          <a:lstStyle/>
          <a:p>
            <a:pPr indent="0" marL="0">
              <a:buNone/>
            </a:pPr>
            <a:r>
              <a:rPr lang="en-US" sz="1400" b="1" dirty="0">
                <a:solidFill>
                  <a:schemeClr val="accent2"/>
                </a:solidFill>
              </a:rPr>
              <a:t>안정화군</a:t>
            </a:r>
            <a:endParaRPr lang="en-US" sz="1400" dirty="0"/>
          </a:p>
          <a:p>
            <a:pPr indent="0" marL="0">
              <a:buNone/>
            </a:pPr>
            <a:r>
              <a:rPr lang="en-US" sz="1600" b="1" dirty="0">
                <a:solidFill>
                  <a:schemeClr val="tx1"/>
                </a:solidFill>
              </a:rPr>
              <a:t>Stab(f) = { g : g·f = f }</a:t>
            </a:r>
            <a:endParaRPr lang="en-US" sz="1400" dirty="0"/>
          </a:p>
          <a:p>
            <a:pPr indent="0" marL="0">
              <a:buNone/>
            </a:pPr>
            <a:r>
              <a:rPr lang="en-US" sz="1200" dirty="0">
                <a:solidFill>
                  <a:schemeClr val="tx2"/>
                </a:solidFill>
              </a:rPr>
              <a:t>f를 바꾸지 않는 변수 순열</a:t>
            </a:r>
            <a:endParaRPr lang="en-US" sz="1400" dirty="0"/>
          </a:p>
        </p:txBody>
      </p:sp>
      <p:sp>
        <p:nvSpPr>
          <p:cNvPr id="12" name="def-card"/>
          <p:cNvSpPr/>
          <p:nvPr/>
        </p:nvSpPr>
        <p:spPr>
          <a:xfrm>
            <a:off x="548640" y="4014216"/>
            <a:ext cx="5486400" cy="914400"/>
          </a:xfrm>
          <a:prstGeom prst="roundRect">
            <a:avLst>
              <a:gd name="adj" fmla="val 8000"/>
            </a:avLst>
          </a:prstGeom>
          <a:solidFill>
            <a:schemeClr val="bg2"/>
          </a:solidFill>
          <a:ln w="3175">
            <a:solidFill>
              <a:schemeClr val="bg2"/>
            </a:solidFill>
            <a:prstDash val="solid"/>
          </a:ln>
        </p:spPr>
      </p:sp>
      <p:sp>
        <p:nvSpPr>
          <p:cNvPr id="13" name="Text 10"/>
          <p:cNvSpPr txBox="1"/>
          <p:nvPr/>
        </p:nvSpPr>
        <p:spPr>
          <a:xfrm>
            <a:off x="731520" y="4050792"/>
            <a:ext cx="5120640" cy="841248"/>
          </a:xfrm>
          <a:prstGeom prst="rect">
            <a:avLst/>
          </a:prstGeom>
          <a:noFill/>
          <a:ln/>
        </p:spPr>
        <p:txBody>
          <a:bodyPr wrap="square" lIns="0" tIns="0" rIns="0" bIns="0" rtlCol="0" anchor="ctr"/>
          <a:lstStyle/>
          <a:p>
            <a:pPr indent="0" marL="0">
              <a:buNone/>
            </a:pPr>
            <a:r>
              <a:rPr lang="en-US" sz="1400" b="1" dirty="0">
                <a:solidFill>
                  <a:schemeClr val="accent2"/>
                </a:solidFill>
              </a:rPr>
              <a:t>궤도–안정화군 정리</a:t>
            </a:r>
            <a:endParaRPr lang="en-US" sz="1400" dirty="0"/>
          </a:p>
          <a:p>
            <a:pPr indent="0" marL="0">
              <a:buNone/>
            </a:pPr>
            <a:r>
              <a:rPr lang="en-US" sz="1600" b="1" dirty="0">
                <a:solidFill>
                  <a:schemeClr val="tx1"/>
                </a:solidFill>
              </a:rPr>
              <a:t>|G·f| = |G| / |Stab(f)| = 24 / |Stab(f)|</a:t>
            </a:r>
            <a:endParaRPr lang="en-US" sz="1400" dirty="0"/>
          </a:p>
          <a:p>
            <a:pPr indent="0" marL="0">
              <a:buNone/>
            </a:pPr>
            <a:r>
              <a:rPr lang="en-US" sz="1200" dirty="0">
                <a:solidFill>
                  <a:schemeClr val="tx2"/>
                </a:solidFill>
              </a:rPr>
              <a:t>크기는 24의 약수</a:t>
            </a:r>
            <a:endParaRPr lang="en-US" sz="1400" dirty="0"/>
          </a:p>
        </p:txBody>
      </p:sp>
      <p:sp>
        <p:nvSpPr>
          <p:cNvPr id="14" name="def-card"/>
          <p:cNvSpPr/>
          <p:nvPr/>
        </p:nvSpPr>
        <p:spPr>
          <a:xfrm>
            <a:off x="548640" y="5038344"/>
            <a:ext cx="5486400" cy="914400"/>
          </a:xfrm>
          <a:prstGeom prst="roundRect">
            <a:avLst>
              <a:gd name="adj" fmla="val 8000"/>
            </a:avLst>
          </a:prstGeom>
          <a:solidFill>
            <a:schemeClr val="bg2"/>
          </a:solidFill>
          <a:ln w="3175">
            <a:solidFill>
              <a:schemeClr val="bg2"/>
            </a:solidFill>
            <a:prstDash val="solid"/>
          </a:ln>
        </p:spPr>
      </p:sp>
      <p:sp>
        <p:nvSpPr>
          <p:cNvPr id="15" name="Text 12"/>
          <p:cNvSpPr txBox="1"/>
          <p:nvPr/>
        </p:nvSpPr>
        <p:spPr>
          <a:xfrm>
            <a:off x="731520" y="5074920"/>
            <a:ext cx="5120640" cy="841248"/>
          </a:xfrm>
          <a:prstGeom prst="rect">
            <a:avLst/>
          </a:prstGeom>
          <a:noFill/>
          <a:ln/>
        </p:spPr>
        <p:txBody>
          <a:bodyPr wrap="square" lIns="0" tIns="0" rIns="0" bIns="0" rtlCol="0" anchor="ctr"/>
          <a:lstStyle/>
          <a:p>
            <a:pPr indent="0" marL="0">
              <a:buNone/>
            </a:pPr>
            <a:r>
              <a:rPr lang="en-US" sz="1400" b="1" dirty="0">
                <a:solidFill>
                  <a:schemeClr val="accent2"/>
                </a:solidFill>
              </a:rPr>
              <a:t>고정점</a:t>
            </a:r>
            <a:endParaRPr lang="en-US" sz="1400" dirty="0"/>
          </a:p>
          <a:p>
            <a:pPr indent="0" marL="0">
              <a:buNone/>
            </a:pPr>
            <a:r>
              <a:rPr lang="en-US" sz="1600" b="1" dirty="0">
                <a:solidFill>
                  <a:schemeClr val="tx1"/>
                </a:solidFill>
              </a:rPr>
              <a:t>G·f = {f} ⇔ Stab(f) = S</a:t>
            </a:r>
            <a:r>
              <a:rPr lang="en-US" sz="1600" b="1" baseline="-40000" dirty="0">
                <a:solidFill>
                  <a:schemeClr val="tx1"/>
                </a:solidFill>
              </a:rPr>
              <a:t>4</a:t>
            </a:r>
            <a:endParaRPr lang="en-US" sz="1400" dirty="0"/>
          </a:p>
          <a:p>
            <a:pPr indent="0" marL="0">
              <a:buNone/>
            </a:pPr>
            <a:r>
              <a:rPr lang="en-US" sz="1200" dirty="0">
                <a:solidFill>
                  <a:schemeClr val="tx2"/>
                </a:solidFill>
              </a:rPr>
              <a:t>크기 1 궤도의 원소</a:t>
            </a:r>
            <a:endParaRPr lang="en-US" sz="1400" dirty="0"/>
          </a:p>
        </p:txBody>
      </p:sp>
      <p:graphicFrame>
        <p:nvGraphicFramePr>
          <p:cNvPr id="7" name="stab-table"/>
          <p:cNvGraphicFramePr>
            <a:graphicFrameLocks noGrp="1"/>
          </p:cNvGraphicFramePr>
          <p:nvPr>
            <p:extLst>
              <p:ext uri="{D42A27DB-BD31-4B8C-83A1-F6EECF244321}">
                <p14:modId xmlns:p14="http://schemas.microsoft.com/office/powerpoint/2010/main" val="1579011935"/>
              </p:ext>
            </p:extLst>
          </p:nvPr>
        </p:nvGraphicFramePr>
        <p:xfrm>
          <a:off x="6309360" y="1965960"/>
          <a:ext cx="5330952" cy="914400"/>
        </p:xfrm>
        <a:graphic>
          <a:graphicData uri="http://schemas.openxmlformats.org/drawingml/2006/table">
            <a:tbl>
              <a:tblPr/>
              <a:tblGrid>
                <a:gridCol w="2331720"/>
                <a:gridCol w="2084832"/>
                <a:gridCol w="914400"/>
              </a:tblGrid>
              <a:tr h="566928">
                <a:tc>
                  <a:txBody>
                    <a:bodyPr/>
                    <a:lstStyle/>
                    <a:p>
                      <a:pPr algn="ctr" indent="0" marL="0">
                        <a:buNone/>
                      </a:pPr>
                      <a:r>
                        <a:rPr lang="en-US" sz="1400" b="1" dirty="0">
                          <a:solidFill>
                            <a:schemeClr val="bg1"/>
                          </a:solidFill>
                        </a:rPr>
                        <a:t>f</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안정화군 Stab(f)</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궤도 크기</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566928">
                <a:tc>
                  <a:txBody>
                    <a:bodyPr/>
                    <a:lstStyle/>
                    <a:p>
                      <a:pPr algn="ctr" indent="0" marL="0">
                        <a:buNone/>
                      </a:pPr>
                      <a:r>
                        <a:rPr lang="en-US" sz="1400" dirty="0">
                          <a:solidFill>
                            <a:schemeClr val="tx1"/>
                          </a:solidFill>
                        </a:rPr>
                        <a:t>0</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S</a:t>
                      </a:r>
                      <a:r>
                        <a:rPr lang="en-US" sz="1400" baseline="-40000" dirty="0">
                          <a:solidFill>
                            <a:schemeClr val="tx1"/>
                          </a:solidFill>
                        </a:rPr>
                        <a:t>4</a:t>
                      </a:r>
                      <a:r>
                        <a:rPr lang="en-US" sz="1400" dirty="0">
                          <a:solidFill>
                            <a:schemeClr val="tx1"/>
                          </a:solidFill>
                        </a:rPr>
                        <a:t> (24)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566928">
                <a:tc>
                  <a:txBody>
                    <a:bodyPr/>
                    <a:lstStyle/>
                    <a:p>
                      <a:pPr algn="ctr" indent="0" marL="0">
                        <a:buNone/>
                      </a:pPr>
                      <a:r>
                        <a:rPr lang="en-US" sz="1400" dirty="0">
                          <a:solidFill>
                            <a:schemeClr val="tx1"/>
                          </a:solidFill>
                        </a:rPr>
                        <a:t>x</a:t>
                      </a:r>
                      <a:r>
                        <a:rPr lang="en-US" sz="1400" baseline="-400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S</a:t>
                      </a:r>
                      <a:r>
                        <a:rPr lang="en-US" sz="1400" baseline="-40000" dirty="0">
                          <a:solidFill>
                            <a:schemeClr val="tx1"/>
                          </a:solidFill>
                        </a:rPr>
                        <a:t>3</a:t>
                      </a:r>
                      <a:r>
                        <a:rPr lang="en-US" sz="1400" dirty="0">
                          <a:solidFill>
                            <a:schemeClr val="tx1"/>
                          </a:solidFill>
                        </a:rPr>
                        <a:t> (6)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566928">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Z</a:t>
                      </a:r>
                      <a:r>
                        <a:rPr lang="en-US" sz="1400" baseline="-40000" dirty="0">
                          <a:solidFill>
                            <a:schemeClr val="tx1"/>
                          </a:solidFill>
                        </a:rPr>
                        <a:t>2</a:t>
                      </a:r>
                      <a:r>
                        <a:rPr lang="en-US" sz="1400" dirty="0">
                          <a:solidFill>
                            <a:schemeClr val="tx1"/>
                          </a:solidFill>
                        </a:rPr>
                        <a:t> × Z</a:t>
                      </a:r>
                      <a:r>
                        <a:rPr lang="en-US" sz="1400" baseline="-40000" dirty="0">
                          <a:solidFill>
                            <a:schemeClr val="tx1"/>
                          </a:solidFill>
                        </a:rPr>
                        <a:t>2</a:t>
                      </a:r>
                      <a:r>
                        <a:rPr lang="en-US" sz="1400" dirty="0">
                          <a:solidFill>
                            <a:schemeClr val="tx1"/>
                          </a:solidFill>
                        </a:rPr>
                        <a:t> (4)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566928">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r>
                        <a:rPr lang="en-US" sz="1400" dirty="0">
                          <a:solidFill>
                            <a:schemeClr val="tx1"/>
                          </a:solidFill>
                        </a:rPr>
                        <a:t> ⊕ x</a:t>
                      </a:r>
                      <a:r>
                        <a:rPr lang="en-US" sz="1400" baseline="-40000" dirty="0">
                          <a:solidFill>
                            <a:schemeClr val="tx1"/>
                          </a:solidFill>
                        </a:rPr>
                        <a:t>3</a:t>
                      </a:r>
                      <a:r>
                        <a:rPr lang="en-US" sz="1400" dirty="0">
                          <a:solidFill>
                            <a:schemeClr val="tx1"/>
                          </a:solidFill>
                        </a:rPr>
                        <a:t> ⊕ x</a:t>
                      </a:r>
                      <a:r>
                        <a:rPr lang="en-US" sz="1400" baseline="-400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S</a:t>
                      </a:r>
                      <a:r>
                        <a:rPr lang="en-US" sz="1400" baseline="-40000" dirty="0">
                          <a:solidFill>
                            <a:schemeClr val="tx1"/>
                          </a:solidFill>
                        </a:rPr>
                        <a:t>4</a:t>
                      </a:r>
                      <a:r>
                        <a:rPr lang="en-US" sz="1400" dirty="0">
                          <a:solidFill>
                            <a:schemeClr val="tx1"/>
                          </a:solidFill>
                        </a:rPr>
                        <a:t> (24)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bl>
          </a:graphicData>
        </a:graphic>
      </p:graphicFrame>
      <p:sp>
        <p:nvSpPr>
          <p:cNvPr id="17" name="Text 13"/>
          <p:cNvSpPr txBox="1"/>
          <p:nvPr/>
        </p:nvSpPr>
        <p:spPr>
          <a:xfrm>
            <a:off x="6309360" y="4892040"/>
            <a:ext cx="5330952" cy="274320"/>
          </a:xfrm>
          <a:prstGeom prst="rect">
            <a:avLst/>
          </a:prstGeom>
          <a:noFill/>
          <a:ln/>
        </p:spPr>
        <p:txBody>
          <a:bodyPr wrap="square" lIns="0" tIns="0" rIns="0" bIns="0" rtlCol="0" anchor="ctr"/>
          <a:lstStyle/>
          <a:p>
            <a:pPr indent="0" marL="0">
              <a:buNone/>
            </a:pPr>
            <a:r>
              <a:rPr lang="en-US" sz="1200" dirty="0">
                <a:solidFill>
                  <a:schemeClr val="tx2"/>
                </a:solidFill>
              </a:rPr>
              <a:t>괄호 안은 위수. 크기 = 24 ÷ 위수</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9</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1부 · 준비</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번사이드 보조정리</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궤도의 수 = 군의 원소들이 고정하는 대상 수의 평균</a:t>
            </a:r>
            <a:endParaRPr lang="en-US" sz="1800" dirty="0"/>
          </a:p>
        </p:txBody>
      </p:sp>
      <p:sp>
        <p:nvSpPr>
          <p:cNvPr id="8" name="formula-card"/>
          <p:cNvSpPr/>
          <p:nvPr/>
        </p:nvSpPr>
        <p:spPr>
          <a:xfrm>
            <a:off x="548640" y="1965960"/>
            <a:ext cx="11091672" cy="1371600"/>
          </a:xfrm>
          <a:prstGeom prst="roundRect">
            <a:avLst>
              <a:gd name="adj" fmla="val 5333"/>
            </a:avLst>
          </a:prstGeom>
          <a:solidFill>
            <a:schemeClr val="bg2"/>
          </a:solidFill>
          <a:ln w="3175">
            <a:solidFill>
              <a:schemeClr val="bg2"/>
            </a:solidFill>
            <a:prstDash val="solid"/>
          </a:ln>
        </p:spPr>
      </p:sp>
      <p:sp>
        <p:nvSpPr>
          <p:cNvPr id="9" name="burnside-formula"/>
          <p:cNvSpPr txBox="1"/>
          <p:nvPr/>
        </p:nvSpPr>
        <p:spPr>
          <a:xfrm>
            <a:off x="548640" y="1965960"/>
            <a:ext cx="11091672" cy="914400"/>
          </a:xfrm>
          <a:prstGeom prst="rect">
            <a:avLst/>
          </a:prstGeom>
          <a:noFill/>
          <a:ln/>
        </p:spPr>
        <p:txBody>
          <a:bodyPr wrap="square" lIns="0" tIns="0" rIns="0" bIns="0" rtlCol="0" anchor="ctr"/>
          <a:lstStyle/>
          <a:p>
            <a:pPr algn="ctr" indent="0" marL="0">
              <a:buNone/>
            </a:pPr>
            <a:r>
              <a:rPr lang="en-US" sz="3200" b="1" dirty="0">
                <a:solidFill>
                  <a:schemeClr val="tx1"/>
                </a:solidFill>
              </a:rPr>
              <a:t>|X / G| = (1/|G|) Σ</a:t>
            </a:r>
            <a:r>
              <a:rPr lang="en-US" sz="3200" b="1" baseline="-40000" dirty="0">
                <a:solidFill>
                  <a:schemeClr val="tx1"/>
                </a:solidFill>
              </a:rPr>
              <a:t>g∈G</a:t>
            </a:r>
            <a:r>
              <a:rPr lang="en-US" sz="3200" b="1" dirty="0">
                <a:solidFill>
                  <a:schemeClr val="tx1"/>
                </a:solidFill>
              </a:rPr>
              <a:t> |Fix(g, X)|</a:t>
            </a:r>
            <a:endParaRPr lang="en-US" sz="3200" dirty="0"/>
          </a:p>
        </p:txBody>
      </p:sp>
      <p:sp>
        <p:nvSpPr>
          <p:cNvPr id="10" name="Text 7"/>
          <p:cNvSpPr txBox="1"/>
          <p:nvPr/>
        </p:nvSpPr>
        <p:spPr>
          <a:xfrm>
            <a:off x="548640" y="2834640"/>
            <a:ext cx="11091672" cy="411480"/>
          </a:xfrm>
          <a:prstGeom prst="rect">
            <a:avLst/>
          </a:prstGeom>
          <a:noFill/>
          <a:ln/>
        </p:spPr>
        <p:txBody>
          <a:bodyPr wrap="square" lIns="0" tIns="0" rIns="0" bIns="0" rtlCol="0" anchor="ctr"/>
          <a:lstStyle/>
          <a:p>
            <a:pPr algn="ctr" indent="0" marL="0">
              <a:buNone/>
            </a:pPr>
            <a:r>
              <a:rPr lang="en-US" sz="1800" dirty="0">
                <a:solidFill>
                  <a:schemeClr val="tx2"/>
                </a:solidFill>
              </a:rPr>
              <a:t>Fix(g, X) = { x ∈ X : g·x = x }</a:t>
            </a:r>
            <a:endParaRPr lang="en-US" sz="1800" dirty="0"/>
          </a:p>
        </p:txBody>
      </p:sp>
      <p:sp>
        <p:nvSpPr>
          <p:cNvPr id="11" name="key-card"/>
          <p:cNvSpPr/>
          <p:nvPr/>
        </p:nvSpPr>
        <p:spPr>
          <a:xfrm>
            <a:off x="548640" y="3611880"/>
            <a:ext cx="5394960" cy="2560320"/>
          </a:xfrm>
          <a:prstGeom prst="roundRect">
            <a:avLst>
              <a:gd name="adj" fmla="val 2857"/>
            </a:avLst>
          </a:prstGeom>
          <a:solidFill>
            <a:schemeClr val="bg1"/>
          </a:solidFill>
          <a:ln w="19050">
            <a:solidFill>
              <a:schemeClr val="accent2"/>
            </a:solidFill>
            <a:prstDash val="solid"/>
          </a:ln>
        </p:spPr>
      </p:sp>
      <p:sp>
        <p:nvSpPr>
          <p:cNvPr id="12" name="Text 9"/>
          <p:cNvSpPr txBox="1"/>
          <p:nvPr/>
        </p:nvSpPr>
        <p:spPr>
          <a:xfrm>
            <a:off x="777240" y="3703320"/>
            <a:ext cx="4937760" cy="2377440"/>
          </a:xfrm>
          <a:prstGeom prst="rect">
            <a:avLst/>
          </a:prstGeom>
          <a:noFill/>
          <a:ln/>
        </p:spPr>
        <p:txBody>
          <a:bodyPr wrap="square" lIns="0" tIns="0" rIns="0" bIns="0" rtlCol="0" anchor="ctr"/>
          <a:lstStyle/>
          <a:p>
            <a:pPr indent="0" marL="0">
              <a:buNone/>
            </a:pPr>
            <a:r>
              <a:rPr lang="en-US" sz="1400" b="1" dirty="0">
                <a:solidFill>
                  <a:schemeClr val="accent2"/>
                </a:solidFill>
              </a:rPr>
              <a:t>부울 함수에서는</a:t>
            </a:r>
            <a:endParaRPr lang="en-US" sz="1400" dirty="0"/>
          </a:p>
          <a:p>
            <a:pPr indent="0" marL="0">
              <a:spcAft>
                <a:spcPts val="600"/>
              </a:spcAft>
              <a:buNone/>
            </a:pPr>
            <a:r>
              <a:rPr lang="en-US" sz="1600" dirty="0">
                <a:solidFill>
                  <a:schemeClr val="tx1"/>
                </a:solidFill>
              </a:rPr>
              <a:t>g로 불변인 함수 = g의 각 순환 위에서 값이 상수</a:t>
            </a:r>
            <a:endParaRPr lang="en-US" sz="1400" dirty="0"/>
          </a:p>
          <a:p>
            <a:pPr indent="0" marL="0">
              <a:spcAft>
                <a:spcPts val="600"/>
              </a:spcAft>
              <a:buNone/>
            </a:pPr>
            <a:r>
              <a:rPr lang="en-US" sz="2400" b="1" dirty="0">
                <a:solidFill>
                  <a:schemeClr val="tx1"/>
                </a:solidFill>
              </a:rPr>
              <a:t>|Fix(g, F</a:t>
            </a:r>
            <a:r>
              <a:rPr lang="en-US" sz="2400" b="1" baseline="-40000" dirty="0">
                <a:solidFill>
                  <a:schemeClr val="tx1"/>
                </a:solidFill>
              </a:rPr>
              <a:t>4</a:t>
            </a:r>
            <a:r>
              <a:rPr lang="en-US" sz="2400" b="1" dirty="0">
                <a:solidFill>
                  <a:schemeClr val="tx1"/>
                </a:solidFill>
              </a:rPr>
              <a:t>)| = 2</a:t>
            </a:r>
            <a:r>
              <a:rPr lang="en-US" sz="2400" b="1" baseline="30000" dirty="0">
                <a:solidFill>
                  <a:schemeClr val="tx1"/>
                </a:solidFill>
              </a:rPr>
              <a:t>c(g)</a:t>
            </a:r>
            <a:endParaRPr lang="en-US" sz="1400" dirty="0"/>
          </a:p>
          <a:p>
            <a:pPr indent="0" marL="0">
              <a:buNone/>
            </a:pPr>
            <a:r>
              <a:rPr lang="en-US" sz="1400" dirty="0">
                <a:solidFill>
                  <a:schemeClr val="tx2"/>
                </a:solidFill>
              </a:rPr>
              <a:t>c(g): 입력점 16개 위에서 g가 만드는 순환의 개수</a:t>
            </a:r>
            <a:endParaRPr lang="en-US" sz="1400" dirty="0"/>
          </a:p>
        </p:txBody>
      </p:sp>
      <p:sp>
        <p:nvSpPr>
          <p:cNvPr id="13" name="warmup-card"/>
          <p:cNvSpPr/>
          <p:nvPr/>
        </p:nvSpPr>
        <p:spPr>
          <a:xfrm>
            <a:off x="6172200" y="3611880"/>
            <a:ext cx="5468112" cy="2560320"/>
          </a:xfrm>
          <a:prstGeom prst="roundRect">
            <a:avLst>
              <a:gd name="adj" fmla="val 2857"/>
            </a:avLst>
          </a:prstGeom>
          <a:solidFill>
            <a:schemeClr val="bg2"/>
          </a:solidFill>
          <a:ln w="3175">
            <a:solidFill>
              <a:schemeClr val="bg2"/>
            </a:solidFill>
            <a:prstDash val="solid"/>
          </a:ln>
        </p:spPr>
      </p:sp>
      <p:sp>
        <p:nvSpPr>
          <p:cNvPr id="14" name="Text 11"/>
          <p:cNvSpPr txBox="1"/>
          <p:nvPr/>
        </p:nvSpPr>
        <p:spPr>
          <a:xfrm>
            <a:off x="6400800" y="3703320"/>
            <a:ext cx="5029200" cy="2377440"/>
          </a:xfrm>
          <a:prstGeom prst="rect">
            <a:avLst/>
          </a:prstGeom>
          <a:noFill/>
          <a:ln/>
        </p:spPr>
        <p:txBody>
          <a:bodyPr wrap="square" lIns="0" tIns="0" rIns="0" bIns="0" rtlCol="0" anchor="ctr"/>
          <a:lstStyle/>
          <a:p>
            <a:pPr indent="0" marL="0">
              <a:buNone/>
            </a:pPr>
            <a:r>
              <a:rPr lang="en-US" sz="1400" b="1" dirty="0">
                <a:solidFill>
                  <a:schemeClr val="accent1"/>
                </a:solidFill>
              </a:rPr>
              <a:t>워밍업: 2변수 (S</a:t>
            </a:r>
            <a:r>
              <a:rPr lang="en-US" sz="1400" b="1" baseline="-40000" dirty="0">
                <a:solidFill>
                  <a:schemeClr val="accent1"/>
                </a:solidFill>
              </a:rPr>
              <a:t>2</a:t>
            </a:r>
            <a:r>
              <a:rPr lang="en-US" sz="1400" b="1" dirty="0">
                <a:solidFill>
                  <a:schemeClr val="accent1"/>
                </a:solidFill>
              </a:rPr>
              <a:t>, F</a:t>
            </a:r>
            <a:r>
              <a:rPr lang="en-US" sz="1400" b="1" baseline="-40000" dirty="0">
                <a:solidFill>
                  <a:schemeClr val="accent1"/>
                </a:solidFill>
              </a:rPr>
              <a:t>2</a:t>
            </a:r>
            <a:r>
              <a:rPr lang="en-US" sz="1400" b="1" dirty="0">
                <a:solidFill>
                  <a:schemeClr val="accent1"/>
                </a:solidFill>
              </a:rPr>
              <a:t> = 16개)</a:t>
            </a:r>
            <a:endParaRPr lang="en-US" sz="1400" dirty="0"/>
          </a:p>
          <a:p>
            <a:pPr indent="0" marL="0">
              <a:spcAft>
                <a:spcPts val="300"/>
              </a:spcAft>
              <a:buNone/>
            </a:pPr>
            <a:r>
              <a:rPr lang="en-US" sz="1600" dirty="0">
                <a:solidFill>
                  <a:schemeClr val="tx1"/>
                </a:solidFill>
              </a:rPr>
              <a:t>항등: c = 4 → 2</a:t>
            </a:r>
            <a:r>
              <a:rPr lang="en-US" sz="1600" baseline="30000" dirty="0">
                <a:solidFill>
                  <a:schemeClr val="tx1"/>
                </a:solidFill>
              </a:rPr>
              <a:t>4</a:t>
            </a:r>
            <a:r>
              <a:rPr lang="en-US" sz="1600" dirty="0">
                <a:solidFill>
                  <a:schemeClr val="tx1"/>
                </a:solidFill>
              </a:rPr>
              <a:t> = 16개 고정</a:t>
            </a:r>
            <a:endParaRPr lang="en-US" sz="1400" dirty="0"/>
          </a:p>
          <a:p>
            <a:pPr indent="0" marL="0">
              <a:spcAft>
                <a:spcPts val="600"/>
              </a:spcAft>
              <a:buNone/>
            </a:pPr>
            <a:r>
              <a:rPr lang="en-US" sz="1600" dirty="0">
                <a:solidFill>
                  <a:schemeClr val="tx1"/>
                </a:solidFill>
              </a:rPr>
              <a:t>(12): 00, 11은 고정, 01 ↔ 10 → c = 3 → 2</a:t>
            </a:r>
            <a:r>
              <a:rPr lang="en-US" sz="1600" baseline="30000" dirty="0">
                <a:solidFill>
                  <a:schemeClr val="tx1"/>
                </a:solidFill>
              </a:rPr>
              <a:t>3</a:t>
            </a:r>
            <a:r>
              <a:rPr lang="en-US" sz="1600" dirty="0">
                <a:solidFill>
                  <a:schemeClr val="tx1"/>
                </a:solidFill>
              </a:rPr>
              <a:t> = 8개</a:t>
            </a:r>
            <a:endParaRPr lang="en-US" sz="1400" dirty="0"/>
          </a:p>
          <a:p>
            <a:pPr indent="0" marL="0">
              <a:buNone/>
            </a:pPr>
            <a:r>
              <a:rPr lang="en-US" sz="2400" b="1" dirty="0">
                <a:solidFill>
                  <a:schemeClr val="tx1"/>
                </a:solidFill>
              </a:rPr>
              <a:t>(16 + 8) / 2 = 12 종류</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12</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2부 · 전체 공간</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S₄의 5개 켤레류</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같은 켤레류의 원소는 Fix 값이 같다 → 대표원 5개만 계산하면 된다</a:t>
            </a:r>
            <a:endParaRPr lang="en-US" sz="1800" dirty="0"/>
          </a:p>
        </p:txBody>
      </p:sp>
      <p:graphicFrame>
        <p:nvGraphicFramePr>
          <p:cNvPr id="9" name="class-table"/>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914400"/>
        </p:xfrm>
        <a:graphic>
          <a:graphicData uri="http://schemas.openxmlformats.org/drawingml/2006/table">
            <a:tbl>
              <a:tblPr/>
              <a:tblGrid>
                <a:gridCol w="1097280"/>
                <a:gridCol w="1737360"/>
                <a:gridCol w="1188720"/>
                <a:gridCol w="1645920"/>
                <a:gridCol w="1005840"/>
                <a:gridCol w="4416552"/>
              </a:tblGrid>
              <a:tr h="621792">
                <a:tc>
                  <a:txBody>
                    <a:bodyPr/>
                    <a:lstStyle/>
                    <a:p>
                      <a:pPr algn="ctr" indent="0" marL="0">
                        <a:buNone/>
                      </a:pPr>
                      <a:r>
                        <a:rPr lang="en-US" sz="1600" b="1" dirty="0">
                          <a:solidFill>
                            <a:schemeClr val="bg1"/>
                          </a:solidFill>
                        </a:rPr>
                        <a:t>켤레류</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순환 구조</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원소 수</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대표원</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c(g)</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입력점 위 순환의 구성</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621792">
                <a:tc>
                  <a:txBody>
                    <a:bodyPr/>
                    <a:lstStyle/>
                    <a:p>
                      <a:pPr algn="ctr" indent="0" marL="0">
                        <a:buNone/>
                      </a:pPr>
                      <a:r>
                        <a:rPr lang="en-US" sz="1600" dirty="0">
                          <a:solidFill>
                            <a:schemeClr val="tx1"/>
                          </a:solidFill>
                        </a:rPr>
                        <a:t>C</a:t>
                      </a:r>
                      <a:r>
                        <a:rPr lang="en-US" sz="1600" baseline="-40000" dirty="0">
                          <a:solidFill>
                            <a:schemeClr val="tx1"/>
                          </a:solidFill>
                        </a:rPr>
                        <a:t>1</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r>
                        <a:rPr lang="en-US" sz="1600" baseline="30000" dirty="0">
                          <a:solidFill>
                            <a:schemeClr val="tx1"/>
                          </a:solidFill>
                        </a:rPr>
                        <a:t>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id</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16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고정점 16개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621792">
                <a:tc>
                  <a:txBody>
                    <a:bodyPr/>
                    <a:lstStyle/>
                    <a:p>
                      <a:pPr algn="ctr" indent="0" marL="0">
                        <a:buNone/>
                      </a:pPr>
                      <a:r>
                        <a:rPr lang="en-US" sz="1600" dirty="0">
                          <a:solidFill>
                            <a:schemeClr val="tx1"/>
                          </a:solidFill>
                        </a:rPr>
                        <a:t>C</a:t>
                      </a:r>
                      <a:r>
                        <a:rPr lang="en-US" sz="1600" baseline="-40000" dirty="0">
                          <a:solidFill>
                            <a:schemeClr val="tx1"/>
                          </a:solidFill>
                        </a:rPr>
                        <a:t>2</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(2)(1)</a:t>
                      </a:r>
                      <a:r>
                        <a:rPr lang="en-US" sz="1600" baseline="30000" dirty="0">
                          <a:solidFill>
                            <a:schemeClr val="tx1"/>
                          </a:solidFill>
                        </a:rPr>
                        <a:t>2</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(12)</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12</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고정점 8개, 2-순환 4개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621792">
                <a:tc>
                  <a:txBody>
                    <a:bodyPr/>
                    <a:lstStyle/>
                    <a:p>
                      <a:pPr algn="ctr" indent="0" marL="0">
                        <a:buNone/>
                      </a:pPr>
                      <a:r>
                        <a:rPr lang="en-US" sz="1600" dirty="0">
                          <a:solidFill>
                            <a:schemeClr val="tx1"/>
                          </a:solidFill>
                        </a:rPr>
                        <a:t>C</a:t>
                      </a:r>
                      <a:r>
                        <a:rPr lang="en-US" sz="1600" baseline="-40000" dirty="0">
                          <a:solidFill>
                            <a:schemeClr val="tx1"/>
                          </a:solidFill>
                        </a:rPr>
                        <a:t>3</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a:t>
                      </a:r>
                      <a:r>
                        <a:rPr lang="en-US" sz="1600" baseline="30000" dirty="0">
                          <a:solidFill>
                            <a:schemeClr val="tx1"/>
                          </a:solidFill>
                        </a:rPr>
                        <a:t>2</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3</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(12)(34)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10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고정점 4개, 2-순환 6개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621792">
                <a:tc>
                  <a:txBody>
                    <a:bodyPr/>
                    <a:lstStyle/>
                    <a:p>
                      <a:pPr algn="ctr" indent="0" marL="0">
                        <a:buNone/>
                      </a:pPr>
                      <a:r>
                        <a:rPr lang="en-US" sz="1600" dirty="0">
                          <a:solidFill>
                            <a:schemeClr val="tx1"/>
                          </a:solidFill>
                        </a:rPr>
                        <a:t>C</a:t>
                      </a:r>
                      <a:r>
                        <a:rPr lang="en-US" sz="1600" baseline="-40000" dirty="0">
                          <a:solidFill>
                            <a:schemeClr val="tx1"/>
                          </a:solidFill>
                        </a:rPr>
                        <a:t>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(3)(1)</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(123)</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rPr>
                        <a:t>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고정점 4개, 3-순환 4개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621792">
                <a:tc>
                  <a:txBody>
                    <a:bodyPr/>
                    <a:lstStyle/>
                    <a:p>
                      <a:pPr algn="ctr" indent="0" marL="0">
                        <a:buNone/>
                      </a:pPr>
                      <a:r>
                        <a:rPr lang="en-US" sz="1600" dirty="0">
                          <a:solidFill>
                            <a:schemeClr val="tx1"/>
                          </a:solidFill>
                        </a:rPr>
                        <a:t>C</a:t>
                      </a:r>
                      <a:r>
                        <a:rPr lang="en-US" sz="1600" baseline="-40000" dirty="0">
                          <a:solidFill>
                            <a:schemeClr val="tx1"/>
                          </a:solidFill>
                        </a:rPr>
                        <a:t>5</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(1234)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rPr>
                        <a:t>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고정점 2개, 2-순환 1개, 4-순환 3개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548640" y="5897880"/>
            <a:ext cx="7315200" cy="320040"/>
          </a:xfrm>
          <a:prstGeom prst="rect">
            <a:avLst/>
          </a:prstGeom>
          <a:noFill/>
          <a:ln/>
        </p:spPr>
        <p:txBody>
          <a:bodyPr wrap="square" lIns="0" tIns="0" rIns="0" bIns="0" rtlCol="0" anchor="ctr"/>
          <a:lstStyle/>
          <a:p>
            <a:pPr indent="0" marL="0">
              <a:buNone/>
            </a:pPr>
            <a:r>
              <a:rPr lang="en-US" sz="1400" dirty="0">
                <a:solidFill>
                  <a:schemeClr val="tx2"/>
                </a:solidFill>
              </a:rPr>
              <a:t>원소 수의 합 = 1 + 6 + 3 + 8 + 6 = 24</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14</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2부 · 전체 공간</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전체 공간: 3,984개의 궤도</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다섯 항을 더해 24로 나누면 끝</a:t>
            </a:r>
            <a:endParaRPr lang="en-US" sz="1800" dirty="0"/>
          </a:p>
        </p:txBody>
      </p:sp>
      <p:sp>
        <p:nvSpPr>
          <p:cNvPr id="8" name="term-card"/>
          <p:cNvSpPr/>
          <p:nvPr/>
        </p:nvSpPr>
        <p:spPr>
          <a:xfrm>
            <a:off x="548640" y="2011680"/>
            <a:ext cx="2103120" cy="1600200"/>
          </a:xfrm>
          <a:prstGeom prst="roundRect">
            <a:avLst>
              <a:gd name="adj" fmla="val 4571"/>
            </a:avLst>
          </a:prstGeom>
          <a:solidFill>
            <a:schemeClr val="bg2"/>
          </a:solidFill>
          <a:ln w="3175">
            <a:solidFill>
              <a:schemeClr val="bg2"/>
            </a:solidFill>
            <a:prstDash val="solid"/>
          </a:ln>
        </p:spPr>
      </p:sp>
      <p:sp>
        <p:nvSpPr>
          <p:cNvPr id="9" name="Text 6"/>
          <p:cNvSpPr txBox="1"/>
          <p:nvPr/>
        </p:nvSpPr>
        <p:spPr>
          <a:xfrm>
            <a:off x="548640" y="2011680"/>
            <a:ext cx="2103120" cy="1600200"/>
          </a:xfrm>
          <a:prstGeom prst="rect">
            <a:avLst/>
          </a:prstGeom>
          <a:noFill/>
          <a:ln/>
        </p:spPr>
        <p:txBody>
          <a:bodyPr wrap="square" lIns="0" tIns="0" rIns="0" bIns="0" rtlCol="0" anchor="ctr"/>
          <a:lstStyle/>
          <a:p>
            <a:pPr algn="ctr" indent="0" marL="0">
              <a:buNone/>
            </a:pPr>
            <a:r>
              <a:rPr lang="en-US" sz="1400" b="1" dirty="0">
                <a:solidFill>
                  <a:schemeClr val="accent2"/>
                </a:solidFill>
              </a:rPr>
              <a:t>C₁</a:t>
            </a:r>
            <a:endParaRPr lang="en-US" sz="1400" dirty="0"/>
          </a:p>
          <a:p>
            <a:pPr algn="ctr" indent="0" marL="0">
              <a:buNone/>
            </a:pPr>
            <a:r>
              <a:rPr lang="en-US" sz="1800" dirty="0">
                <a:solidFill>
                  <a:schemeClr val="tx1"/>
                </a:solidFill>
              </a:rPr>
              <a:t>1 × 2</a:t>
            </a:r>
            <a:r>
              <a:rPr lang="en-US" sz="1800" baseline="30000" dirty="0">
                <a:solidFill>
                  <a:schemeClr val="tx1"/>
                </a:solidFill>
              </a:rPr>
              <a:t>16</a:t>
            </a:r>
            <a:endParaRPr lang="en-US" sz="1400" dirty="0"/>
          </a:p>
          <a:p>
            <a:pPr algn="ctr" indent="0" marL="0">
              <a:buNone/>
            </a:pPr>
            <a:r>
              <a:rPr lang="en-US" sz="2400" b="1" dirty="0">
                <a:solidFill>
                  <a:schemeClr val="tx1"/>
                </a:solidFill>
              </a:rPr>
              <a:t>65,536</a:t>
            </a:r>
            <a:endParaRPr lang="en-US" sz="1400" dirty="0"/>
          </a:p>
        </p:txBody>
      </p:sp>
      <p:sp>
        <p:nvSpPr>
          <p:cNvPr id="10" name="term-card"/>
          <p:cNvSpPr/>
          <p:nvPr/>
        </p:nvSpPr>
        <p:spPr>
          <a:xfrm>
            <a:off x="2788920" y="2011680"/>
            <a:ext cx="2103120" cy="1600200"/>
          </a:xfrm>
          <a:prstGeom prst="roundRect">
            <a:avLst>
              <a:gd name="adj" fmla="val 4571"/>
            </a:avLst>
          </a:prstGeom>
          <a:solidFill>
            <a:schemeClr val="bg2"/>
          </a:solidFill>
          <a:ln w="3175">
            <a:solidFill>
              <a:schemeClr val="bg2"/>
            </a:solidFill>
            <a:prstDash val="solid"/>
          </a:ln>
        </p:spPr>
      </p:sp>
      <p:sp>
        <p:nvSpPr>
          <p:cNvPr id="11" name="Text 8"/>
          <p:cNvSpPr txBox="1"/>
          <p:nvPr/>
        </p:nvSpPr>
        <p:spPr>
          <a:xfrm>
            <a:off x="2788920" y="2011680"/>
            <a:ext cx="2103120" cy="1600200"/>
          </a:xfrm>
          <a:prstGeom prst="rect">
            <a:avLst/>
          </a:prstGeom>
          <a:noFill/>
          <a:ln/>
        </p:spPr>
        <p:txBody>
          <a:bodyPr wrap="square" lIns="0" tIns="0" rIns="0" bIns="0" rtlCol="0" anchor="ctr"/>
          <a:lstStyle/>
          <a:p>
            <a:pPr algn="ctr" indent="0" marL="0">
              <a:buNone/>
            </a:pPr>
            <a:r>
              <a:rPr lang="en-US" sz="1400" b="1" dirty="0">
                <a:solidFill>
                  <a:schemeClr val="accent2"/>
                </a:solidFill>
              </a:rPr>
              <a:t>C₂</a:t>
            </a:r>
            <a:endParaRPr lang="en-US" sz="1400" dirty="0"/>
          </a:p>
          <a:p>
            <a:pPr algn="ctr" indent="0" marL="0">
              <a:buNone/>
            </a:pPr>
            <a:r>
              <a:rPr lang="en-US" sz="1800" dirty="0">
                <a:solidFill>
                  <a:schemeClr val="tx1"/>
                </a:solidFill>
              </a:rPr>
              <a:t>6 × 2</a:t>
            </a:r>
            <a:r>
              <a:rPr lang="en-US" sz="1800" baseline="30000" dirty="0">
                <a:solidFill>
                  <a:schemeClr val="tx1"/>
                </a:solidFill>
              </a:rPr>
              <a:t>12</a:t>
            </a:r>
            <a:endParaRPr lang="en-US" sz="1400" dirty="0"/>
          </a:p>
          <a:p>
            <a:pPr algn="ctr" indent="0" marL="0">
              <a:buNone/>
            </a:pPr>
            <a:r>
              <a:rPr lang="en-US" sz="2400" b="1" dirty="0">
                <a:solidFill>
                  <a:schemeClr val="tx1"/>
                </a:solidFill>
              </a:rPr>
              <a:t>24,576</a:t>
            </a:r>
            <a:endParaRPr lang="en-US" sz="1400" dirty="0"/>
          </a:p>
        </p:txBody>
      </p:sp>
      <p:sp>
        <p:nvSpPr>
          <p:cNvPr id="12" name="term-card"/>
          <p:cNvSpPr/>
          <p:nvPr/>
        </p:nvSpPr>
        <p:spPr>
          <a:xfrm>
            <a:off x="5029200" y="2011680"/>
            <a:ext cx="2103120" cy="1600200"/>
          </a:xfrm>
          <a:prstGeom prst="roundRect">
            <a:avLst>
              <a:gd name="adj" fmla="val 4571"/>
            </a:avLst>
          </a:prstGeom>
          <a:solidFill>
            <a:schemeClr val="bg2"/>
          </a:solidFill>
          <a:ln w="3175">
            <a:solidFill>
              <a:schemeClr val="bg2"/>
            </a:solidFill>
            <a:prstDash val="solid"/>
          </a:ln>
        </p:spPr>
      </p:sp>
      <p:sp>
        <p:nvSpPr>
          <p:cNvPr id="13" name="Text 10"/>
          <p:cNvSpPr txBox="1"/>
          <p:nvPr/>
        </p:nvSpPr>
        <p:spPr>
          <a:xfrm>
            <a:off x="5029200" y="2011680"/>
            <a:ext cx="2103120" cy="1600200"/>
          </a:xfrm>
          <a:prstGeom prst="rect">
            <a:avLst/>
          </a:prstGeom>
          <a:noFill/>
          <a:ln/>
        </p:spPr>
        <p:txBody>
          <a:bodyPr wrap="square" lIns="0" tIns="0" rIns="0" bIns="0" rtlCol="0" anchor="ctr"/>
          <a:lstStyle/>
          <a:p>
            <a:pPr algn="ctr" indent="0" marL="0">
              <a:buNone/>
            </a:pPr>
            <a:r>
              <a:rPr lang="en-US" sz="1400" b="1" dirty="0">
                <a:solidFill>
                  <a:schemeClr val="accent2"/>
                </a:solidFill>
              </a:rPr>
              <a:t>C₃</a:t>
            </a:r>
            <a:endParaRPr lang="en-US" sz="1400" dirty="0"/>
          </a:p>
          <a:p>
            <a:pPr algn="ctr" indent="0" marL="0">
              <a:buNone/>
            </a:pPr>
            <a:r>
              <a:rPr lang="en-US" sz="1800" dirty="0">
                <a:solidFill>
                  <a:schemeClr val="tx1"/>
                </a:solidFill>
              </a:rPr>
              <a:t>3 × 2</a:t>
            </a:r>
            <a:r>
              <a:rPr lang="en-US" sz="1800" baseline="30000" dirty="0">
                <a:solidFill>
                  <a:schemeClr val="tx1"/>
                </a:solidFill>
              </a:rPr>
              <a:t>10</a:t>
            </a:r>
            <a:endParaRPr lang="en-US" sz="1400" dirty="0"/>
          </a:p>
          <a:p>
            <a:pPr algn="ctr" indent="0" marL="0">
              <a:buNone/>
            </a:pPr>
            <a:r>
              <a:rPr lang="en-US" sz="2400" b="1" dirty="0">
                <a:solidFill>
                  <a:schemeClr val="tx1"/>
                </a:solidFill>
              </a:rPr>
              <a:t>3,072</a:t>
            </a:r>
            <a:endParaRPr lang="en-US" sz="1400" dirty="0"/>
          </a:p>
        </p:txBody>
      </p:sp>
      <p:sp>
        <p:nvSpPr>
          <p:cNvPr id="14" name="term-card"/>
          <p:cNvSpPr/>
          <p:nvPr/>
        </p:nvSpPr>
        <p:spPr>
          <a:xfrm>
            <a:off x="7269480" y="2011680"/>
            <a:ext cx="2103120" cy="1600200"/>
          </a:xfrm>
          <a:prstGeom prst="roundRect">
            <a:avLst>
              <a:gd name="adj" fmla="val 4571"/>
            </a:avLst>
          </a:prstGeom>
          <a:solidFill>
            <a:schemeClr val="bg2"/>
          </a:solidFill>
          <a:ln w="3175">
            <a:solidFill>
              <a:schemeClr val="bg2"/>
            </a:solidFill>
            <a:prstDash val="solid"/>
          </a:ln>
        </p:spPr>
      </p:sp>
      <p:sp>
        <p:nvSpPr>
          <p:cNvPr id="15" name="Text 12"/>
          <p:cNvSpPr txBox="1"/>
          <p:nvPr/>
        </p:nvSpPr>
        <p:spPr>
          <a:xfrm>
            <a:off x="7269480" y="2011680"/>
            <a:ext cx="2103120" cy="1600200"/>
          </a:xfrm>
          <a:prstGeom prst="rect">
            <a:avLst/>
          </a:prstGeom>
          <a:noFill/>
          <a:ln/>
        </p:spPr>
        <p:txBody>
          <a:bodyPr wrap="square" lIns="0" tIns="0" rIns="0" bIns="0" rtlCol="0" anchor="ctr"/>
          <a:lstStyle/>
          <a:p>
            <a:pPr algn="ctr" indent="0" marL="0">
              <a:buNone/>
            </a:pPr>
            <a:r>
              <a:rPr lang="en-US" sz="1400" b="1" dirty="0">
                <a:solidFill>
                  <a:schemeClr val="accent2"/>
                </a:solidFill>
              </a:rPr>
              <a:t>C₄</a:t>
            </a:r>
            <a:endParaRPr lang="en-US" sz="1400" dirty="0"/>
          </a:p>
          <a:p>
            <a:pPr algn="ctr" indent="0" marL="0">
              <a:buNone/>
            </a:pPr>
            <a:r>
              <a:rPr lang="en-US" sz="1800" dirty="0">
                <a:solidFill>
                  <a:schemeClr val="tx1"/>
                </a:solidFill>
              </a:rPr>
              <a:t>8 × 2</a:t>
            </a:r>
            <a:r>
              <a:rPr lang="en-US" sz="1800" baseline="30000" dirty="0">
                <a:solidFill>
                  <a:schemeClr val="tx1"/>
                </a:solidFill>
              </a:rPr>
              <a:t>8</a:t>
            </a:r>
            <a:endParaRPr lang="en-US" sz="1400" dirty="0"/>
          </a:p>
          <a:p>
            <a:pPr algn="ctr" indent="0" marL="0">
              <a:buNone/>
            </a:pPr>
            <a:r>
              <a:rPr lang="en-US" sz="2400" b="1" dirty="0">
                <a:solidFill>
                  <a:schemeClr val="tx1"/>
                </a:solidFill>
              </a:rPr>
              <a:t>2,048</a:t>
            </a:r>
            <a:endParaRPr lang="en-US" sz="1400" dirty="0"/>
          </a:p>
        </p:txBody>
      </p:sp>
      <p:sp>
        <p:nvSpPr>
          <p:cNvPr id="16" name="term-card"/>
          <p:cNvSpPr/>
          <p:nvPr/>
        </p:nvSpPr>
        <p:spPr>
          <a:xfrm>
            <a:off x="9509760" y="2011680"/>
            <a:ext cx="2103120" cy="1600200"/>
          </a:xfrm>
          <a:prstGeom prst="roundRect">
            <a:avLst>
              <a:gd name="adj" fmla="val 4571"/>
            </a:avLst>
          </a:prstGeom>
          <a:solidFill>
            <a:schemeClr val="bg2"/>
          </a:solidFill>
          <a:ln w="3175">
            <a:solidFill>
              <a:schemeClr val="bg2"/>
            </a:solidFill>
            <a:prstDash val="solid"/>
          </a:ln>
        </p:spPr>
      </p:sp>
      <p:sp>
        <p:nvSpPr>
          <p:cNvPr id="17" name="Text 14"/>
          <p:cNvSpPr txBox="1"/>
          <p:nvPr/>
        </p:nvSpPr>
        <p:spPr>
          <a:xfrm>
            <a:off x="9509760" y="2011680"/>
            <a:ext cx="2103120" cy="1600200"/>
          </a:xfrm>
          <a:prstGeom prst="rect">
            <a:avLst/>
          </a:prstGeom>
          <a:noFill/>
          <a:ln/>
        </p:spPr>
        <p:txBody>
          <a:bodyPr wrap="square" lIns="0" tIns="0" rIns="0" bIns="0" rtlCol="0" anchor="ctr"/>
          <a:lstStyle/>
          <a:p>
            <a:pPr algn="ctr" indent="0" marL="0">
              <a:buNone/>
            </a:pPr>
            <a:r>
              <a:rPr lang="en-US" sz="1400" b="1" dirty="0">
                <a:solidFill>
                  <a:schemeClr val="accent2"/>
                </a:solidFill>
              </a:rPr>
              <a:t>C₅</a:t>
            </a:r>
            <a:endParaRPr lang="en-US" sz="1400" dirty="0"/>
          </a:p>
          <a:p>
            <a:pPr algn="ctr" indent="0" marL="0">
              <a:buNone/>
            </a:pPr>
            <a:r>
              <a:rPr lang="en-US" sz="1800" dirty="0">
                <a:solidFill>
                  <a:schemeClr val="tx1"/>
                </a:solidFill>
              </a:rPr>
              <a:t>6 × 2</a:t>
            </a:r>
            <a:r>
              <a:rPr lang="en-US" sz="1800" baseline="30000" dirty="0">
                <a:solidFill>
                  <a:schemeClr val="tx1"/>
                </a:solidFill>
              </a:rPr>
              <a:t>6</a:t>
            </a:r>
            <a:endParaRPr lang="en-US" sz="1400" dirty="0"/>
          </a:p>
          <a:p>
            <a:pPr algn="ctr" indent="0" marL="0">
              <a:buNone/>
            </a:pPr>
            <a:r>
              <a:rPr lang="en-US" sz="2400" b="1" dirty="0">
                <a:solidFill>
                  <a:schemeClr val="tx1"/>
                </a:solidFill>
              </a:rPr>
              <a:t>384</a:t>
            </a:r>
            <a:endParaRPr lang="en-US" sz="1400" dirty="0"/>
          </a:p>
        </p:txBody>
      </p:sp>
      <p:sp>
        <p:nvSpPr>
          <p:cNvPr id="18" name="sum-line"/>
          <p:cNvSpPr txBox="1"/>
          <p:nvPr/>
        </p:nvSpPr>
        <p:spPr>
          <a:xfrm>
            <a:off x="548640" y="3977640"/>
            <a:ext cx="11091672" cy="640080"/>
          </a:xfrm>
          <a:prstGeom prst="rect">
            <a:avLst/>
          </a:prstGeom>
          <a:noFill/>
          <a:ln/>
        </p:spPr>
        <p:txBody>
          <a:bodyPr wrap="square" lIns="0" tIns="0" rIns="0" bIns="0" rtlCol="0" anchor="ctr"/>
          <a:lstStyle/>
          <a:p>
            <a:pPr algn="ctr" indent="0" marL="0">
              <a:buNone/>
            </a:pPr>
            <a:r>
              <a:rPr lang="en-US" sz="2600" dirty="0">
                <a:solidFill>
                  <a:schemeClr val="tx1"/>
                </a:solidFill>
              </a:rPr>
              <a:t>|F</a:t>
            </a:r>
            <a:r>
              <a:rPr lang="en-US" sz="2600" baseline="-40000" dirty="0">
                <a:solidFill>
                  <a:schemeClr val="tx1"/>
                </a:solidFill>
              </a:rPr>
              <a:t>4</a:t>
            </a:r>
            <a:r>
              <a:rPr lang="en-US" sz="2600" dirty="0">
                <a:solidFill>
                  <a:schemeClr val="tx1"/>
                </a:solidFill>
              </a:rPr>
              <a:t> / S</a:t>
            </a:r>
            <a:r>
              <a:rPr lang="en-US" sz="2600" baseline="-40000" dirty="0">
                <a:solidFill>
                  <a:schemeClr val="tx1"/>
                </a:solidFill>
              </a:rPr>
              <a:t>4</a:t>
            </a:r>
            <a:r>
              <a:rPr lang="en-US" sz="2600" dirty="0">
                <a:solidFill>
                  <a:schemeClr val="tx1"/>
                </a:solidFill>
              </a:rPr>
              <a:t>| = (65,536 + 24,576 + 3,072 + 2,048 + 384) / 24</a:t>
            </a:r>
            <a:endParaRPr lang="en-US" sz="2600" dirty="0"/>
          </a:p>
        </p:txBody>
      </p:sp>
      <p:sp>
        <p:nvSpPr>
          <p:cNvPr id="19" name="result-line"/>
          <p:cNvSpPr txBox="1"/>
          <p:nvPr/>
        </p:nvSpPr>
        <p:spPr>
          <a:xfrm>
            <a:off x="548640" y="4754880"/>
            <a:ext cx="11091672" cy="914400"/>
          </a:xfrm>
          <a:prstGeom prst="rect">
            <a:avLst/>
          </a:prstGeom>
          <a:noFill/>
          <a:ln/>
        </p:spPr>
        <p:txBody>
          <a:bodyPr wrap="square" lIns="0" tIns="0" rIns="0" bIns="0" rtlCol="0" anchor="ctr"/>
          <a:lstStyle/>
          <a:p>
            <a:pPr algn="ctr" indent="0" marL="0">
              <a:buNone/>
            </a:pPr>
            <a:r>
              <a:rPr lang="en-US" sz="4000" b="1" dirty="0">
                <a:solidFill>
                  <a:schemeClr val="accent1"/>
                </a:solidFill>
              </a:rPr>
              <a:t>= 95,616 / 24 = 3,984</a:t>
            </a:r>
            <a:endParaRPr lang="en-US" sz="4000" dirty="0"/>
          </a:p>
        </p:txBody>
      </p:sp>
      <p:sp>
        <p:nvSpPr>
          <p:cNvPr id="20" name="Text 17"/>
          <p:cNvSpPr txBox="1"/>
          <p:nvPr/>
        </p:nvSpPr>
        <p:spPr>
          <a:xfrm>
            <a:off x="548640" y="5806440"/>
            <a:ext cx="11091672" cy="365760"/>
          </a:xfrm>
          <a:prstGeom prst="rect">
            <a:avLst/>
          </a:prstGeom>
          <a:noFill/>
          <a:ln/>
        </p:spPr>
        <p:txBody>
          <a:bodyPr wrap="square" lIns="0" tIns="0" rIns="0" bIns="0" rtlCol="0" anchor="ctr"/>
          <a:lstStyle/>
          <a:p>
            <a:pPr algn="ctr" indent="0" marL="0">
              <a:buNone/>
            </a:pPr>
            <a:r>
              <a:rPr lang="en-US" sz="1400" dirty="0">
                <a:solidFill>
                  <a:schemeClr val="tx2"/>
                </a:solidFill>
              </a:rPr>
              <a:t>문헌(OEIS A003180)의 값과 일치하는 독립 재계산</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16</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2부 · 전체 공간</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궤도 크기의 분포</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3,984개 중 3,472개(87%)가 크기 12 또는 24</a:t>
            </a:r>
            <a:endParaRPr lang="en-US" sz="1800" dirty="0"/>
          </a:p>
        </p:txBody>
      </p:sp>
      <p:graphicFrame>
        <p:nvGraphicFramePr>
          <p:cNvPr id="8" name="Chart 0" descr=""/>
          <p:cNvGraphicFramePr/>
          <p:nvPr/>
        </p:nvGraphicFramePr>
        <p:xfrm>
          <a:off x="548640" y="1920240"/>
          <a:ext cx="7040880" cy="4297680"/>
        </p:xfrm>
        <a:graphic xmlns:a="http://schemas.openxmlformats.org/drawingml/2006/main">
          <a:graphicData uri="http://schemas.openxmlformats.org/drawingml/2006/chart">
            <c:chart xmlns:c="http://schemas.openxmlformats.org/drawingml/2006/chart" r:id="rId1"/>
          </a:graphicData>
        </a:graphic>
      </p:graphicFrame>
      <p:sp>
        <p:nvSpPr>
          <p:cNvPr id="9" name="fact-card"/>
          <p:cNvSpPr/>
          <p:nvPr/>
        </p:nvSpPr>
        <p:spPr>
          <a:xfrm>
            <a:off x="7863840" y="2011680"/>
            <a:ext cx="3776472" cy="1188720"/>
          </a:xfrm>
          <a:prstGeom prst="roundRect">
            <a:avLst>
              <a:gd name="adj" fmla="val 6154"/>
            </a:avLst>
          </a:prstGeom>
          <a:solidFill>
            <a:schemeClr val="bg2"/>
          </a:solidFill>
          <a:ln w="3175">
            <a:solidFill>
              <a:schemeClr val="bg2"/>
            </a:solidFill>
            <a:prstDash val="solid"/>
          </a:ln>
        </p:spPr>
      </p:sp>
      <p:sp>
        <p:nvSpPr>
          <p:cNvPr id="10" name="Text 6"/>
          <p:cNvSpPr txBox="1"/>
          <p:nvPr/>
        </p:nvSpPr>
        <p:spPr>
          <a:xfrm>
            <a:off x="8092440" y="2011680"/>
            <a:ext cx="3383280" cy="1188720"/>
          </a:xfrm>
          <a:prstGeom prst="rect">
            <a:avLst/>
          </a:prstGeom>
          <a:noFill/>
          <a:ln/>
        </p:spPr>
        <p:txBody>
          <a:bodyPr wrap="square" lIns="0" tIns="0" rIns="0" bIns="0" rtlCol="0" anchor="ctr"/>
          <a:lstStyle/>
          <a:p>
            <a:pPr indent="0" marL="0">
              <a:buNone/>
            </a:pPr>
            <a:r>
              <a:rPr lang="en-US" sz="2800" b="1" dirty="0">
                <a:solidFill>
                  <a:schemeClr val="accent1"/>
                </a:solidFill>
              </a:rPr>
              <a:t>32개</a:t>
            </a:r>
            <a:endParaRPr lang="en-US" sz="2800" dirty="0"/>
          </a:p>
          <a:p>
            <a:pPr indent="0" marL="0">
              <a:buNone/>
            </a:pPr>
            <a:r>
              <a:rPr lang="en-US" sz="1400" dirty="0">
                <a:solidFill>
                  <a:schemeClr val="tx2"/>
                </a:solidFill>
              </a:rPr>
              <a:t>크기 1 궤도 = S₄-고정점</a:t>
            </a:r>
            <a:endParaRPr lang="en-US" sz="2800" dirty="0"/>
          </a:p>
        </p:txBody>
      </p:sp>
      <p:sp>
        <p:nvSpPr>
          <p:cNvPr id="11" name="fact-card"/>
          <p:cNvSpPr/>
          <p:nvPr/>
        </p:nvSpPr>
        <p:spPr>
          <a:xfrm>
            <a:off x="7863840" y="3383280"/>
            <a:ext cx="3776472" cy="1188720"/>
          </a:xfrm>
          <a:prstGeom prst="roundRect">
            <a:avLst>
              <a:gd name="adj" fmla="val 6154"/>
            </a:avLst>
          </a:prstGeom>
          <a:solidFill>
            <a:schemeClr val="bg2"/>
          </a:solidFill>
          <a:ln w="3175">
            <a:solidFill>
              <a:schemeClr val="bg2"/>
            </a:solidFill>
            <a:prstDash val="solid"/>
          </a:ln>
        </p:spPr>
      </p:sp>
      <p:sp>
        <p:nvSpPr>
          <p:cNvPr id="12" name="Text 8"/>
          <p:cNvSpPr txBox="1"/>
          <p:nvPr/>
        </p:nvSpPr>
        <p:spPr>
          <a:xfrm>
            <a:off x="8092440" y="3383280"/>
            <a:ext cx="3383280" cy="1188720"/>
          </a:xfrm>
          <a:prstGeom prst="rect">
            <a:avLst/>
          </a:prstGeom>
          <a:noFill/>
          <a:ln/>
        </p:spPr>
        <p:txBody>
          <a:bodyPr wrap="square" lIns="0" tIns="0" rIns="0" bIns="0" rtlCol="0" anchor="ctr"/>
          <a:lstStyle/>
          <a:p>
            <a:pPr indent="0" marL="0">
              <a:buNone/>
            </a:pPr>
            <a:r>
              <a:rPr lang="en-US" sz="2800" b="1" dirty="0">
                <a:solidFill>
                  <a:schemeClr val="accent1"/>
                </a:solidFill>
              </a:rPr>
              <a:t>1,792개</a:t>
            </a:r>
            <a:endParaRPr lang="en-US" sz="2800" dirty="0"/>
          </a:p>
          <a:p>
            <a:pPr indent="0" marL="0">
              <a:buNone/>
            </a:pPr>
            <a:r>
              <a:rPr lang="en-US" sz="1400" dirty="0">
                <a:solidFill>
                  <a:schemeClr val="tx2"/>
                </a:solidFill>
              </a:rPr>
              <a:t>크기 24 궤도 (가장 많음)</a:t>
            </a:r>
            <a:endParaRPr lang="en-US" sz="2800" dirty="0"/>
          </a:p>
        </p:txBody>
      </p:sp>
      <p:sp>
        <p:nvSpPr>
          <p:cNvPr id="13" name="fact-card"/>
          <p:cNvSpPr/>
          <p:nvPr/>
        </p:nvSpPr>
        <p:spPr>
          <a:xfrm>
            <a:off x="7863840" y="4754880"/>
            <a:ext cx="3776472" cy="1188720"/>
          </a:xfrm>
          <a:prstGeom prst="roundRect">
            <a:avLst>
              <a:gd name="adj" fmla="val 6154"/>
            </a:avLst>
          </a:prstGeom>
          <a:solidFill>
            <a:schemeClr val="bg2"/>
          </a:solidFill>
          <a:ln w="3175">
            <a:solidFill>
              <a:schemeClr val="bg2"/>
            </a:solidFill>
            <a:prstDash val="solid"/>
          </a:ln>
        </p:spPr>
      </p:sp>
      <p:sp>
        <p:nvSpPr>
          <p:cNvPr id="14" name="Text 10"/>
          <p:cNvSpPr txBox="1"/>
          <p:nvPr/>
        </p:nvSpPr>
        <p:spPr>
          <a:xfrm>
            <a:off x="8092440" y="4754880"/>
            <a:ext cx="3383280" cy="1188720"/>
          </a:xfrm>
          <a:prstGeom prst="rect">
            <a:avLst/>
          </a:prstGeom>
          <a:noFill/>
          <a:ln/>
        </p:spPr>
        <p:txBody>
          <a:bodyPr wrap="square" lIns="0" tIns="0" rIns="0" bIns="0" rtlCol="0" anchor="ctr"/>
          <a:lstStyle/>
          <a:p>
            <a:pPr indent="0" marL="0">
              <a:buNone/>
            </a:pPr>
            <a:r>
              <a:rPr lang="en-US" sz="2800" b="1" dirty="0">
                <a:solidFill>
                  <a:schemeClr val="accent1"/>
                </a:solidFill>
              </a:rPr>
              <a:t>65,536</a:t>
            </a:r>
            <a:endParaRPr lang="en-US" sz="2800" dirty="0"/>
          </a:p>
          <a:p>
            <a:pPr indent="0" marL="0">
              <a:buNone/>
            </a:pPr>
            <a:r>
              <a:rPr lang="en-US" sz="1400" dirty="0">
                <a:solidFill>
                  <a:schemeClr val="tx2"/>
                </a:solidFill>
              </a:rPr>
              <a:t>크기 × 개수의 합 = 전체 함수 수</a:t>
            </a:r>
            <a:endParaRPr lang="en-US" sz="2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17</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세 가지 클론: L · M · D</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세 집합 모두 S</a:t>
            </a:r>
            <a:r>
              <a:rPr lang="en-US" sz="1800" baseline="-40000" dirty="0">
                <a:solidFill>
                  <a:schemeClr val="tx2"/>
                </a:solidFill>
              </a:rPr>
              <a:t>4</a:t>
            </a:r>
            <a:r>
              <a:rPr lang="en-US" sz="1800" dirty="0">
                <a:solidFill>
                  <a:schemeClr val="tx2"/>
                </a:solidFill>
              </a:rPr>
              <a:t> 작용에 닫혀 있으므로, 각각 S</a:t>
            </a:r>
            <a:r>
              <a:rPr lang="en-US" sz="1800" baseline="-40000" dirty="0">
                <a:solidFill>
                  <a:schemeClr val="tx2"/>
                </a:solidFill>
              </a:rPr>
              <a:t>4</a:t>
            </a:r>
            <a:r>
              <a:rPr lang="en-US" sz="1800" dirty="0">
                <a:solidFill>
                  <a:schemeClr val="tx2"/>
                </a:solidFill>
              </a:rPr>
              <a:t>-궤도들의 합집합이다</a:t>
            </a:r>
            <a:endParaRPr lang="en-US" sz="1800" dirty="0"/>
          </a:p>
        </p:txBody>
      </p:sp>
      <p:sp>
        <p:nvSpPr>
          <p:cNvPr id="8" name="clone-card"/>
          <p:cNvSpPr/>
          <p:nvPr/>
        </p:nvSpPr>
        <p:spPr>
          <a:xfrm>
            <a:off x="548640" y="2011680"/>
            <a:ext cx="3602736" cy="3246120"/>
          </a:xfrm>
          <a:prstGeom prst="roundRect">
            <a:avLst>
              <a:gd name="adj" fmla="val 2254"/>
            </a:avLst>
          </a:prstGeom>
          <a:solidFill>
            <a:schemeClr val="bg2"/>
          </a:solidFill>
          <a:ln w="3175">
            <a:solidFill>
              <a:schemeClr val="bg2"/>
            </a:solidFill>
            <a:prstDash val="solid"/>
          </a:ln>
        </p:spPr>
      </p:sp>
      <p:sp>
        <p:nvSpPr>
          <p:cNvPr id="9" name="clone-pill"/>
          <p:cNvSpPr/>
          <p:nvPr/>
        </p:nvSpPr>
        <p:spPr>
          <a:xfrm>
            <a:off x="731520" y="2194560"/>
            <a:ext cx="1737360" cy="457200"/>
          </a:xfrm>
          <a:prstGeom prst="roundRect">
            <a:avLst>
              <a:gd name="adj" fmla="val 50000"/>
            </a:avLst>
          </a:prstGeom>
          <a:solidFill>
            <a:schemeClr val="accent2"/>
          </a:solidFill>
          <a:ln w="3175">
            <a:solidFill>
              <a:schemeClr val="accent2"/>
            </a:solidFill>
            <a:prstDash val="solid"/>
          </a:ln>
        </p:spPr>
      </p:sp>
      <p:sp>
        <p:nvSpPr>
          <p:cNvPr id="10" name="Text 7"/>
          <p:cNvSpPr txBox="1"/>
          <p:nvPr/>
        </p:nvSpPr>
        <p:spPr>
          <a:xfrm>
            <a:off x="731520" y="219456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아핀 L</a:t>
            </a:r>
            <a:endParaRPr lang="en-US" sz="1600" dirty="0"/>
          </a:p>
        </p:txBody>
      </p:sp>
      <p:sp>
        <p:nvSpPr>
          <p:cNvPr id="11" name="Text 8"/>
          <p:cNvSpPr txBox="1"/>
          <p:nvPr/>
        </p:nvSpPr>
        <p:spPr>
          <a:xfrm>
            <a:off x="731520" y="2834640"/>
            <a:ext cx="3246120" cy="228600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f = c</a:t>
            </a:r>
            <a:r>
              <a:rPr lang="en-US" sz="1800" b="1" baseline="-40000" dirty="0">
                <a:solidFill>
                  <a:schemeClr val="tx1"/>
                </a:solidFill>
              </a:rPr>
              <a:t>0</a:t>
            </a:r>
            <a:r>
              <a:rPr lang="en-US" sz="1800" b="1" dirty="0">
                <a:solidFill>
                  <a:schemeClr val="tx1"/>
                </a:solidFill>
              </a:rPr>
              <a:t> ⊕ c</a:t>
            </a:r>
            <a:r>
              <a:rPr lang="en-US" sz="1800" b="1" baseline="-40000" dirty="0">
                <a:solidFill>
                  <a:schemeClr val="tx1"/>
                </a:solidFill>
              </a:rPr>
              <a:t>1</a:t>
            </a:r>
            <a:r>
              <a:rPr lang="en-US" sz="1800" b="1" dirty="0">
                <a:solidFill>
                  <a:schemeClr val="tx1"/>
                </a:solidFill>
              </a:rPr>
              <a:t>x</a:t>
            </a:r>
            <a:r>
              <a:rPr lang="en-US" sz="1800" b="1" baseline="-40000" dirty="0">
                <a:solidFill>
                  <a:schemeClr val="tx1"/>
                </a:solidFill>
              </a:rPr>
              <a:t>1</a:t>
            </a:r>
            <a:r>
              <a:rPr lang="en-US" sz="1800" b="1" dirty="0">
                <a:solidFill>
                  <a:schemeClr val="tx1"/>
                </a:solidFill>
              </a:rPr>
              <a:t> ⊕ … ⊕ c</a:t>
            </a:r>
            <a:r>
              <a:rPr lang="en-US" sz="1800" b="1" baseline="-40000" dirty="0">
                <a:solidFill>
                  <a:schemeClr val="tx1"/>
                </a:solidFill>
              </a:rPr>
              <a:t>4</a:t>
            </a:r>
            <a:r>
              <a:rPr lang="en-US" sz="1800" b="1" dirty="0">
                <a:solidFill>
                  <a:schemeClr val="tx1"/>
                </a:solidFill>
              </a:rPr>
              <a:t>x</a:t>
            </a:r>
            <a:r>
              <a:rPr lang="en-US" sz="1800" b="1" baseline="-40000" dirty="0">
                <a:solidFill>
                  <a:schemeClr val="tx1"/>
                </a:solidFill>
              </a:rPr>
              <a:t>4</a:t>
            </a:r>
            <a:endParaRPr lang="en-US" sz="1800" dirty="0"/>
          </a:p>
          <a:p>
            <a:pPr indent="0" marL="0">
              <a:spcAft>
                <a:spcPts val="1000"/>
              </a:spcAft>
              <a:buNone/>
            </a:pPr>
            <a:r>
              <a:rPr lang="en-US" sz="1800" dirty="0">
                <a:solidFill>
                  <a:schemeClr val="tx1"/>
                </a:solidFill>
              </a:rPr>
              <a:t>|L| = 2</a:t>
            </a:r>
            <a:r>
              <a:rPr lang="en-US" sz="1800" baseline="30000" dirty="0">
                <a:solidFill>
                  <a:schemeClr val="tx1"/>
                </a:solidFill>
              </a:rPr>
              <a:t>5</a:t>
            </a:r>
            <a:r>
              <a:rPr lang="en-US" sz="1800" dirty="0">
                <a:solidFill>
                  <a:schemeClr val="tx1"/>
                </a:solidFill>
              </a:rPr>
              <a:t> = 32</a:t>
            </a:r>
            <a:endParaRPr lang="en-US" sz="1800" dirty="0"/>
          </a:p>
          <a:p>
            <a:pPr indent="0" marL="0">
              <a:spcAft>
                <a:spcPts val="1000"/>
              </a:spcAft>
              <a:buNone/>
            </a:pPr>
            <a:r>
              <a:rPr lang="en-US" sz="1500" dirty="0">
                <a:solidFill>
                  <a:schemeClr val="tx2"/>
                </a:solidFill>
              </a:rPr>
              <a:t>생성: XOR, 상수 1</a:t>
            </a:r>
            <a:endParaRPr lang="en-US" sz="1800" dirty="0"/>
          </a:p>
          <a:p>
            <a:pPr indent="0" marL="0">
              <a:buNone/>
            </a:pPr>
            <a:r>
              <a:rPr lang="en-US" sz="1400" dirty="0">
                <a:solidFill>
                  <a:schemeClr val="tx2"/>
                </a:solidFill>
              </a:rPr>
              <a:t>예: 0, 1, x</a:t>
            </a:r>
            <a:r>
              <a:rPr lang="en-US" sz="1400" baseline="-40000" dirty="0">
                <a:solidFill>
                  <a:schemeClr val="tx2"/>
                </a:solidFill>
              </a:rPr>
              <a:t>1</a:t>
            </a:r>
            <a:r>
              <a:rPr lang="en-US" sz="1400" dirty="0">
                <a:solidFill>
                  <a:schemeClr val="tx2"/>
                </a:solidFill>
              </a:rPr>
              <a:t>, x</a:t>
            </a:r>
            <a:r>
              <a:rPr lang="en-US" sz="1400" baseline="-40000" dirty="0">
                <a:solidFill>
                  <a:schemeClr val="tx2"/>
                </a:solidFill>
              </a:rPr>
              <a:t>1</a:t>
            </a:r>
            <a:r>
              <a:rPr lang="en-US" sz="1400" dirty="0">
                <a:solidFill>
                  <a:schemeClr val="tx2"/>
                </a:solidFill>
              </a:rPr>
              <a:t>⊕x</a:t>
            </a:r>
            <a:r>
              <a:rPr lang="en-US" sz="1400" baseline="-40000" dirty="0">
                <a:solidFill>
                  <a:schemeClr val="tx2"/>
                </a:solidFill>
              </a:rPr>
              <a:t>2</a:t>
            </a:r>
            <a:r>
              <a:rPr lang="en-US" sz="1400" dirty="0">
                <a:solidFill>
                  <a:schemeClr val="tx2"/>
                </a:solidFill>
              </a:rPr>
              <a:t>, 4변수 XOR</a:t>
            </a:r>
            <a:endParaRPr lang="en-US" sz="1800" dirty="0"/>
          </a:p>
        </p:txBody>
      </p:sp>
      <p:sp>
        <p:nvSpPr>
          <p:cNvPr id="12" name="clone-card"/>
          <p:cNvSpPr/>
          <p:nvPr/>
        </p:nvSpPr>
        <p:spPr>
          <a:xfrm>
            <a:off x="4315968" y="2011680"/>
            <a:ext cx="3602736" cy="3246120"/>
          </a:xfrm>
          <a:prstGeom prst="roundRect">
            <a:avLst>
              <a:gd name="adj" fmla="val 2254"/>
            </a:avLst>
          </a:prstGeom>
          <a:solidFill>
            <a:schemeClr val="bg2"/>
          </a:solidFill>
          <a:ln w="3175">
            <a:solidFill>
              <a:schemeClr val="bg2"/>
            </a:solidFill>
            <a:prstDash val="solid"/>
          </a:ln>
        </p:spPr>
      </p:sp>
      <p:sp>
        <p:nvSpPr>
          <p:cNvPr id="13" name="clone-pill"/>
          <p:cNvSpPr/>
          <p:nvPr/>
        </p:nvSpPr>
        <p:spPr>
          <a:xfrm>
            <a:off x="4498848" y="2194560"/>
            <a:ext cx="1737360" cy="457200"/>
          </a:xfrm>
          <a:prstGeom prst="roundRect">
            <a:avLst>
              <a:gd name="adj" fmla="val 50000"/>
            </a:avLst>
          </a:prstGeom>
          <a:solidFill>
            <a:schemeClr val="accent4"/>
          </a:solidFill>
          <a:ln w="3175">
            <a:solidFill>
              <a:schemeClr val="accent4"/>
            </a:solidFill>
            <a:prstDash val="solid"/>
          </a:ln>
        </p:spPr>
      </p:sp>
      <p:sp>
        <p:nvSpPr>
          <p:cNvPr id="14" name="Text 11"/>
          <p:cNvSpPr txBox="1"/>
          <p:nvPr/>
        </p:nvSpPr>
        <p:spPr>
          <a:xfrm>
            <a:off x="4498848" y="219456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단조 M</a:t>
            </a:r>
            <a:endParaRPr lang="en-US" sz="1600" dirty="0"/>
          </a:p>
        </p:txBody>
      </p:sp>
      <p:sp>
        <p:nvSpPr>
          <p:cNvPr id="15" name="Text 12"/>
          <p:cNvSpPr txBox="1"/>
          <p:nvPr/>
        </p:nvSpPr>
        <p:spPr>
          <a:xfrm>
            <a:off x="4498848" y="2834640"/>
            <a:ext cx="3246120" cy="228600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x ≤ y 이면 f(x) ≤ f(y)</a:t>
            </a:r>
            <a:endParaRPr lang="en-US" sz="1800" dirty="0"/>
          </a:p>
          <a:p>
            <a:pPr indent="0" marL="0">
              <a:spcAft>
                <a:spcPts val="1000"/>
              </a:spcAft>
              <a:buNone/>
            </a:pPr>
            <a:r>
              <a:rPr lang="en-US" sz="1800" dirty="0">
                <a:solidFill>
                  <a:schemeClr val="tx1"/>
                </a:solidFill>
              </a:rPr>
              <a:t>|M| = 168 (Dedekind 수)</a:t>
            </a:r>
            <a:endParaRPr lang="en-US" sz="1800" dirty="0"/>
          </a:p>
          <a:p>
            <a:pPr indent="0" marL="0">
              <a:spcAft>
                <a:spcPts val="1000"/>
              </a:spcAft>
              <a:buNone/>
            </a:pPr>
            <a:r>
              <a:rPr lang="en-US" sz="1500" dirty="0">
                <a:solidFill>
                  <a:schemeClr val="tx2"/>
                </a:solidFill>
              </a:rPr>
              <a:t>생성: AND, OR, 상수</a:t>
            </a:r>
            <a:endParaRPr lang="en-US" sz="1800" dirty="0"/>
          </a:p>
          <a:p>
            <a:pPr indent="0" marL="0">
              <a:buNone/>
            </a:pPr>
            <a:r>
              <a:rPr lang="en-US" sz="1400" dirty="0">
                <a:solidFill>
                  <a:schemeClr val="tx2"/>
                </a:solidFill>
              </a:rPr>
              <a:t>예: x</a:t>
            </a:r>
            <a:r>
              <a:rPr lang="en-US" sz="1400" baseline="-40000" dirty="0">
                <a:solidFill>
                  <a:schemeClr val="tx2"/>
                </a:solidFill>
              </a:rPr>
              <a:t>1</a:t>
            </a:r>
            <a:r>
              <a:rPr lang="en-US" sz="1400" dirty="0">
                <a:solidFill>
                  <a:schemeClr val="tx2"/>
                </a:solidFill>
              </a:rPr>
              <a:t>x</a:t>
            </a:r>
            <a:r>
              <a:rPr lang="en-US" sz="1400" baseline="-40000" dirty="0">
                <a:solidFill>
                  <a:schemeClr val="tx2"/>
                </a:solidFill>
              </a:rPr>
              <a:t>2</a:t>
            </a:r>
            <a:r>
              <a:rPr lang="en-US" sz="1400" dirty="0">
                <a:solidFill>
                  <a:schemeClr val="tx2"/>
                </a:solidFill>
              </a:rPr>
              <a:t>, x</a:t>
            </a:r>
            <a:r>
              <a:rPr lang="en-US" sz="1400" baseline="-40000" dirty="0">
                <a:solidFill>
                  <a:schemeClr val="tx2"/>
                </a:solidFill>
              </a:rPr>
              <a:t>1</a:t>
            </a:r>
            <a:r>
              <a:rPr lang="en-US" sz="1400" dirty="0">
                <a:solidFill>
                  <a:schemeClr val="tx2"/>
                </a:solidFill>
              </a:rPr>
              <a:t>∨x</a:t>
            </a:r>
            <a:r>
              <a:rPr lang="en-US" sz="1400" baseline="-40000" dirty="0">
                <a:solidFill>
                  <a:schemeClr val="tx2"/>
                </a:solidFill>
              </a:rPr>
              <a:t>2</a:t>
            </a:r>
            <a:r>
              <a:rPr lang="en-US" sz="1400" dirty="0">
                <a:solidFill>
                  <a:schemeClr val="tx2"/>
                </a:solidFill>
              </a:rPr>
              <a:t>, 다수결 MAJ</a:t>
            </a:r>
            <a:r>
              <a:rPr lang="en-US" sz="1400" baseline="-40000" dirty="0">
                <a:solidFill>
                  <a:schemeClr val="tx2"/>
                </a:solidFill>
              </a:rPr>
              <a:t>3</a:t>
            </a:r>
            <a:endParaRPr lang="en-US" sz="1800" dirty="0"/>
          </a:p>
        </p:txBody>
      </p:sp>
      <p:sp>
        <p:nvSpPr>
          <p:cNvPr id="16" name="clone-card"/>
          <p:cNvSpPr/>
          <p:nvPr/>
        </p:nvSpPr>
        <p:spPr>
          <a:xfrm>
            <a:off x="8083296" y="2011680"/>
            <a:ext cx="3602736" cy="3246120"/>
          </a:xfrm>
          <a:prstGeom prst="roundRect">
            <a:avLst>
              <a:gd name="adj" fmla="val 2254"/>
            </a:avLst>
          </a:prstGeom>
          <a:solidFill>
            <a:schemeClr val="bg2"/>
          </a:solidFill>
          <a:ln w="3175">
            <a:solidFill>
              <a:schemeClr val="bg2"/>
            </a:solidFill>
            <a:prstDash val="solid"/>
          </a:ln>
        </p:spPr>
      </p:sp>
      <p:sp>
        <p:nvSpPr>
          <p:cNvPr id="17" name="clone-pill"/>
          <p:cNvSpPr/>
          <p:nvPr/>
        </p:nvSpPr>
        <p:spPr>
          <a:xfrm>
            <a:off x="8266176" y="2194560"/>
            <a:ext cx="1737360" cy="457200"/>
          </a:xfrm>
          <a:prstGeom prst="roundRect">
            <a:avLst>
              <a:gd name="adj" fmla="val 50000"/>
            </a:avLst>
          </a:prstGeom>
          <a:solidFill>
            <a:schemeClr val="accent5"/>
          </a:solidFill>
          <a:ln w="3175">
            <a:solidFill>
              <a:schemeClr val="accent5"/>
            </a:solidFill>
            <a:prstDash val="solid"/>
          </a:ln>
        </p:spPr>
      </p:sp>
      <p:sp>
        <p:nvSpPr>
          <p:cNvPr id="18" name="Text 15"/>
          <p:cNvSpPr txBox="1"/>
          <p:nvPr/>
        </p:nvSpPr>
        <p:spPr>
          <a:xfrm>
            <a:off x="8266176" y="219456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자기쌍대 D</a:t>
            </a:r>
            <a:endParaRPr lang="en-US" sz="1600" dirty="0"/>
          </a:p>
        </p:txBody>
      </p:sp>
      <p:sp>
        <p:nvSpPr>
          <p:cNvPr id="19" name="Text 16"/>
          <p:cNvSpPr txBox="1"/>
          <p:nvPr/>
        </p:nvSpPr>
        <p:spPr>
          <a:xfrm>
            <a:off x="8266176" y="2834640"/>
            <a:ext cx="3246120" cy="2286000"/>
          </a:xfrm>
          <a:prstGeom prst="rect">
            <a:avLst/>
          </a:prstGeom>
          <a:noFill/>
          <a:ln/>
        </p:spPr>
        <p:txBody>
          <a:bodyPr wrap="square" lIns="0" tIns="0" rIns="0" bIns="0" rtlCol="0" anchor="t"/>
          <a:lstStyle/>
          <a:p>
            <a:pPr indent="0" marL="0">
              <a:spcAft>
                <a:spcPts val="1000"/>
              </a:spcAft>
              <a:buNone/>
            </a:pPr>
            <a:r>
              <a:rPr lang="en-US" sz="1800" b="1" dirty="0">
                <a:solidFill>
                  <a:schemeClr val="tx1"/>
                </a:solidFill>
              </a:rPr>
              <a:t>f(¬x) = ¬f(x)</a:t>
            </a:r>
            <a:endParaRPr lang="en-US" sz="1800" dirty="0"/>
          </a:p>
          <a:p>
            <a:pPr indent="0" marL="0">
              <a:spcAft>
                <a:spcPts val="1000"/>
              </a:spcAft>
              <a:buNone/>
            </a:pPr>
            <a:r>
              <a:rPr lang="en-US" sz="1800" dirty="0">
                <a:solidFill>
                  <a:schemeClr val="tx1"/>
                </a:solidFill>
              </a:rPr>
              <a:t>|D| = 2</a:t>
            </a:r>
            <a:r>
              <a:rPr lang="en-US" sz="1800" baseline="30000" dirty="0">
                <a:solidFill>
                  <a:schemeClr val="tx1"/>
                </a:solidFill>
              </a:rPr>
              <a:t>8</a:t>
            </a:r>
            <a:r>
              <a:rPr lang="en-US" sz="1800" dirty="0">
                <a:solidFill>
                  <a:schemeClr val="tx1"/>
                </a:solidFill>
              </a:rPr>
              <a:t> = 256</a:t>
            </a:r>
            <a:endParaRPr lang="en-US" sz="1800" dirty="0"/>
          </a:p>
          <a:p>
            <a:pPr indent="0" marL="0">
              <a:spcAft>
                <a:spcPts val="1000"/>
              </a:spcAft>
              <a:buNone/>
            </a:pPr>
            <a:r>
              <a:rPr lang="en-US" sz="1500" dirty="0">
                <a:solidFill>
                  <a:schemeClr val="tx2"/>
                </a:solidFill>
              </a:rPr>
              <a:t>생성: NOT, 다수결 MAJ</a:t>
            </a:r>
            <a:r>
              <a:rPr lang="en-US" sz="1500" baseline="-40000" dirty="0">
                <a:solidFill>
                  <a:schemeClr val="tx2"/>
                </a:solidFill>
              </a:rPr>
              <a:t>3</a:t>
            </a:r>
            <a:endParaRPr lang="en-US" sz="1800" dirty="0"/>
          </a:p>
          <a:p>
            <a:pPr indent="0" marL="0">
              <a:buNone/>
            </a:pPr>
            <a:r>
              <a:rPr lang="en-US" sz="1400" dirty="0">
                <a:solidFill>
                  <a:schemeClr val="tx2"/>
                </a:solidFill>
              </a:rPr>
              <a:t>예: x</a:t>
            </a:r>
            <a:r>
              <a:rPr lang="en-US" sz="1400" baseline="-40000" dirty="0">
                <a:solidFill>
                  <a:schemeClr val="tx2"/>
                </a:solidFill>
              </a:rPr>
              <a:t>1</a:t>
            </a:r>
            <a:r>
              <a:rPr lang="en-US" sz="1400" dirty="0">
                <a:solidFill>
                  <a:schemeClr val="tx2"/>
                </a:solidFill>
              </a:rPr>
              <a:t>, ¬x</a:t>
            </a:r>
            <a:r>
              <a:rPr lang="en-US" sz="1400" baseline="-40000" dirty="0">
                <a:solidFill>
                  <a:schemeClr val="tx2"/>
                </a:solidFill>
              </a:rPr>
              <a:t>1</a:t>
            </a:r>
            <a:r>
              <a:rPr lang="en-US" sz="1400" dirty="0">
                <a:solidFill>
                  <a:schemeClr val="tx2"/>
                </a:solidFill>
              </a:rPr>
              <a:t>, MAJ</a:t>
            </a:r>
            <a:r>
              <a:rPr lang="en-US" sz="1400" baseline="-40000" dirty="0">
                <a:solidFill>
                  <a:schemeClr val="tx2"/>
                </a:solidFill>
              </a:rPr>
              <a:t>3</a:t>
            </a:r>
            <a:r>
              <a:rPr lang="en-US" sz="1400" dirty="0">
                <a:solidFill>
                  <a:schemeClr val="tx2"/>
                </a:solidFill>
              </a:rPr>
              <a:t>, x</a:t>
            </a:r>
            <a:r>
              <a:rPr lang="en-US" sz="1400" baseline="-40000" dirty="0">
                <a:solidFill>
                  <a:schemeClr val="tx2"/>
                </a:solidFill>
              </a:rPr>
              <a:t>1</a:t>
            </a:r>
            <a:r>
              <a:rPr lang="en-US" sz="1400" dirty="0">
                <a:solidFill>
                  <a:schemeClr val="tx2"/>
                </a:solidFill>
              </a:rPr>
              <a:t>⊕x</a:t>
            </a:r>
            <a:r>
              <a:rPr lang="en-US" sz="1400" baseline="-40000" dirty="0">
                <a:solidFill>
                  <a:schemeClr val="tx2"/>
                </a:solidFill>
              </a:rPr>
              <a:t>2</a:t>
            </a:r>
            <a:r>
              <a:rPr lang="en-US" sz="1400" dirty="0">
                <a:solidFill>
                  <a:schemeClr val="tx2"/>
                </a:solidFill>
              </a:rPr>
              <a:t>⊕x</a:t>
            </a:r>
            <a:r>
              <a:rPr lang="en-US" sz="1400" baseline="-40000" dirty="0">
                <a:solidFill>
                  <a:schemeClr val="tx2"/>
                </a:solidFill>
              </a:rPr>
              <a:t>3</a:t>
            </a:r>
            <a:endParaRPr lang="en-US" sz="1800" dirty="0"/>
          </a:p>
        </p:txBody>
      </p:sp>
      <p:sp>
        <p:nvSpPr>
          <p:cNvPr id="20" name="note-band"/>
          <p:cNvSpPr/>
          <p:nvPr/>
        </p:nvSpPr>
        <p:spPr>
          <a:xfrm>
            <a:off x="548640" y="5486400"/>
            <a:ext cx="11091672" cy="685800"/>
          </a:xfrm>
          <a:prstGeom prst="roundRect">
            <a:avLst>
              <a:gd name="adj" fmla="val 10667"/>
            </a:avLst>
          </a:prstGeom>
          <a:solidFill>
            <a:schemeClr val="tx1"/>
          </a:solidFill>
          <a:ln w="3175">
            <a:solidFill>
              <a:schemeClr val="tx1"/>
            </a:solidFill>
            <a:prstDash val="solid"/>
          </a:ln>
        </p:spPr>
      </p:sp>
      <p:sp>
        <p:nvSpPr>
          <p:cNvPr id="21" name="Text 18"/>
          <p:cNvSpPr txBox="1"/>
          <p:nvPr/>
        </p:nvSpPr>
        <p:spPr>
          <a:xfrm>
            <a:off x="822960" y="5486400"/>
            <a:ext cx="10515600" cy="685800"/>
          </a:xfrm>
          <a:prstGeom prst="rect">
            <a:avLst/>
          </a:prstGeom>
          <a:noFill/>
          <a:ln/>
        </p:spPr>
        <p:txBody>
          <a:bodyPr wrap="square" lIns="0" tIns="0" rIns="0" bIns="0" rtlCol="0" anchor="ctr"/>
          <a:lstStyle/>
          <a:p>
            <a:pPr indent="0" marL="0">
              <a:buNone/>
            </a:pPr>
            <a:r>
              <a:rPr lang="en-US" sz="1600" b="1" dirty="0">
                <a:solidFill>
                  <a:schemeClr val="bg1"/>
                </a:solidFill>
              </a:rPr>
              <a:t>NAND · NOR는 세 클론 어디에도 속하지 않는 만능 게이트 → 65,536개 전부를 만든다 (Post, 1941)</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19</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세 클론의 Burnside 표</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공간마다 켤레류별 Fix 값만 다르고, 계산 방식은 같다</a:t>
            </a:r>
            <a:endParaRPr lang="en-US" sz="1800" dirty="0"/>
          </a:p>
        </p:txBody>
      </p:sp>
      <p:graphicFrame>
        <p:nvGraphicFramePr>
          <p:cNvPr id="13" name="burnside-table"/>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914400"/>
        </p:xfrm>
        <a:graphic>
          <a:graphicData uri="http://schemas.openxmlformats.org/drawingml/2006/table">
            <a:tbl>
              <a:tblPr/>
              <a:tblGrid>
                <a:gridCol w="1737360"/>
                <a:gridCol w="1234440"/>
                <a:gridCol w="1234440"/>
                <a:gridCol w="1234440"/>
                <a:gridCol w="1234440"/>
                <a:gridCol w="1234440"/>
                <a:gridCol w="1993392"/>
                <a:gridCol w="1188720"/>
              </a:tblGrid>
              <a:tr h="640080">
                <a:tc>
                  <a:txBody>
                    <a:bodyPr/>
                    <a:lstStyle/>
                    <a:p>
                      <a:pPr algn="ctr" indent="0" marL="0">
                        <a:buNone/>
                      </a:pPr>
                      <a:r>
                        <a:rPr lang="en-US" sz="1600" b="1" dirty="0">
                          <a:solidFill>
                            <a:schemeClr val="bg1"/>
                          </a:solidFill>
                        </a:rPr>
                        <a:t>공간</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a:t>
                      </a:r>
                      <a:r>
                        <a:rPr lang="en-US" sz="1600" b="1" baseline="-40000" dirty="0">
                          <a:solidFill>
                            <a:schemeClr val="bg1"/>
                          </a:solidFill>
                        </a:rPr>
                        <a:t>1</a:t>
                      </a:r>
                      <a:r>
                        <a:rPr lang="en-US" sz="1600" b="1" dirty="0">
                          <a:solidFill>
                            <a:schemeClr val="bg1"/>
                          </a:solidFill>
                        </a:rPr>
                        <a:t> (1개)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a:t>
                      </a:r>
                      <a:r>
                        <a:rPr lang="en-US" sz="1600" b="1" baseline="-40000" dirty="0">
                          <a:solidFill>
                            <a:schemeClr val="bg1"/>
                          </a:solidFill>
                        </a:rPr>
                        <a:t>2</a:t>
                      </a:r>
                      <a:r>
                        <a:rPr lang="en-US" sz="1600" b="1" dirty="0">
                          <a:solidFill>
                            <a:schemeClr val="bg1"/>
                          </a:solidFill>
                        </a:rPr>
                        <a:t> (6개)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a:t>
                      </a:r>
                      <a:r>
                        <a:rPr lang="en-US" sz="1600" b="1" baseline="-40000" dirty="0">
                          <a:solidFill>
                            <a:schemeClr val="bg1"/>
                          </a:solidFill>
                        </a:rPr>
                        <a:t>3</a:t>
                      </a:r>
                      <a:r>
                        <a:rPr lang="en-US" sz="1600" b="1" dirty="0">
                          <a:solidFill>
                            <a:schemeClr val="bg1"/>
                          </a:solidFill>
                        </a:rPr>
                        <a:t> (3개)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a:t>
                      </a:r>
                      <a:r>
                        <a:rPr lang="en-US" sz="1600" b="1" baseline="-40000" dirty="0">
                          <a:solidFill>
                            <a:schemeClr val="bg1"/>
                          </a:solidFill>
                        </a:rPr>
                        <a:t>4</a:t>
                      </a:r>
                      <a:r>
                        <a:rPr lang="en-US" sz="1600" b="1" dirty="0">
                          <a:solidFill>
                            <a:schemeClr val="bg1"/>
                          </a:solidFill>
                        </a:rPr>
                        <a:t> (8개)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a:t>
                      </a:r>
                      <a:r>
                        <a:rPr lang="en-US" sz="1600" b="1" baseline="-40000" dirty="0">
                          <a:solidFill>
                            <a:schemeClr val="bg1"/>
                          </a:solidFill>
                        </a:rPr>
                        <a:t>5</a:t>
                      </a:r>
                      <a:r>
                        <a:rPr lang="en-US" sz="1600" b="1" dirty="0">
                          <a:solidFill>
                            <a:schemeClr val="bg1"/>
                          </a:solidFill>
                        </a:rPr>
                        <a:t> (6개)</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합 Σ |C</a:t>
                      </a:r>
                      <a:r>
                        <a:rPr lang="en-US" sz="1600" b="1" baseline="-40000" dirty="0">
                          <a:solidFill>
                            <a:schemeClr val="bg1"/>
                          </a:solidFill>
                        </a:rPr>
                        <a:t>k</a:t>
                      </a:r>
                      <a:r>
                        <a:rPr lang="en-US" sz="1600" b="1" dirty="0">
                          <a:solidFill>
                            <a:schemeClr val="bg1"/>
                          </a:solidFill>
                        </a:rPr>
                        <a:t>|·Fix</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궤도 수</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640080">
                <a:tc>
                  <a:txBody>
                    <a:bodyPr/>
                    <a:lstStyle/>
                    <a:p>
                      <a:pPr algn="ctr" indent="0" marL="0">
                        <a:buNone/>
                      </a:pPr>
                      <a:r>
                        <a:rPr lang="en-US" sz="1600" dirty="0">
                          <a:solidFill>
                            <a:schemeClr val="tx1"/>
                          </a:solidFill>
                        </a:rPr>
                        <a:t>전체 F</a:t>
                      </a:r>
                      <a:r>
                        <a:rPr lang="en-US" sz="1600" baseline="-40000" dirty="0">
                          <a:solidFill>
                            <a:schemeClr val="tx1"/>
                          </a:solidFill>
                        </a:rPr>
                        <a:t>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65,536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4,096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1,024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256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64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95,616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3,984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640080">
                <a:tc>
                  <a:txBody>
                    <a:bodyPr/>
                    <a:lstStyle/>
                    <a:p>
                      <a:pPr algn="ctr" indent="0" marL="0">
                        <a:buNone/>
                      </a:pPr>
                      <a:r>
                        <a:rPr lang="en-US" sz="1600" dirty="0">
                          <a:solidFill>
                            <a:schemeClr val="tx1"/>
                          </a:solidFill>
                        </a:rPr>
                        <a:t>아핀 L</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32</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240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10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640080">
                <a:tc>
                  <a:txBody>
                    <a:bodyPr/>
                    <a:lstStyle/>
                    <a:p>
                      <a:pPr algn="ctr" indent="0" marL="0">
                        <a:buNone/>
                      </a:pPr>
                      <a:r>
                        <a:rPr lang="en-US" sz="1600" dirty="0">
                          <a:solidFill>
                            <a:schemeClr val="tx1"/>
                          </a:solidFill>
                        </a:rPr>
                        <a:t>단조 M</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168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50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15</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720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30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640080">
                <a:tc>
                  <a:txBody>
                    <a:bodyPr/>
                    <a:lstStyle/>
                    <a:p>
                      <a:pPr algn="ctr" indent="0" marL="0">
                        <a:buNone/>
                      </a:pPr>
                      <a:r>
                        <a:rPr lang="en-US" sz="1600" dirty="0">
                          <a:solidFill>
                            <a:schemeClr val="tx1"/>
                          </a:solidFill>
                        </a:rPr>
                        <a:t>자기쌍대 D</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256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64</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16</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0</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768</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32</a:t>
                      </a:r>
                      <a:endParaRPr lang="en-US" sz="16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548640" y="5486400"/>
            <a:ext cx="11091672" cy="365760"/>
          </a:xfrm>
          <a:prstGeom prst="rect">
            <a:avLst/>
          </a:prstGeom>
          <a:noFill/>
          <a:ln/>
        </p:spPr>
        <p:txBody>
          <a:bodyPr wrap="square" lIns="0" tIns="0" rIns="0" bIns="0" rtlCol="0" anchor="ctr"/>
          <a:lstStyle/>
          <a:p>
            <a:pPr indent="0" marL="0">
              <a:buNone/>
            </a:pPr>
            <a:r>
              <a:rPr lang="en-US" sz="1400" dirty="0">
                <a:solidFill>
                  <a:schemeClr val="tx2"/>
                </a:solidFill>
              </a:rPr>
              <a:t>궤도 수 = (합) / 24    ·    표의 값은 모두 verify_orbits.py, verify_tables.py로 열거와 대조</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21</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아핀 공간 L의 Fix</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σ로 불변 ⇔ 같은 순환 안의 변수는 계수가 같다</a:t>
            </a:r>
            <a:endParaRPr lang="en-US" sz="1800" dirty="0"/>
          </a:p>
        </p:txBody>
      </p:sp>
      <p:sp>
        <p:nvSpPr>
          <p:cNvPr id="8" name="fix-card"/>
          <p:cNvSpPr/>
          <p:nvPr/>
        </p:nvSpPr>
        <p:spPr>
          <a:xfrm>
            <a:off x="548640" y="2057400"/>
            <a:ext cx="2103120" cy="2331720"/>
          </a:xfrm>
          <a:prstGeom prst="roundRect">
            <a:avLst>
              <a:gd name="adj" fmla="val 3478"/>
            </a:avLst>
          </a:prstGeom>
          <a:solidFill>
            <a:schemeClr val="bg2"/>
          </a:solidFill>
          <a:ln w="3175">
            <a:solidFill>
              <a:schemeClr val="bg2"/>
            </a:solidFill>
            <a:prstDash val="solid"/>
          </a:ln>
        </p:spPr>
      </p:sp>
      <p:sp>
        <p:nvSpPr>
          <p:cNvPr id="9" name="Text 6"/>
          <p:cNvSpPr txBox="1"/>
          <p:nvPr/>
        </p:nvSpPr>
        <p:spPr>
          <a:xfrm>
            <a:off x="548640" y="2057400"/>
            <a:ext cx="2103120" cy="2331720"/>
          </a:xfrm>
          <a:prstGeom prst="rect">
            <a:avLst/>
          </a:prstGeom>
          <a:noFill/>
          <a:ln/>
        </p:spPr>
        <p:txBody>
          <a:bodyPr wrap="square" lIns="0" tIns="0" rIns="0" bIns="0" rtlCol="0" anchor="ctr"/>
          <a:lstStyle/>
          <a:p>
            <a:pPr algn="ctr" indent="0" marL="0">
              <a:spcAft>
                <a:spcPts val="200"/>
              </a:spcAft>
              <a:buNone/>
            </a:pPr>
            <a:r>
              <a:rPr lang="en-US" sz="1600" b="1" dirty="0">
                <a:solidFill>
                  <a:schemeClr val="accent2"/>
                </a:solidFill>
              </a:rPr>
              <a:t>C₁ id</a:t>
            </a:r>
            <a:endParaRPr lang="en-US" sz="1600" dirty="0"/>
          </a:p>
          <a:p>
            <a:pPr algn="ctr" indent="0" marL="0">
              <a:spcAft>
                <a:spcPts val="1000"/>
              </a:spcAft>
              <a:buNone/>
            </a:pPr>
            <a:r>
              <a:rPr lang="en-US" sz="1500" dirty="0">
                <a:solidFill>
                  <a:schemeClr val="tx2"/>
                </a:solidFill>
              </a:rPr>
              <a:t>(1)(2)(3)(4)</a:t>
            </a:r>
            <a:endParaRPr lang="en-US" sz="1600" dirty="0"/>
          </a:p>
          <a:p>
            <a:pPr algn="ctr" indent="0" marL="0">
              <a:spcAft>
                <a:spcPts val="400"/>
              </a:spcAft>
              <a:buNone/>
            </a:pPr>
            <a:r>
              <a:rPr lang="en-US" sz="1800" dirty="0">
                <a:solidFill>
                  <a:schemeClr val="tx1"/>
                </a:solidFill>
              </a:rPr>
              <a:t>m = 4</a:t>
            </a:r>
            <a:endParaRPr lang="en-US" sz="1600" dirty="0"/>
          </a:p>
          <a:p>
            <a:pPr algn="ctr" indent="0" marL="0">
              <a:buNone/>
            </a:pPr>
            <a:r>
              <a:rPr lang="en-US" sz="2600" b="1" dirty="0">
                <a:solidFill>
                  <a:schemeClr val="tx1"/>
                </a:solidFill>
              </a:rPr>
              <a:t>2</a:t>
            </a:r>
            <a:r>
              <a:rPr lang="en-US" sz="2600" b="1" baseline="30000" dirty="0">
                <a:solidFill>
                  <a:schemeClr val="tx1"/>
                </a:solidFill>
              </a:rPr>
              <a:t>5</a:t>
            </a:r>
            <a:r>
              <a:rPr lang="en-US" sz="2600" b="1" dirty="0">
                <a:solidFill>
                  <a:schemeClr val="tx1"/>
                </a:solidFill>
              </a:rPr>
              <a:t> = 32</a:t>
            </a:r>
            <a:endParaRPr lang="en-US" sz="1600" dirty="0"/>
          </a:p>
        </p:txBody>
      </p:sp>
      <p:sp>
        <p:nvSpPr>
          <p:cNvPr id="10" name="fix-card"/>
          <p:cNvSpPr/>
          <p:nvPr/>
        </p:nvSpPr>
        <p:spPr>
          <a:xfrm>
            <a:off x="2788920" y="2057400"/>
            <a:ext cx="2103120" cy="2331720"/>
          </a:xfrm>
          <a:prstGeom prst="roundRect">
            <a:avLst>
              <a:gd name="adj" fmla="val 3478"/>
            </a:avLst>
          </a:prstGeom>
          <a:solidFill>
            <a:schemeClr val="bg2"/>
          </a:solidFill>
          <a:ln w="3175">
            <a:solidFill>
              <a:schemeClr val="bg2"/>
            </a:solidFill>
            <a:prstDash val="solid"/>
          </a:ln>
        </p:spPr>
      </p:sp>
      <p:sp>
        <p:nvSpPr>
          <p:cNvPr id="11" name="Text 8"/>
          <p:cNvSpPr txBox="1"/>
          <p:nvPr/>
        </p:nvSpPr>
        <p:spPr>
          <a:xfrm>
            <a:off x="2788920" y="2057400"/>
            <a:ext cx="2103120" cy="2331720"/>
          </a:xfrm>
          <a:prstGeom prst="rect">
            <a:avLst/>
          </a:prstGeom>
          <a:noFill/>
          <a:ln/>
        </p:spPr>
        <p:txBody>
          <a:bodyPr wrap="square" lIns="0" tIns="0" rIns="0" bIns="0" rtlCol="0" anchor="ctr"/>
          <a:lstStyle/>
          <a:p>
            <a:pPr algn="ctr" indent="0" marL="0">
              <a:spcAft>
                <a:spcPts val="200"/>
              </a:spcAft>
              <a:buNone/>
            </a:pPr>
            <a:r>
              <a:rPr lang="en-US" sz="1600" b="1" dirty="0">
                <a:solidFill>
                  <a:schemeClr val="accent2"/>
                </a:solidFill>
              </a:rPr>
              <a:t>C₂ (12)</a:t>
            </a:r>
            <a:endParaRPr lang="en-US" sz="1600" dirty="0"/>
          </a:p>
          <a:p>
            <a:pPr algn="ctr" indent="0" marL="0">
              <a:spcAft>
                <a:spcPts val="1000"/>
              </a:spcAft>
              <a:buNone/>
            </a:pPr>
            <a:r>
              <a:rPr lang="en-US" sz="1500" dirty="0">
                <a:solidFill>
                  <a:schemeClr val="tx2"/>
                </a:solidFill>
              </a:rPr>
              <a:t>(12)(3)(4)</a:t>
            </a:r>
            <a:endParaRPr lang="en-US" sz="1600" dirty="0"/>
          </a:p>
          <a:p>
            <a:pPr algn="ctr" indent="0" marL="0">
              <a:spcAft>
                <a:spcPts val="400"/>
              </a:spcAft>
              <a:buNone/>
            </a:pPr>
            <a:r>
              <a:rPr lang="en-US" sz="1800" dirty="0">
                <a:solidFill>
                  <a:schemeClr val="tx1"/>
                </a:solidFill>
              </a:rPr>
              <a:t>m = 3</a:t>
            </a:r>
            <a:endParaRPr lang="en-US" sz="1600" dirty="0"/>
          </a:p>
          <a:p>
            <a:pPr algn="ctr" indent="0" marL="0">
              <a:buNone/>
            </a:pPr>
            <a:r>
              <a:rPr lang="en-US" sz="2600" b="1" dirty="0">
                <a:solidFill>
                  <a:schemeClr val="tx1"/>
                </a:solidFill>
              </a:rPr>
              <a:t>2</a:t>
            </a:r>
            <a:r>
              <a:rPr lang="en-US" sz="2600" b="1" baseline="30000" dirty="0">
                <a:solidFill>
                  <a:schemeClr val="tx1"/>
                </a:solidFill>
              </a:rPr>
              <a:t>4</a:t>
            </a:r>
            <a:r>
              <a:rPr lang="en-US" sz="2600" b="1" dirty="0">
                <a:solidFill>
                  <a:schemeClr val="tx1"/>
                </a:solidFill>
              </a:rPr>
              <a:t> = 16</a:t>
            </a:r>
            <a:endParaRPr lang="en-US" sz="1600" dirty="0"/>
          </a:p>
        </p:txBody>
      </p:sp>
      <p:sp>
        <p:nvSpPr>
          <p:cNvPr id="12" name="fix-card"/>
          <p:cNvSpPr/>
          <p:nvPr/>
        </p:nvSpPr>
        <p:spPr>
          <a:xfrm>
            <a:off x="5029200" y="2057400"/>
            <a:ext cx="2103120" cy="2331720"/>
          </a:xfrm>
          <a:prstGeom prst="roundRect">
            <a:avLst>
              <a:gd name="adj" fmla="val 3478"/>
            </a:avLst>
          </a:prstGeom>
          <a:solidFill>
            <a:schemeClr val="bg2"/>
          </a:solidFill>
          <a:ln w="3175">
            <a:solidFill>
              <a:schemeClr val="bg2"/>
            </a:solidFill>
            <a:prstDash val="solid"/>
          </a:ln>
        </p:spPr>
      </p:sp>
      <p:sp>
        <p:nvSpPr>
          <p:cNvPr id="13" name="Text 10"/>
          <p:cNvSpPr txBox="1"/>
          <p:nvPr/>
        </p:nvSpPr>
        <p:spPr>
          <a:xfrm>
            <a:off x="5029200" y="2057400"/>
            <a:ext cx="2103120" cy="2331720"/>
          </a:xfrm>
          <a:prstGeom prst="rect">
            <a:avLst/>
          </a:prstGeom>
          <a:noFill/>
          <a:ln/>
        </p:spPr>
        <p:txBody>
          <a:bodyPr wrap="square" lIns="0" tIns="0" rIns="0" bIns="0" rtlCol="0" anchor="ctr"/>
          <a:lstStyle/>
          <a:p>
            <a:pPr algn="ctr" indent="0" marL="0">
              <a:spcAft>
                <a:spcPts val="200"/>
              </a:spcAft>
              <a:buNone/>
            </a:pPr>
            <a:r>
              <a:rPr lang="en-US" sz="1600" b="1" dirty="0">
                <a:solidFill>
                  <a:schemeClr val="accent2"/>
                </a:solidFill>
              </a:rPr>
              <a:t>C₃ (12)(34)</a:t>
            </a:r>
            <a:endParaRPr lang="en-US" sz="1600" dirty="0"/>
          </a:p>
          <a:p>
            <a:pPr algn="ctr" indent="0" marL="0">
              <a:spcAft>
                <a:spcPts val="1000"/>
              </a:spcAft>
              <a:buNone/>
            </a:pPr>
            <a:r>
              <a:rPr lang="en-US" sz="1500" dirty="0">
                <a:solidFill>
                  <a:schemeClr val="tx2"/>
                </a:solidFill>
              </a:rPr>
              <a:t>(12)(34)</a:t>
            </a:r>
            <a:endParaRPr lang="en-US" sz="1600" dirty="0"/>
          </a:p>
          <a:p>
            <a:pPr algn="ctr" indent="0" marL="0">
              <a:spcAft>
                <a:spcPts val="400"/>
              </a:spcAft>
              <a:buNone/>
            </a:pPr>
            <a:r>
              <a:rPr lang="en-US" sz="1800" dirty="0">
                <a:solidFill>
                  <a:schemeClr val="tx1"/>
                </a:solidFill>
              </a:rPr>
              <a:t>m = 2</a:t>
            </a:r>
            <a:endParaRPr lang="en-US" sz="1600" dirty="0"/>
          </a:p>
          <a:p>
            <a:pPr algn="ctr" indent="0" marL="0">
              <a:buNone/>
            </a:pPr>
            <a:r>
              <a:rPr lang="en-US" sz="2600" b="1" dirty="0">
                <a:solidFill>
                  <a:schemeClr val="tx1"/>
                </a:solidFill>
              </a:rPr>
              <a:t>2</a:t>
            </a:r>
            <a:r>
              <a:rPr lang="en-US" sz="2600" b="1" baseline="30000" dirty="0">
                <a:solidFill>
                  <a:schemeClr val="tx1"/>
                </a:solidFill>
              </a:rPr>
              <a:t>3</a:t>
            </a:r>
            <a:r>
              <a:rPr lang="en-US" sz="2600" b="1" dirty="0">
                <a:solidFill>
                  <a:schemeClr val="tx1"/>
                </a:solidFill>
              </a:rPr>
              <a:t> = 8</a:t>
            </a:r>
            <a:endParaRPr lang="en-US" sz="1600" dirty="0"/>
          </a:p>
        </p:txBody>
      </p:sp>
      <p:sp>
        <p:nvSpPr>
          <p:cNvPr id="14" name="fix-card"/>
          <p:cNvSpPr/>
          <p:nvPr/>
        </p:nvSpPr>
        <p:spPr>
          <a:xfrm>
            <a:off x="7269480" y="2057400"/>
            <a:ext cx="2103120" cy="2331720"/>
          </a:xfrm>
          <a:prstGeom prst="roundRect">
            <a:avLst>
              <a:gd name="adj" fmla="val 3478"/>
            </a:avLst>
          </a:prstGeom>
          <a:solidFill>
            <a:schemeClr val="bg2"/>
          </a:solidFill>
          <a:ln w="3175">
            <a:solidFill>
              <a:schemeClr val="bg2"/>
            </a:solidFill>
            <a:prstDash val="solid"/>
          </a:ln>
        </p:spPr>
      </p:sp>
      <p:sp>
        <p:nvSpPr>
          <p:cNvPr id="15" name="Text 12"/>
          <p:cNvSpPr txBox="1"/>
          <p:nvPr/>
        </p:nvSpPr>
        <p:spPr>
          <a:xfrm>
            <a:off x="7269480" y="2057400"/>
            <a:ext cx="2103120" cy="2331720"/>
          </a:xfrm>
          <a:prstGeom prst="rect">
            <a:avLst/>
          </a:prstGeom>
          <a:noFill/>
          <a:ln/>
        </p:spPr>
        <p:txBody>
          <a:bodyPr wrap="square" lIns="0" tIns="0" rIns="0" bIns="0" rtlCol="0" anchor="ctr"/>
          <a:lstStyle/>
          <a:p>
            <a:pPr algn="ctr" indent="0" marL="0">
              <a:spcAft>
                <a:spcPts val="200"/>
              </a:spcAft>
              <a:buNone/>
            </a:pPr>
            <a:r>
              <a:rPr lang="en-US" sz="1600" b="1" dirty="0">
                <a:solidFill>
                  <a:schemeClr val="accent2"/>
                </a:solidFill>
              </a:rPr>
              <a:t>C₄ (123)</a:t>
            </a:r>
            <a:endParaRPr lang="en-US" sz="1600" dirty="0"/>
          </a:p>
          <a:p>
            <a:pPr algn="ctr" indent="0" marL="0">
              <a:spcAft>
                <a:spcPts val="1000"/>
              </a:spcAft>
              <a:buNone/>
            </a:pPr>
            <a:r>
              <a:rPr lang="en-US" sz="1500" dirty="0">
                <a:solidFill>
                  <a:schemeClr val="tx2"/>
                </a:solidFill>
              </a:rPr>
              <a:t>(123)(4)</a:t>
            </a:r>
            <a:endParaRPr lang="en-US" sz="1600" dirty="0"/>
          </a:p>
          <a:p>
            <a:pPr algn="ctr" indent="0" marL="0">
              <a:spcAft>
                <a:spcPts val="400"/>
              </a:spcAft>
              <a:buNone/>
            </a:pPr>
            <a:r>
              <a:rPr lang="en-US" sz="1800" dirty="0">
                <a:solidFill>
                  <a:schemeClr val="tx1"/>
                </a:solidFill>
              </a:rPr>
              <a:t>m = 2</a:t>
            </a:r>
            <a:endParaRPr lang="en-US" sz="1600" dirty="0"/>
          </a:p>
          <a:p>
            <a:pPr algn="ctr" indent="0" marL="0">
              <a:buNone/>
            </a:pPr>
            <a:r>
              <a:rPr lang="en-US" sz="2600" b="1" dirty="0">
                <a:solidFill>
                  <a:schemeClr val="tx1"/>
                </a:solidFill>
              </a:rPr>
              <a:t>2</a:t>
            </a:r>
            <a:r>
              <a:rPr lang="en-US" sz="2600" b="1" baseline="30000" dirty="0">
                <a:solidFill>
                  <a:schemeClr val="tx1"/>
                </a:solidFill>
              </a:rPr>
              <a:t>3</a:t>
            </a:r>
            <a:r>
              <a:rPr lang="en-US" sz="2600" b="1" dirty="0">
                <a:solidFill>
                  <a:schemeClr val="tx1"/>
                </a:solidFill>
              </a:rPr>
              <a:t> = 8</a:t>
            </a:r>
            <a:endParaRPr lang="en-US" sz="1600" dirty="0"/>
          </a:p>
        </p:txBody>
      </p:sp>
      <p:sp>
        <p:nvSpPr>
          <p:cNvPr id="16" name="fix-card"/>
          <p:cNvSpPr/>
          <p:nvPr/>
        </p:nvSpPr>
        <p:spPr>
          <a:xfrm>
            <a:off x="9509760" y="2057400"/>
            <a:ext cx="2103120" cy="2331720"/>
          </a:xfrm>
          <a:prstGeom prst="roundRect">
            <a:avLst>
              <a:gd name="adj" fmla="val 3478"/>
            </a:avLst>
          </a:prstGeom>
          <a:solidFill>
            <a:schemeClr val="bg2"/>
          </a:solidFill>
          <a:ln w="3175">
            <a:solidFill>
              <a:schemeClr val="bg2"/>
            </a:solidFill>
            <a:prstDash val="solid"/>
          </a:ln>
        </p:spPr>
      </p:sp>
      <p:sp>
        <p:nvSpPr>
          <p:cNvPr id="17" name="Text 14"/>
          <p:cNvSpPr txBox="1"/>
          <p:nvPr/>
        </p:nvSpPr>
        <p:spPr>
          <a:xfrm>
            <a:off x="9509760" y="2057400"/>
            <a:ext cx="2103120" cy="2331720"/>
          </a:xfrm>
          <a:prstGeom prst="rect">
            <a:avLst/>
          </a:prstGeom>
          <a:noFill/>
          <a:ln/>
        </p:spPr>
        <p:txBody>
          <a:bodyPr wrap="square" lIns="0" tIns="0" rIns="0" bIns="0" rtlCol="0" anchor="ctr"/>
          <a:lstStyle/>
          <a:p>
            <a:pPr algn="ctr" indent="0" marL="0">
              <a:spcAft>
                <a:spcPts val="200"/>
              </a:spcAft>
              <a:buNone/>
            </a:pPr>
            <a:r>
              <a:rPr lang="en-US" sz="1600" b="1" dirty="0">
                <a:solidFill>
                  <a:schemeClr val="accent2"/>
                </a:solidFill>
              </a:rPr>
              <a:t>C₅ (1234)</a:t>
            </a:r>
            <a:endParaRPr lang="en-US" sz="1600" dirty="0"/>
          </a:p>
          <a:p>
            <a:pPr algn="ctr" indent="0" marL="0">
              <a:spcAft>
                <a:spcPts val="1000"/>
              </a:spcAft>
              <a:buNone/>
            </a:pPr>
            <a:r>
              <a:rPr lang="en-US" sz="1500" dirty="0">
                <a:solidFill>
                  <a:schemeClr val="tx2"/>
                </a:solidFill>
              </a:rPr>
              <a:t>(1234)</a:t>
            </a:r>
            <a:endParaRPr lang="en-US" sz="1600" dirty="0"/>
          </a:p>
          <a:p>
            <a:pPr algn="ctr" indent="0" marL="0">
              <a:spcAft>
                <a:spcPts val="400"/>
              </a:spcAft>
              <a:buNone/>
            </a:pPr>
            <a:r>
              <a:rPr lang="en-US" sz="1800" dirty="0">
                <a:solidFill>
                  <a:schemeClr val="tx1"/>
                </a:solidFill>
              </a:rPr>
              <a:t>m = 1</a:t>
            </a:r>
            <a:endParaRPr lang="en-US" sz="1600" dirty="0"/>
          </a:p>
          <a:p>
            <a:pPr algn="ctr" indent="0" marL="0">
              <a:buNone/>
            </a:pPr>
            <a:r>
              <a:rPr lang="en-US" sz="2600" b="1" dirty="0">
                <a:solidFill>
                  <a:schemeClr val="tx1"/>
                </a:solidFill>
              </a:rPr>
              <a:t>2</a:t>
            </a:r>
            <a:r>
              <a:rPr lang="en-US" sz="2600" b="1" baseline="30000" dirty="0">
                <a:solidFill>
                  <a:schemeClr val="tx1"/>
                </a:solidFill>
              </a:rPr>
              <a:t>2</a:t>
            </a:r>
            <a:r>
              <a:rPr lang="en-US" sz="2600" b="1" dirty="0">
                <a:solidFill>
                  <a:schemeClr val="tx1"/>
                </a:solidFill>
              </a:rPr>
              <a:t> = 4</a:t>
            </a:r>
            <a:endParaRPr lang="en-US" sz="1600" dirty="0"/>
          </a:p>
        </p:txBody>
      </p:sp>
      <p:sp>
        <p:nvSpPr>
          <p:cNvPr id="18" name="result-card"/>
          <p:cNvSpPr/>
          <p:nvPr/>
        </p:nvSpPr>
        <p:spPr>
          <a:xfrm>
            <a:off x="548640" y="4663440"/>
            <a:ext cx="11091672" cy="1463040"/>
          </a:xfrm>
          <a:prstGeom prst="roundRect">
            <a:avLst>
              <a:gd name="adj" fmla="val 5000"/>
            </a:avLst>
          </a:prstGeom>
          <a:solidFill>
            <a:schemeClr val="bg1"/>
          </a:solidFill>
          <a:ln w="19050">
            <a:solidFill>
              <a:schemeClr val="accent2"/>
            </a:solidFill>
            <a:prstDash val="solid"/>
          </a:ln>
        </p:spPr>
      </p:sp>
      <p:sp>
        <p:nvSpPr>
          <p:cNvPr id="19" name="Text 16"/>
          <p:cNvSpPr txBox="1"/>
          <p:nvPr/>
        </p:nvSpPr>
        <p:spPr>
          <a:xfrm>
            <a:off x="822960" y="4663440"/>
            <a:ext cx="10515600" cy="1463040"/>
          </a:xfrm>
          <a:prstGeom prst="rect">
            <a:avLst/>
          </a:prstGeom>
          <a:noFill/>
          <a:ln/>
        </p:spPr>
        <p:txBody>
          <a:bodyPr wrap="square" lIns="0" tIns="0" rIns="0" bIns="0" rtlCol="0" anchor="ctr"/>
          <a:lstStyle/>
          <a:p>
            <a:pPr indent="0" marL="0">
              <a:spcAft>
                <a:spcPts val="800"/>
              </a:spcAft>
              <a:buNone/>
            </a:pPr>
            <a:r>
              <a:rPr lang="en-US" sz="2800" b="1" dirty="0">
                <a:solidFill>
                  <a:schemeClr val="tx1"/>
                </a:solidFill>
              </a:rPr>
              <a:t>|Fix(σ, L)| = 2</a:t>
            </a:r>
            <a:r>
              <a:rPr lang="en-US" sz="2800" b="1" baseline="30000" dirty="0">
                <a:solidFill>
                  <a:schemeClr val="tx1"/>
                </a:solidFill>
              </a:rPr>
              <a:t>m+1</a:t>
            </a:r>
            <a:r>
              <a:rPr lang="en-US" sz="1600" dirty="0">
                <a:solidFill>
                  <a:schemeClr val="tx2"/>
                </a:solidFill>
              </a:rPr>
              <a:t>   (m = 변수 순환의 개수)</a:t>
            </a:r>
            <a:endParaRPr lang="en-US" sz="2800" dirty="0"/>
          </a:p>
          <a:p>
            <a:pPr indent="0" marL="0">
              <a:buNone/>
            </a:pPr>
            <a:r>
              <a:rPr lang="en-US" sz="2200" dirty="0">
                <a:solidFill>
                  <a:schemeClr val="tx1"/>
                </a:solidFill>
              </a:rPr>
              <a:t>32 + 6·16 + 3·8 + 8·8 + 6·4 = 240   →   240 / 24 = 10 궤도</a:t>
            </a:r>
            <a:endParaRPr lang="en-US" sz="2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22</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아핀 공간의 10개 궤도</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계수 벡터의 해밍 무게 w (0~4)와 상수 c</a:t>
            </a:r>
            <a:r>
              <a:rPr lang="en-US" sz="1800" baseline="-40000" dirty="0">
                <a:solidFill>
                  <a:schemeClr val="tx2"/>
                </a:solidFill>
              </a:rPr>
              <a:t>0</a:t>
            </a:r>
            <a:r>
              <a:rPr lang="en-US" sz="1800" dirty="0">
                <a:solidFill>
                  <a:schemeClr val="tx2"/>
                </a:solidFill>
              </a:rPr>
              <a:t> (0, 1)로 분류된다: 5 × 2 = 10</a:t>
            </a:r>
            <a:endParaRPr lang="en-US" sz="1800" dirty="0"/>
          </a:p>
        </p:txBody>
      </p:sp>
      <p:graphicFrame>
        <p:nvGraphicFramePr>
          <p:cNvPr id="15" name="affine-orbits"/>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1188720"/>
                <a:gridCol w="4754880"/>
                <a:gridCol w="1005840"/>
                <a:gridCol w="2834640"/>
                <a:gridCol w="1307592"/>
              </a:tblGrid>
              <a:tr h="365760">
                <a:tc>
                  <a:txBody>
                    <a:bodyPr/>
                    <a:lstStyle/>
                    <a:p>
                      <a:pPr algn="ctr" indent="0" marL="0">
                        <a:buNone/>
                      </a:pPr>
                      <a:r>
                        <a:rPr lang="en-US" sz="1400" b="1" dirty="0">
                          <a:solidFill>
                            <a:schemeClr val="bg1"/>
                          </a:solidFill>
                        </a:rPr>
                        <a:t>궤도</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대표 함수</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크기</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안정화군 (위수)</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고정점</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S</a:t>
                      </a:r>
                      <a:r>
                        <a:rPr lang="en-US" sz="1400" baseline="-40000" dirty="0">
                          <a:solidFill>
                            <a:schemeClr val="tx1"/>
                          </a:solidFill>
                        </a:rPr>
                        <a:t>4</a:t>
                      </a:r>
                      <a:r>
                        <a:rPr lang="en-US" sz="1400" dirty="0">
                          <a:solidFill>
                            <a:schemeClr val="tx1"/>
                          </a:solidFill>
                        </a:rPr>
                        <a:t> (24)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2"/>
                          </a:solidFill>
                        </a:rPr>
                        <a:t>예</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S</a:t>
                      </a:r>
                      <a:r>
                        <a:rPr lang="en-US" sz="1400" baseline="-40000" dirty="0">
                          <a:solidFill>
                            <a:schemeClr val="tx1"/>
                          </a:solidFill>
                        </a:rPr>
                        <a:t>4</a:t>
                      </a:r>
                      <a:r>
                        <a:rPr lang="en-US" sz="1400" dirty="0">
                          <a:solidFill>
                            <a:schemeClr val="tx1"/>
                          </a:solidFill>
                        </a:rPr>
                        <a:t> (24)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예</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3</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S</a:t>
                      </a:r>
                      <a:r>
                        <a:rPr lang="en-US" sz="1400" baseline="-40000" dirty="0">
                          <a:solidFill>
                            <a:schemeClr val="tx1"/>
                          </a:solidFill>
                        </a:rPr>
                        <a:t>3</a:t>
                      </a:r>
                      <a:r>
                        <a:rPr lang="en-US" sz="1400" dirty="0">
                          <a:solidFill>
                            <a:schemeClr val="tx1"/>
                          </a:solidFill>
                        </a:rPr>
                        <a:t> (6)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아니오</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S</a:t>
                      </a:r>
                      <a:r>
                        <a:rPr lang="en-US" sz="1400" baseline="-40000" dirty="0">
                          <a:solidFill>
                            <a:schemeClr val="tx1"/>
                          </a:solidFill>
                        </a:rPr>
                        <a:t>3</a:t>
                      </a:r>
                      <a:r>
                        <a:rPr lang="en-US" sz="1400" dirty="0">
                          <a:solidFill>
                            <a:schemeClr val="tx1"/>
                          </a:solidFill>
                        </a:rPr>
                        <a:t> (6)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아니오</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5</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Z</a:t>
                      </a:r>
                      <a:r>
                        <a:rPr lang="en-US" sz="1400" baseline="-40000" dirty="0">
                          <a:solidFill>
                            <a:schemeClr val="tx1"/>
                          </a:solidFill>
                        </a:rPr>
                        <a:t>2</a:t>
                      </a:r>
                      <a:r>
                        <a:rPr lang="en-US" sz="1400" dirty="0">
                          <a:solidFill>
                            <a:schemeClr val="tx1"/>
                          </a:solidFill>
                        </a:rPr>
                        <a:t> × Z</a:t>
                      </a:r>
                      <a:r>
                        <a:rPr lang="en-US" sz="1400" baseline="-40000" dirty="0">
                          <a:solidFill>
                            <a:schemeClr val="tx1"/>
                          </a:solidFill>
                        </a:rPr>
                        <a:t>2</a:t>
                      </a:r>
                      <a:r>
                        <a:rPr lang="en-US" sz="1400" dirty="0">
                          <a:solidFill>
                            <a:schemeClr val="tx1"/>
                          </a:solidFill>
                        </a:rPr>
                        <a:t> (4)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아니오</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r>
                        <a:rPr lang="en-US" sz="1400" dirty="0">
                          <a:solidFill>
                            <a:schemeClr val="tx1"/>
                          </a:solidFill>
                        </a:rPr>
                        <a:t> ⊕ 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Z</a:t>
                      </a:r>
                      <a:r>
                        <a:rPr lang="en-US" sz="1400" baseline="-40000" dirty="0">
                          <a:solidFill>
                            <a:schemeClr val="tx1"/>
                          </a:solidFill>
                        </a:rPr>
                        <a:t>2</a:t>
                      </a:r>
                      <a:r>
                        <a:rPr lang="en-US" sz="1400" dirty="0">
                          <a:solidFill>
                            <a:schemeClr val="tx1"/>
                          </a:solidFill>
                        </a:rPr>
                        <a:t> × Z</a:t>
                      </a:r>
                      <a:r>
                        <a:rPr lang="en-US" sz="1400" baseline="-40000" dirty="0">
                          <a:solidFill>
                            <a:schemeClr val="tx1"/>
                          </a:solidFill>
                        </a:rPr>
                        <a:t>2</a:t>
                      </a:r>
                      <a:r>
                        <a:rPr lang="en-US" sz="1400" dirty="0">
                          <a:solidFill>
                            <a:schemeClr val="tx1"/>
                          </a:solidFill>
                        </a:rPr>
                        <a:t> (4)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아니오</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7</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r>
                        <a:rPr lang="en-US" sz="1400" dirty="0">
                          <a:solidFill>
                            <a:schemeClr val="tx1"/>
                          </a:solidFill>
                        </a:rPr>
                        <a:t> ⊕ x</a:t>
                      </a:r>
                      <a:r>
                        <a:rPr lang="en-US" sz="1400" baseline="-40000" dirty="0">
                          <a:solidFill>
                            <a:schemeClr val="tx1"/>
                          </a:solidFill>
                        </a:rPr>
                        <a:t>3</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S</a:t>
                      </a:r>
                      <a:r>
                        <a:rPr lang="en-US" sz="1400" baseline="-40000" dirty="0">
                          <a:solidFill>
                            <a:schemeClr val="tx1"/>
                          </a:solidFill>
                        </a:rPr>
                        <a:t>3</a:t>
                      </a:r>
                      <a:r>
                        <a:rPr lang="en-US" sz="1400" dirty="0">
                          <a:solidFill>
                            <a:schemeClr val="tx1"/>
                          </a:solidFill>
                        </a:rPr>
                        <a:t> (6)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2"/>
                          </a:solidFill>
                        </a:rPr>
                        <a:t>아니오</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8</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r>
                        <a:rPr lang="en-US" sz="1400" dirty="0">
                          <a:solidFill>
                            <a:schemeClr val="tx1"/>
                          </a:solidFill>
                        </a:rPr>
                        <a:t> ⊕ x</a:t>
                      </a:r>
                      <a:r>
                        <a:rPr lang="en-US" sz="1400" baseline="-40000" dirty="0">
                          <a:solidFill>
                            <a:schemeClr val="tx1"/>
                          </a:solidFill>
                        </a:rPr>
                        <a:t>3</a:t>
                      </a:r>
                      <a:r>
                        <a:rPr lang="en-US" sz="1400" dirty="0">
                          <a:solidFill>
                            <a:schemeClr val="tx1"/>
                          </a:solidFill>
                        </a:rPr>
                        <a:t> ⊕ 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S</a:t>
                      </a:r>
                      <a:r>
                        <a:rPr lang="en-US" sz="1400" baseline="-40000" dirty="0">
                          <a:solidFill>
                            <a:schemeClr val="tx1"/>
                          </a:solidFill>
                        </a:rPr>
                        <a:t>3</a:t>
                      </a:r>
                      <a:r>
                        <a:rPr lang="en-US" sz="1400" dirty="0">
                          <a:solidFill>
                            <a:schemeClr val="tx1"/>
                          </a:solidFill>
                        </a:rPr>
                        <a:t> (6)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아니오</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9</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r>
                        <a:rPr lang="en-US" sz="1400" dirty="0">
                          <a:solidFill>
                            <a:schemeClr val="tx1"/>
                          </a:solidFill>
                        </a:rPr>
                        <a:t> ⊕ x</a:t>
                      </a:r>
                      <a:r>
                        <a:rPr lang="en-US" sz="1400" baseline="-40000" dirty="0">
                          <a:solidFill>
                            <a:schemeClr val="tx1"/>
                          </a:solidFill>
                        </a:rPr>
                        <a:t>3</a:t>
                      </a:r>
                      <a:r>
                        <a:rPr lang="en-US" sz="1400" dirty="0">
                          <a:solidFill>
                            <a:schemeClr val="tx1"/>
                          </a:solidFill>
                        </a:rPr>
                        <a:t> ⊕ x</a:t>
                      </a:r>
                      <a:r>
                        <a:rPr lang="en-US" sz="1400" baseline="-400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S</a:t>
                      </a:r>
                      <a:r>
                        <a:rPr lang="en-US" sz="1400" baseline="-40000" dirty="0">
                          <a:solidFill>
                            <a:schemeClr val="tx1"/>
                          </a:solidFill>
                        </a:rPr>
                        <a:t>4</a:t>
                      </a:r>
                      <a:r>
                        <a:rPr lang="en-US" sz="1400" dirty="0">
                          <a:solidFill>
                            <a:schemeClr val="tx1"/>
                          </a:solidFill>
                        </a:rPr>
                        <a:t> (24)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2"/>
                          </a:solidFill>
                        </a:rPr>
                        <a:t>예</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O</a:t>
                      </a:r>
                      <a:r>
                        <a:rPr lang="en-US" sz="1400" baseline="-40000" dirty="0">
                          <a:solidFill>
                            <a:schemeClr val="tx1"/>
                          </a:solidFill>
                        </a:rPr>
                        <a:t>10</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 x</a:t>
                      </a:r>
                      <a:r>
                        <a:rPr lang="en-US" sz="1400" baseline="-40000" dirty="0">
                          <a:solidFill>
                            <a:schemeClr val="tx1"/>
                          </a:solidFill>
                        </a:rPr>
                        <a:t>2</a:t>
                      </a:r>
                      <a:r>
                        <a:rPr lang="en-US" sz="1400" dirty="0">
                          <a:solidFill>
                            <a:schemeClr val="tx1"/>
                          </a:solidFill>
                        </a:rPr>
                        <a:t> ⊕ x</a:t>
                      </a:r>
                      <a:r>
                        <a:rPr lang="en-US" sz="1400" baseline="-40000" dirty="0">
                          <a:solidFill>
                            <a:schemeClr val="tx1"/>
                          </a:solidFill>
                        </a:rPr>
                        <a:t>3</a:t>
                      </a:r>
                      <a:r>
                        <a:rPr lang="en-US" sz="1400" dirty="0">
                          <a:solidFill>
                            <a:schemeClr val="tx1"/>
                          </a:solidFill>
                        </a:rPr>
                        <a:t> ⊕ x</a:t>
                      </a:r>
                      <a:r>
                        <a:rPr lang="en-US" sz="1400" baseline="-40000" dirty="0">
                          <a:solidFill>
                            <a:schemeClr val="tx1"/>
                          </a:solidFill>
                        </a:rPr>
                        <a:t>4</a:t>
                      </a:r>
                      <a:r>
                        <a:rPr lang="en-US" sz="1400" dirty="0">
                          <a:solidFill>
                            <a:schemeClr val="tx1"/>
                          </a:solidFill>
                        </a:rPr>
                        <a:t> ⊕ 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S</a:t>
                      </a:r>
                      <a:r>
                        <a:rPr lang="en-US" sz="1400" baseline="-40000" dirty="0">
                          <a:solidFill>
                            <a:schemeClr val="tx1"/>
                          </a:solidFill>
                        </a:rPr>
                        <a:t>4</a:t>
                      </a:r>
                      <a:r>
                        <a:rPr lang="en-US" sz="1400" dirty="0">
                          <a:solidFill>
                            <a:schemeClr val="tx1"/>
                          </a:solidFill>
                        </a:rPr>
                        <a:t> (24)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예</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548640" y="6053328"/>
            <a:ext cx="11091672" cy="274320"/>
          </a:xfrm>
          <a:prstGeom prst="rect">
            <a:avLst/>
          </a:prstGeom>
          <a:noFill/>
          <a:ln/>
        </p:spPr>
        <p:txBody>
          <a:bodyPr wrap="square" lIns="0" tIns="0" rIns="0" bIns="0" rtlCol="0" anchor="ctr"/>
          <a:lstStyle/>
          <a:p>
            <a:pPr indent="0" marL="0">
              <a:buNone/>
            </a:pPr>
            <a:r>
              <a:rPr lang="en-US" sz="1200" dirty="0">
                <a:solidFill>
                  <a:schemeClr val="tx2"/>
                </a:solidFill>
              </a:rPr>
              <a:t>크기의 합: 1+1+4+4+6+6+4+4+1+1 = 32   ·   고정점 4개: 0, 1, XOR, XNOR</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24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자기쌍대 공간 D: 고정점이 없다</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보수(¬)와 충돌하는 순환이 있으면 Fix = 0</a:t>
            </a:r>
            <a:endParaRPr lang="en-US" sz="1800" dirty="0"/>
          </a:p>
        </p:txBody>
      </p:sp>
      <p:sp>
        <p:nvSpPr>
          <p:cNvPr id="8" name="diagram-card"/>
          <p:cNvSpPr/>
          <p:nvPr/>
        </p:nvSpPr>
        <p:spPr>
          <a:xfrm>
            <a:off x="548640" y="2011680"/>
            <a:ext cx="5486400" cy="4114800"/>
          </a:xfrm>
          <a:prstGeom prst="roundRect">
            <a:avLst>
              <a:gd name="adj" fmla="val 1778"/>
            </a:avLst>
          </a:prstGeom>
          <a:solidFill>
            <a:schemeClr val="bg2"/>
          </a:solidFill>
          <a:ln w="3175">
            <a:solidFill>
              <a:schemeClr val="bg2"/>
            </a:solidFill>
            <a:prstDash val="solid"/>
          </a:ln>
        </p:spPr>
      </p:sp>
      <p:sp>
        <p:nvSpPr>
          <p:cNvPr id="9" name="Text 6"/>
          <p:cNvSpPr txBox="1"/>
          <p:nvPr/>
        </p:nvSpPr>
        <p:spPr>
          <a:xfrm>
            <a:off x="822960" y="2103120"/>
            <a:ext cx="4937760" cy="365760"/>
          </a:xfrm>
          <a:prstGeom prst="rect">
            <a:avLst/>
          </a:prstGeom>
          <a:noFill/>
          <a:ln/>
        </p:spPr>
        <p:txBody>
          <a:bodyPr wrap="square" lIns="0" tIns="0" rIns="0" bIns="0" rtlCol="0" anchor="ctr"/>
          <a:lstStyle/>
          <a:p>
            <a:pPr indent="0" marL="0">
              <a:buNone/>
            </a:pPr>
            <a:r>
              <a:rPr lang="en-US" sz="1600" b="1" dirty="0">
                <a:solidFill>
                  <a:schemeClr val="tx1"/>
                </a:solidFill>
              </a:rPr>
              <a:t>예: x = (0, 1, 0, 1)</a:t>
            </a:r>
            <a:endParaRPr lang="en-US" sz="1600" dirty="0"/>
          </a:p>
        </p:txBody>
      </p:sp>
      <p:sp>
        <p:nvSpPr>
          <p:cNvPr id="10" name="node"/>
          <p:cNvSpPr/>
          <p:nvPr/>
        </p:nvSpPr>
        <p:spPr>
          <a:xfrm>
            <a:off x="914400" y="2834640"/>
            <a:ext cx="1737360" cy="731520"/>
          </a:xfrm>
          <a:prstGeom prst="roundRect">
            <a:avLst>
              <a:gd name="adj" fmla="val 10000"/>
            </a:avLst>
          </a:prstGeom>
          <a:solidFill>
            <a:schemeClr val="accent4"/>
          </a:solidFill>
          <a:ln w="3175">
            <a:solidFill>
              <a:schemeClr val="accent4"/>
            </a:solidFill>
            <a:prstDash val="solid"/>
          </a:ln>
        </p:spPr>
      </p:sp>
      <p:sp>
        <p:nvSpPr>
          <p:cNvPr id="11" name="Text 8"/>
          <p:cNvSpPr txBox="1"/>
          <p:nvPr/>
        </p:nvSpPr>
        <p:spPr>
          <a:xfrm>
            <a:off x="914400" y="2834640"/>
            <a:ext cx="1737360" cy="731520"/>
          </a:xfrm>
          <a:prstGeom prst="rect">
            <a:avLst/>
          </a:prstGeom>
          <a:noFill/>
          <a:ln/>
        </p:spPr>
        <p:txBody>
          <a:bodyPr wrap="square" lIns="0" tIns="0" rIns="0" bIns="0" rtlCol="0" anchor="ctr"/>
          <a:lstStyle/>
          <a:p>
            <a:pPr algn="ctr" indent="0" marL="0">
              <a:buNone/>
            </a:pPr>
            <a:r>
              <a:rPr lang="en-US" sz="1800" b="1" dirty="0">
                <a:solidFill>
                  <a:schemeClr val="bg1"/>
                </a:solidFill>
              </a:rPr>
              <a:t>x = 0101</a:t>
            </a:r>
            <a:endParaRPr lang="en-US" sz="1800" dirty="0"/>
          </a:p>
        </p:txBody>
      </p:sp>
      <p:sp>
        <p:nvSpPr>
          <p:cNvPr id="12" name="node"/>
          <p:cNvSpPr/>
          <p:nvPr/>
        </p:nvSpPr>
        <p:spPr>
          <a:xfrm>
            <a:off x="3931920" y="2834640"/>
            <a:ext cx="1737360" cy="731520"/>
          </a:xfrm>
          <a:prstGeom prst="roundRect">
            <a:avLst>
              <a:gd name="adj" fmla="val 10000"/>
            </a:avLst>
          </a:prstGeom>
          <a:solidFill>
            <a:schemeClr val="accent4"/>
          </a:solidFill>
          <a:ln w="3175">
            <a:solidFill>
              <a:schemeClr val="accent4"/>
            </a:solidFill>
            <a:prstDash val="solid"/>
          </a:ln>
        </p:spPr>
      </p:sp>
      <p:sp>
        <p:nvSpPr>
          <p:cNvPr id="13" name="Text 10"/>
          <p:cNvSpPr txBox="1"/>
          <p:nvPr/>
        </p:nvSpPr>
        <p:spPr>
          <a:xfrm>
            <a:off x="3931920" y="2834640"/>
            <a:ext cx="1737360" cy="731520"/>
          </a:xfrm>
          <a:prstGeom prst="rect">
            <a:avLst/>
          </a:prstGeom>
          <a:noFill/>
          <a:ln/>
        </p:spPr>
        <p:txBody>
          <a:bodyPr wrap="square" lIns="0" tIns="0" rIns="0" bIns="0" rtlCol="0" anchor="ctr"/>
          <a:lstStyle/>
          <a:p>
            <a:pPr algn="ctr" indent="0" marL="0">
              <a:buNone/>
            </a:pPr>
            <a:r>
              <a:rPr lang="en-US" sz="1800" b="1" dirty="0">
                <a:solidFill>
                  <a:schemeClr val="bg1"/>
                </a:solidFill>
              </a:rPr>
              <a:t>1010</a:t>
            </a:r>
            <a:endParaRPr lang="en-US" sz="1800" dirty="0"/>
          </a:p>
        </p:txBody>
      </p:sp>
      <p:sp>
        <p:nvSpPr>
          <p:cNvPr id="14" name="arrow"/>
          <p:cNvSpPr/>
          <p:nvPr/>
        </p:nvSpPr>
        <p:spPr>
          <a:xfrm>
            <a:off x="2743200" y="2971800"/>
            <a:ext cx="1097280" cy="457200"/>
          </a:xfrm>
          <a:prstGeom prst="rightArrow">
            <a:avLst/>
          </a:prstGeom>
          <a:solidFill>
            <a:schemeClr val="accent1"/>
          </a:solidFill>
          <a:ln w="3175">
            <a:solidFill>
              <a:schemeClr val="accent1"/>
            </a:solidFill>
            <a:prstDash val="solid"/>
          </a:ln>
        </p:spPr>
      </p:sp>
      <p:sp>
        <p:nvSpPr>
          <p:cNvPr id="15" name="Text 12"/>
          <p:cNvSpPr txBox="1"/>
          <p:nvPr/>
        </p:nvSpPr>
        <p:spPr>
          <a:xfrm>
            <a:off x="2560320" y="3520440"/>
            <a:ext cx="1463040" cy="320040"/>
          </a:xfrm>
          <a:prstGeom prst="rect">
            <a:avLst/>
          </a:prstGeom>
          <a:noFill/>
          <a:ln/>
        </p:spPr>
        <p:txBody>
          <a:bodyPr wrap="square" lIns="0" tIns="0" rIns="0" bIns="0" rtlCol="0" anchor="ctr"/>
          <a:lstStyle/>
          <a:p>
            <a:pPr algn="ctr" indent="0" marL="0">
              <a:buNone/>
            </a:pPr>
            <a:r>
              <a:rPr lang="en-US" sz="1200" dirty="0">
                <a:solidFill>
                  <a:schemeClr val="tx2"/>
                </a:solidFill>
              </a:rPr>
              <a:t>σ = (12)(34)</a:t>
            </a:r>
            <a:endParaRPr lang="en-US" sz="1200" dirty="0"/>
          </a:p>
        </p:txBody>
      </p:sp>
      <p:sp>
        <p:nvSpPr>
          <p:cNvPr id="16" name="Text 13"/>
          <p:cNvSpPr txBox="1"/>
          <p:nvPr/>
        </p:nvSpPr>
        <p:spPr>
          <a:xfrm>
            <a:off x="822960" y="3931920"/>
            <a:ext cx="4937760" cy="210312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σ(x) = 1010 = ¬x</a:t>
            </a:r>
            <a:endParaRPr lang="en-US" sz="2000" dirty="0"/>
          </a:p>
          <a:p>
            <a:pPr indent="0" marL="0">
              <a:spcAft>
                <a:spcPts val="400"/>
              </a:spcAft>
              <a:buNone/>
            </a:pPr>
            <a:r>
              <a:rPr lang="en-US" sz="1600" dirty="0">
                <a:solidFill>
                  <a:schemeClr val="tx1"/>
                </a:solidFill>
              </a:rPr>
              <a:t>순환 {x, ¬x}가 보수에 닫혀 있다</a:t>
            </a:r>
            <a:endParaRPr lang="en-US" sz="2000" dirty="0"/>
          </a:p>
          <a:p>
            <a:pPr indent="0" marL="0">
              <a:spcAft>
                <a:spcPts val="400"/>
              </a:spcAft>
              <a:buNone/>
            </a:pPr>
            <a:r>
              <a:rPr lang="en-US" sz="1600" dirty="0">
                <a:solidFill>
                  <a:schemeClr val="tx1"/>
                </a:solidFill>
              </a:rPr>
              <a:t>σ로 불변이면 f(x) = f(¬x)</a:t>
            </a:r>
            <a:endParaRPr lang="en-US" sz="2000" dirty="0"/>
          </a:p>
          <a:p>
            <a:pPr indent="0" marL="0">
              <a:spcAft>
                <a:spcPts val="400"/>
              </a:spcAft>
              <a:buNone/>
            </a:pPr>
            <a:r>
              <a:rPr lang="en-US" sz="1600" dirty="0">
                <a:solidFill>
                  <a:schemeClr val="tx1"/>
                </a:solidFill>
              </a:rPr>
              <a:t>그러나 자기쌍대는 f(¬x) = ¬f(x)</a:t>
            </a:r>
            <a:endParaRPr lang="en-US" sz="2000" dirty="0"/>
          </a:p>
          <a:p>
            <a:pPr indent="0" marL="0">
              <a:buNone/>
            </a:pPr>
            <a:r>
              <a:rPr lang="en-US" sz="1800" b="1" dirty="0">
                <a:solidFill>
                  <a:schemeClr val="accent1"/>
                </a:solidFill>
              </a:rPr>
              <a:t>→ 모순, 그래서 Fix = 0</a:t>
            </a:r>
            <a:endParaRPr lang="en-US" sz="2000" dirty="0"/>
          </a:p>
        </p:txBody>
      </p:sp>
      <p:sp>
        <p:nvSpPr>
          <p:cNvPr id="17" name="Text 14"/>
          <p:cNvSpPr txBox="1"/>
          <p:nvPr/>
        </p:nvSpPr>
        <p:spPr>
          <a:xfrm>
            <a:off x="6355080" y="2011680"/>
            <a:ext cx="5212080" cy="365760"/>
          </a:xfrm>
          <a:prstGeom prst="rect">
            <a:avLst/>
          </a:prstGeom>
          <a:noFill/>
          <a:ln/>
        </p:spPr>
        <p:txBody>
          <a:bodyPr wrap="square" lIns="0" tIns="0" rIns="0" bIns="0" rtlCol="0" anchor="ctr"/>
          <a:lstStyle/>
          <a:p>
            <a:pPr indent="0" marL="0">
              <a:buNone/>
            </a:pPr>
            <a:r>
              <a:rPr lang="en-US" sz="1800" b="1" dirty="0">
                <a:solidFill>
                  <a:schemeClr val="tx1"/>
                </a:solidFill>
              </a:rPr>
              <a:t>켤레류별 Fix</a:t>
            </a:r>
            <a:endParaRPr lang="en-US" sz="1800" dirty="0"/>
          </a:p>
        </p:txBody>
      </p:sp>
      <p:sp>
        <p:nvSpPr>
          <p:cNvPr id="18" name="fix-chip"/>
          <p:cNvSpPr/>
          <p:nvPr/>
        </p:nvSpPr>
        <p:spPr>
          <a:xfrm>
            <a:off x="6355080" y="2468880"/>
            <a:ext cx="987552" cy="1143000"/>
          </a:xfrm>
          <a:prstGeom prst="roundRect">
            <a:avLst>
              <a:gd name="adj" fmla="val 7407"/>
            </a:avLst>
          </a:prstGeom>
          <a:solidFill>
            <a:schemeClr val="bg2"/>
          </a:solidFill>
          <a:ln w="3175">
            <a:solidFill>
              <a:schemeClr val="bg2"/>
            </a:solidFill>
            <a:prstDash val="solid"/>
          </a:ln>
        </p:spPr>
      </p:sp>
      <p:sp>
        <p:nvSpPr>
          <p:cNvPr id="19" name="Text 16"/>
          <p:cNvSpPr txBox="1"/>
          <p:nvPr/>
        </p:nvSpPr>
        <p:spPr>
          <a:xfrm>
            <a:off x="6355080" y="2468880"/>
            <a:ext cx="987552" cy="1143000"/>
          </a:xfrm>
          <a:prstGeom prst="rect">
            <a:avLst/>
          </a:prstGeom>
          <a:noFill/>
          <a:ln/>
        </p:spPr>
        <p:txBody>
          <a:bodyPr wrap="square" lIns="0" tIns="0" rIns="0" bIns="0" rtlCol="0" anchor="ctr"/>
          <a:lstStyle/>
          <a:p>
            <a:pPr algn="ctr" indent="0" marL="0">
              <a:buNone/>
            </a:pPr>
            <a:r>
              <a:rPr lang="en-US" sz="1400" dirty="0">
                <a:solidFill>
                  <a:schemeClr val="tx2"/>
                </a:solidFill>
              </a:rPr>
              <a:t>C₁</a:t>
            </a:r>
            <a:endParaRPr lang="en-US" sz="1400" dirty="0"/>
          </a:p>
          <a:p>
            <a:pPr algn="ctr" indent="0" marL="0">
              <a:buNone/>
            </a:pPr>
            <a:r>
              <a:rPr lang="en-US" sz="2400" b="1" dirty="0">
                <a:solidFill>
                  <a:schemeClr val="tx1"/>
                </a:solidFill>
              </a:rPr>
              <a:t>256</a:t>
            </a:r>
            <a:endParaRPr lang="en-US" sz="1400" dirty="0"/>
          </a:p>
        </p:txBody>
      </p:sp>
      <p:sp>
        <p:nvSpPr>
          <p:cNvPr id="20" name="fix-chip"/>
          <p:cNvSpPr/>
          <p:nvPr/>
        </p:nvSpPr>
        <p:spPr>
          <a:xfrm>
            <a:off x="7424928" y="2468880"/>
            <a:ext cx="987552" cy="1143000"/>
          </a:xfrm>
          <a:prstGeom prst="roundRect">
            <a:avLst>
              <a:gd name="adj" fmla="val 7407"/>
            </a:avLst>
          </a:prstGeom>
          <a:solidFill>
            <a:schemeClr val="bg2"/>
          </a:solidFill>
          <a:ln w="3175">
            <a:solidFill>
              <a:schemeClr val="bg2"/>
            </a:solidFill>
            <a:prstDash val="solid"/>
          </a:ln>
        </p:spPr>
      </p:sp>
      <p:sp>
        <p:nvSpPr>
          <p:cNvPr id="21" name="Text 18"/>
          <p:cNvSpPr txBox="1"/>
          <p:nvPr/>
        </p:nvSpPr>
        <p:spPr>
          <a:xfrm>
            <a:off x="7424928" y="2468880"/>
            <a:ext cx="987552" cy="1143000"/>
          </a:xfrm>
          <a:prstGeom prst="rect">
            <a:avLst/>
          </a:prstGeom>
          <a:noFill/>
          <a:ln/>
        </p:spPr>
        <p:txBody>
          <a:bodyPr wrap="square" lIns="0" tIns="0" rIns="0" bIns="0" rtlCol="0" anchor="ctr"/>
          <a:lstStyle/>
          <a:p>
            <a:pPr algn="ctr" indent="0" marL="0">
              <a:buNone/>
            </a:pPr>
            <a:r>
              <a:rPr lang="en-US" sz="1400" dirty="0">
                <a:solidFill>
                  <a:schemeClr val="tx2"/>
                </a:solidFill>
              </a:rPr>
              <a:t>C₂</a:t>
            </a:r>
            <a:endParaRPr lang="en-US" sz="1400" dirty="0"/>
          </a:p>
          <a:p>
            <a:pPr algn="ctr" indent="0" marL="0">
              <a:buNone/>
            </a:pPr>
            <a:r>
              <a:rPr lang="en-US" sz="2400" b="1" dirty="0">
                <a:solidFill>
                  <a:schemeClr val="tx1"/>
                </a:solidFill>
              </a:rPr>
              <a:t>64</a:t>
            </a:r>
            <a:endParaRPr lang="en-US" sz="1400" dirty="0"/>
          </a:p>
        </p:txBody>
      </p:sp>
      <p:sp>
        <p:nvSpPr>
          <p:cNvPr id="22" name="fix-chip"/>
          <p:cNvSpPr/>
          <p:nvPr/>
        </p:nvSpPr>
        <p:spPr>
          <a:xfrm>
            <a:off x="8494776" y="2468880"/>
            <a:ext cx="987552" cy="1143000"/>
          </a:xfrm>
          <a:prstGeom prst="roundRect">
            <a:avLst>
              <a:gd name="adj" fmla="val 7407"/>
            </a:avLst>
          </a:prstGeom>
          <a:solidFill>
            <a:schemeClr val="accent1"/>
          </a:solidFill>
          <a:ln w="3175">
            <a:solidFill>
              <a:schemeClr val="accent1"/>
            </a:solidFill>
            <a:prstDash val="solid"/>
          </a:ln>
        </p:spPr>
      </p:sp>
      <p:sp>
        <p:nvSpPr>
          <p:cNvPr id="23" name="Text 20"/>
          <p:cNvSpPr txBox="1"/>
          <p:nvPr/>
        </p:nvSpPr>
        <p:spPr>
          <a:xfrm>
            <a:off x="8494776" y="2468880"/>
            <a:ext cx="987552" cy="1143000"/>
          </a:xfrm>
          <a:prstGeom prst="rect">
            <a:avLst/>
          </a:prstGeom>
          <a:noFill/>
          <a:ln/>
        </p:spPr>
        <p:txBody>
          <a:bodyPr wrap="square" lIns="0" tIns="0" rIns="0" bIns="0" rtlCol="0" anchor="ctr"/>
          <a:lstStyle/>
          <a:p>
            <a:pPr algn="ctr" indent="0" marL="0">
              <a:buNone/>
            </a:pPr>
            <a:r>
              <a:rPr lang="en-US" sz="1400" dirty="0">
                <a:solidFill>
                  <a:schemeClr val="bg1"/>
                </a:solidFill>
              </a:rPr>
              <a:t>C₃</a:t>
            </a:r>
            <a:endParaRPr lang="en-US" sz="1400" dirty="0"/>
          </a:p>
          <a:p>
            <a:pPr algn="ctr" indent="0" marL="0">
              <a:buNone/>
            </a:pPr>
            <a:r>
              <a:rPr lang="en-US" sz="2400" b="1" dirty="0">
                <a:solidFill>
                  <a:schemeClr val="bg1"/>
                </a:solidFill>
              </a:rPr>
              <a:t>0</a:t>
            </a:r>
            <a:endParaRPr lang="en-US" sz="1400" dirty="0"/>
          </a:p>
        </p:txBody>
      </p:sp>
      <p:sp>
        <p:nvSpPr>
          <p:cNvPr id="24" name="fix-chip"/>
          <p:cNvSpPr/>
          <p:nvPr/>
        </p:nvSpPr>
        <p:spPr>
          <a:xfrm>
            <a:off x="9564624" y="2468880"/>
            <a:ext cx="987552" cy="1143000"/>
          </a:xfrm>
          <a:prstGeom prst="roundRect">
            <a:avLst>
              <a:gd name="adj" fmla="val 7407"/>
            </a:avLst>
          </a:prstGeom>
          <a:solidFill>
            <a:schemeClr val="bg2"/>
          </a:solidFill>
          <a:ln w="3175">
            <a:solidFill>
              <a:schemeClr val="bg2"/>
            </a:solidFill>
            <a:prstDash val="solid"/>
          </a:ln>
        </p:spPr>
      </p:sp>
      <p:sp>
        <p:nvSpPr>
          <p:cNvPr id="25" name="Text 22"/>
          <p:cNvSpPr txBox="1"/>
          <p:nvPr/>
        </p:nvSpPr>
        <p:spPr>
          <a:xfrm>
            <a:off x="9564624" y="2468880"/>
            <a:ext cx="987552" cy="1143000"/>
          </a:xfrm>
          <a:prstGeom prst="rect">
            <a:avLst/>
          </a:prstGeom>
          <a:noFill/>
          <a:ln/>
        </p:spPr>
        <p:txBody>
          <a:bodyPr wrap="square" lIns="0" tIns="0" rIns="0" bIns="0" rtlCol="0" anchor="ctr"/>
          <a:lstStyle/>
          <a:p>
            <a:pPr algn="ctr" indent="0" marL="0">
              <a:buNone/>
            </a:pPr>
            <a:r>
              <a:rPr lang="en-US" sz="1400" dirty="0">
                <a:solidFill>
                  <a:schemeClr val="tx2"/>
                </a:solidFill>
              </a:rPr>
              <a:t>C₄</a:t>
            </a:r>
            <a:endParaRPr lang="en-US" sz="1400" dirty="0"/>
          </a:p>
          <a:p>
            <a:pPr algn="ctr" indent="0" marL="0">
              <a:buNone/>
            </a:pPr>
            <a:r>
              <a:rPr lang="en-US" sz="2400" b="1" dirty="0">
                <a:solidFill>
                  <a:schemeClr val="tx1"/>
                </a:solidFill>
              </a:rPr>
              <a:t>16</a:t>
            </a:r>
            <a:endParaRPr lang="en-US" sz="1400" dirty="0"/>
          </a:p>
        </p:txBody>
      </p:sp>
      <p:sp>
        <p:nvSpPr>
          <p:cNvPr id="26" name="fix-chip"/>
          <p:cNvSpPr/>
          <p:nvPr/>
        </p:nvSpPr>
        <p:spPr>
          <a:xfrm>
            <a:off x="10634472" y="2468880"/>
            <a:ext cx="987552" cy="1143000"/>
          </a:xfrm>
          <a:prstGeom prst="roundRect">
            <a:avLst>
              <a:gd name="adj" fmla="val 7407"/>
            </a:avLst>
          </a:prstGeom>
          <a:solidFill>
            <a:schemeClr val="accent1"/>
          </a:solidFill>
          <a:ln w="3175">
            <a:solidFill>
              <a:schemeClr val="accent1"/>
            </a:solidFill>
            <a:prstDash val="solid"/>
          </a:ln>
        </p:spPr>
      </p:sp>
      <p:sp>
        <p:nvSpPr>
          <p:cNvPr id="27" name="Text 24"/>
          <p:cNvSpPr txBox="1"/>
          <p:nvPr/>
        </p:nvSpPr>
        <p:spPr>
          <a:xfrm>
            <a:off x="10634472" y="2468880"/>
            <a:ext cx="987552" cy="1143000"/>
          </a:xfrm>
          <a:prstGeom prst="rect">
            <a:avLst/>
          </a:prstGeom>
          <a:noFill/>
          <a:ln/>
        </p:spPr>
        <p:txBody>
          <a:bodyPr wrap="square" lIns="0" tIns="0" rIns="0" bIns="0" rtlCol="0" anchor="ctr"/>
          <a:lstStyle/>
          <a:p>
            <a:pPr algn="ctr" indent="0" marL="0">
              <a:buNone/>
            </a:pPr>
            <a:r>
              <a:rPr lang="en-US" sz="1400" dirty="0">
                <a:solidFill>
                  <a:schemeClr val="bg1"/>
                </a:solidFill>
              </a:rPr>
              <a:t>C₅</a:t>
            </a:r>
            <a:endParaRPr lang="en-US" sz="1400" dirty="0"/>
          </a:p>
          <a:p>
            <a:pPr algn="ctr" indent="0" marL="0">
              <a:buNone/>
            </a:pPr>
            <a:r>
              <a:rPr lang="en-US" sz="2400" b="1" dirty="0">
                <a:solidFill>
                  <a:schemeClr val="bg1"/>
                </a:solidFill>
              </a:rPr>
              <a:t>0</a:t>
            </a:r>
            <a:endParaRPr lang="en-US" sz="1400" dirty="0"/>
          </a:p>
        </p:txBody>
      </p:sp>
      <p:sp>
        <p:nvSpPr>
          <p:cNvPr id="28" name="dual-card"/>
          <p:cNvSpPr/>
          <p:nvPr/>
        </p:nvSpPr>
        <p:spPr>
          <a:xfrm>
            <a:off x="6355080" y="3886200"/>
            <a:ext cx="5285232" cy="2240280"/>
          </a:xfrm>
          <a:prstGeom prst="roundRect">
            <a:avLst>
              <a:gd name="adj" fmla="val 3265"/>
            </a:avLst>
          </a:prstGeom>
          <a:solidFill>
            <a:schemeClr val="bg2"/>
          </a:solidFill>
          <a:ln w="3175">
            <a:solidFill>
              <a:schemeClr val="bg2"/>
            </a:solidFill>
            <a:prstDash val="solid"/>
          </a:ln>
        </p:spPr>
      </p:sp>
      <p:sp>
        <p:nvSpPr>
          <p:cNvPr id="29" name="Text 26"/>
          <p:cNvSpPr txBox="1"/>
          <p:nvPr/>
        </p:nvSpPr>
        <p:spPr>
          <a:xfrm>
            <a:off x="6583680" y="3977640"/>
            <a:ext cx="4846320" cy="2057400"/>
          </a:xfrm>
          <a:prstGeom prst="rect">
            <a:avLst/>
          </a:prstGeom>
          <a:noFill/>
          <a:ln/>
        </p:spPr>
        <p:txBody>
          <a:bodyPr wrap="square" lIns="0" tIns="0" rIns="0" bIns="0" rtlCol="0" anchor="ctr"/>
          <a:lstStyle/>
          <a:p>
            <a:pPr indent="0" marL="0">
              <a:spcAft>
                <a:spcPts val="600"/>
              </a:spcAft>
              <a:buNone/>
            </a:pPr>
            <a:r>
              <a:rPr lang="en-US" sz="1600" dirty="0">
                <a:solidFill>
                  <a:schemeClr val="tx1"/>
                </a:solidFill>
              </a:rPr>
              <a:t>Fix = 2</a:t>
            </a:r>
            <a:r>
              <a:rPr lang="en-US" sz="1600" baseline="30000" dirty="0">
                <a:solidFill>
                  <a:schemeClr val="tx1"/>
                </a:solidFill>
              </a:rPr>
              <a:t>c(g)/2</a:t>
            </a:r>
            <a:r>
              <a:rPr lang="en-US" sz="1600" dirty="0">
                <a:solidFill>
                  <a:schemeClr val="tx1"/>
                </a:solidFill>
              </a:rPr>
              <a:t> (보수 쌍이 있을 때)</a:t>
            </a:r>
            <a:endParaRPr lang="en-US" sz="1600" dirty="0"/>
          </a:p>
          <a:p>
            <a:pPr indent="0" marL="0">
              <a:spcAft>
                <a:spcPts val="600"/>
              </a:spcAft>
              <a:buNone/>
            </a:pPr>
            <a:r>
              <a:rPr lang="en-US" sz="1800" b="1" dirty="0">
                <a:solidFill>
                  <a:schemeClr val="tx1"/>
                </a:solidFill>
              </a:rPr>
              <a:t>256 + 6·64 + 0 + 8·16 + 0 = 768</a:t>
            </a:r>
            <a:endParaRPr lang="en-US" sz="1600" dirty="0"/>
          </a:p>
          <a:p>
            <a:pPr indent="0" marL="0">
              <a:spcAft>
                <a:spcPts val="600"/>
              </a:spcAft>
              <a:buNone/>
            </a:pPr>
            <a:r>
              <a:rPr lang="en-US" sz="2200" b="1" dirty="0">
                <a:solidFill>
                  <a:schemeClr val="accent1"/>
                </a:solidFill>
              </a:rPr>
              <a:t>768 / 24 = 32 궤도</a:t>
            </a:r>
            <a:endParaRPr lang="en-US" sz="1600" dirty="0"/>
          </a:p>
          <a:p>
            <a:pPr indent="0" marL="0">
              <a:spcAft>
                <a:spcPts val="200"/>
              </a:spcAft>
              <a:buNone/>
            </a:pPr>
            <a:r>
              <a:rPr lang="en-US" sz="1400" dirty="0">
                <a:solidFill>
                  <a:schemeClr val="tx2"/>
                </a:solidFill>
              </a:rPr>
              <a:t>크기 4인 궤도 16개 + 크기 12인 궤도 16개</a:t>
            </a:r>
            <a:endParaRPr lang="en-US" sz="1600" dirty="0"/>
          </a:p>
          <a:p>
            <a:pPr indent="0" marL="0">
              <a:buNone/>
            </a:pPr>
            <a:r>
              <a:rPr lang="en-US" sz="1400" dirty="0">
                <a:solidFill>
                  <a:schemeClr val="tx2"/>
                </a:solidFill>
              </a:rPr>
              <a:t>S₄-고정점 없음 (D에는 크기 1 궤도가 없다)</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25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단조 공간 M: 상집합 세기</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단조 함수 ↔ 상집합. σ로 불변인 단조 함수의 수 = 궤도 순서집합의 상집합 수</a:t>
            </a:r>
            <a:endParaRPr lang="en-US" sz="1800" dirty="0"/>
          </a:p>
        </p:txBody>
      </p:sp>
      <p:sp>
        <p:nvSpPr>
          <p:cNvPr id="8" name="hasse-card"/>
          <p:cNvSpPr/>
          <p:nvPr/>
        </p:nvSpPr>
        <p:spPr>
          <a:xfrm>
            <a:off x="548640" y="1965960"/>
            <a:ext cx="5760720" cy="4251960"/>
          </a:xfrm>
          <a:prstGeom prst="roundRect">
            <a:avLst>
              <a:gd name="adj" fmla="val 1720"/>
            </a:avLst>
          </a:prstGeom>
          <a:solidFill>
            <a:schemeClr val="bg2"/>
          </a:solidFill>
          <a:ln w="3175">
            <a:solidFill>
              <a:schemeClr val="bg2"/>
            </a:solidFill>
            <a:prstDash val="solid"/>
          </a:ln>
        </p:spPr>
      </p:sp>
      <p:sp>
        <p:nvSpPr>
          <p:cNvPr id="9" name="Text 6"/>
          <p:cNvSpPr txBox="1"/>
          <p:nvPr/>
        </p:nvSpPr>
        <p:spPr>
          <a:xfrm>
            <a:off x="777240" y="2029968"/>
            <a:ext cx="5303520" cy="365760"/>
          </a:xfrm>
          <a:prstGeom prst="rect">
            <a:avLst/>
          </a:prstGeom>
          <a:noFill/>
          <a:ln/>
        </p:spPr>
        <p:txBody>
          <a:bodyPr wrap="square" lIns="0" tIns="0" rIns="0" bIns="0" rtlCol="0" anchor="ctr"/>
          <a:lstStyle/>
          <a:p>
            <a:pPr indent="0" marL="0">
              <a:buNone/>
            </a:pPr>
            <a:r>
              <a:rPr lang="en-US" sz="1400" b="1" dirty="0">
                <a:solidFill>
                  <a:schemeClr val="tx1"/>
                </a:solidFill>
              </a:rPr>
              <a:t>σ = (1234)의 궤도 순서집합 P</a:t>
            </a:r>
            <a:r>
              <a:rPr lang="en-US" sz="1400" b="1" baseline="-40000" dirty="0">
                <a:solidFill>
                  <a:schemeClr val="tx1"/>
                </a:solidFill>
              </a:rPr>
              <a:t>σ</a:t>
            </a:r>
            <a:endParaRPr lang="en-US" sz="1400" dirty="0"/>
          </a:p>
        </p:txBody>
      </p:sp>
      <p:sp>
        <p:nvSpPr>
          <p:cNvPr id="10" name="hasse-edge"/>
          <p:cNvSpPr/>
          <p:nvPr/>
        </p:nvSpPr>
        <p:spPr>
          <a:xfrm>
            <a:off x="3429000" y="2926080"/>
            <a:ext cx="0" cy="731520"/>
          </a:xfrm>
          <a:prstGeom prst="line">
            <a:avLst/>
          </a:prstGeom>
          <a:noFill/>
          <a:ln w="22225">
            <a:solidFill>
              <a:schemeClr val="accent6"/>
            </a:solidFill>
            <a:prstDash val="solid"/>
          </a:ln>
        </p:spPr>
      </p:sp>
      <p:sp>
        <p:nvSpPr>
          <p:cNvPr id="11" name="hasse-edge"/>
          <p:cNvSpPr/>
          <p:nvPr/>
        </p:nvSpPr>
        <p:spPr>
          <a:xfrm flipV="1">
            <a:off x="2331720" y="3657600"/>
            <a:ext cx="1097280" cy="731520"/>
          </a:xfrm>
          <a:prstGeom prst="line">
            <a:avLst/>
          </a:prstGeom>
          <a:noFill/>
          <a:ln w="22225">
            <a:solidFill>
              <a:schemeClr val="accent6"/>
            </a:solidFill>
            <a:prstDash val="solid"/>
          </a:ln>
        </p:spPr>
      </p:sp>
      <p:sp>
        <p:nvSpPr>
          <p:cNvPr id="12" name="hasse-edge"/>
          <p:cNvSpPr/>
          <p:nvPr/>
        </p:nvSpPr>
        <p:spPr>
          <a:xfrm>
            <a:off x="3429000" y="3657600"/>
            <a:ext cx="1097280" cy="731520"/>
          </a:xfrm>
          <a:prstGeom prst="line">
            <a:avLst/>
          </a:prstGeom>
          <a:noFill/>
          <a:ln w="22225">
            <a:solidFill>
              <a:schemeClr val="accent6"/>
            </a:solidFill>
            <a:prstDash val="solid"/>
          </a:ln>
        </p:spPr>
      </p:sp>
      <p:sp>
        <p:nvSpPr>
          <p:cNvPr id="13" name="hasse-edge"/>
          <p:cNvSpPr/>
          <p:nvPr/>
        </p:nvSpPr>
        <p:spPr>
          <a:xfrm>
            <a:off x="2331720" y="4389120"/>
            <a:ext cx="1097280" cy="777240"/>
          </a:xfrm>
          <a:prstGeom prst="line">
            <a:avLst/>
          </a:prstGeom>
          <a:noFill/>
          <a:ln w="22225">
            <a:solidFill>
              <a:schemeClr val="accent6"/>
            </a:solidFill>
            <a:prstDash val="solid"/>
          </a:ln>
        </p:spPr>
      </p:sp>
      <p:sp>
        <p:nvSpPr>
          <p:cNvPr id="14" name="hasse-edge"/>
          <p:cNvSpPr/>
          <p:nvPr/>
        </p:nvSpPr>
        <p:spPr>
          <a:xfrm flipV="1">
            <a:off x="3429000" y="4389120"/>
            <a:ext cx="1097280" cy="777240"/>
          </a:xfrm>
          <a:prstGeom prst="line">
            <a:avLst/>
          </a:prstGeom>
          <a:noFill/>
          <a:ln w="22225">
            <a:solidFill>
              <a:schemeClr val="accent6"/>
            </a:solidFill>
            <a:prstDash val="solid"/>
          </a:ln>
        </p:spPr>
      </p:sp>
      <p:sp>
        <p:nvSpPr>
          <p:cNvPr id="15" name="hasse-edge"/>
          <p:cNvSpPr/>
          <p:nvPr/>
        </p:nvSpPr>
        <p:spPr>
          <a:xfrm>
            <a:off x="3429000" y="5166360"/>
            <a:ext cx="0" cy="731520"/>
          </a:xfrm>
          <a:prstGeom prst="line">
            <a:avLst/>
          </a:prstGeom>
          <a:noFill/>
          <a:ln w="22225">
            <a:solidFill>
              <a:schemeClr val="accent6"/>
            </a:solidFill>
            <a:prstDash val="solid"/>
          </a:ln>
        </p:spPr>
      </p:sp>
      <p:sp>
        <p:nvSpPr>
          <p:cNvPr id="16" name="hasse-node"/>
          <p:cNvSpPr/>
          <p:nvPr/>
        </p:nvSpPr>
        <p:spPr>
          <a:xfrm>
            <a:off x="2743200" y="2697480"/>
            <a:ext cx="1371600" cy="457200"/>
          </a:xfrm>
          <a:prstGeom prst="roundRect">
            <a:avLst>
              <a:gd name="adj" fmla="val 50000"/>
            </a:avLst>
          </a:prstGeom>
          <a:solidFill>
            <a:schemeClr val="accent2"/>
          </a:solidFill>
          <a:ln w="15875">
            <a:solidFill>
              <a:schemeClr val="accent2"/>
            </a:solidFill>
            <a:prstDash val="solid"/>
          </a:ln>
        </p:spPr>
      </p:sp>
      <p:sp>
        <p:nvSpPr>
          <p:cNvPr id="17" name="Text 14"/>
          <p:cNvSpPr txBox="1"/>
          <p:nvPr/>
        </p:nvSpPr>
        <p:spPr>
          <a:xfrm>
            <a:off x="2743200" y="2697480"/>
            <a:ext cx="1371600" cy="457200"/>
          </a:xfrm>
          <a:prstGeom prst="rect">
            <a:avLst/>
          </a:prstGeom>
          <a:noFill/>
          <a:ln/>
        </p:spPr>
        <p:txBody>
          <a:bodyPr wrap="square" lIns="0" tIns="0" rIns="0" bIns="0" rtlCol="0" anchor="ctr"/>
          <a:lstStyle/>
          <a:p>
            <a:pPr algn="ctr" indent="0" marL="0">
              <a:buNone/>
            </a:pPr>
            <a:r>
              <a:rPr lang="en-US" sz="1400" b="1" dirty="0">
                <a:solidFill>
                  <a:schemeClr val="bg1"/>
                </a:solidFill>
              </a:rPr>
              <a:t>{1,2,3,4}</a:t>
            </a:r>
            <a:endParaRPr lang="en-US" sz="1400" dirty="0"/>
          </a:p>
        </p:txBody>
      </p:sp>
      <p:sp>
        <p:nvSpPr>
          <p:cNvPr id="18" name="hasse-node"/>
          <p:cNvSpPr/>
          <p:nvPr/>
        </p:nvSpPr>
        <p:spPr>
          <a:xfrm>
            <a:off x="2743200" y="3429000"/>
            <a:ext cx="1371600" cy="457200"/>
          </a:xfrm>
          <a:prstGeom prst="roundRect">
            <a:avLst>
              <a:gd name="adj" fmla="val 50000"/>
            </a:avLst>
          </a:prstGeom>
          <a:solidFill>
            <a:schemeClr val="accent2"/>
          </a:solidFill>
          <a:ln w="15875">
            <a:solidFill>
              <a:schemeClr val="accent2"/>
            </a:solidFill>
            <a:prstDash val="solid"/>
          </a:ln>
        </p:spPr>
      </p:sp>
      <p:sp>
        <p:nvSpPr>
          <p:cNvPr id="19" name="Text 16"/>
          <p:cNvSpPr txBox="1"/>
          <p:nvPr/>
        </p:nvSpPr>
        <p:spPr>
          <a:xfrm>
            <a:off x="2743200" y="3429000"/>
            <a:ext cx="1371600" cy="457200"/>
          </a:xfrm>
          <a:prstGeom prst="rect">
            <a:avLst/>
          </a:prstGeom>
          <a:noFill/>
          <a:ln/>
        </p:spPr>
        <p:txBody>
          <a:bodyPr wrap="square" lIns="0" tIns="0" rIns="0" bIns="0" rtlCol="0" anchor="ctr"/>
          <a:lstStyle/>
          <a:p>
            <a:pPr algn="ctr" indent="0" marL="0">
              <a:buNone/>
            </a:pPr>
            <a:r>
              <a:rPr lang="en-US" sz="1400" b="1" dirty="0">
                <a:solidFill>
                  <a:schemeClr val="bg1"/>
                </a:solidFill>
              </a:rPr>
              <a:t>{1,2,3}</a:t>
            </a:r>
            <a:endParaRPr lang="en-US" sz="1400" dirty="0"/>
          </a:p>
        </p:txBody>
      </p:sp>
      <p:sp>
        <p:nvSpPr>
          <p:cNvPr id="20" name="hasse-node"/>
          <p:cNvSpPr/>
          <p:nvPr/>
        </p:nvSpPr>
        <p:spPr>
          <a:xfrm>
            <a:off x="1645920" y="4160520"/>
            <a:ext cx="1371600" cy="457200"/>
          </a:xfrm>
          <a:prstGeom prst="roundRect">
            <a:avLst>
              <a:gd name="adj" fmla="val 50000"/>
            </a:avLst>
          </a:prstGeom>
          <a:solidFill>
            <a:schemeClr val="accent2"/>
          </a:solidFill>
          <a:ln w="15875">
            <a:solidFill>
              <a:schemeClr val="accent2"/>
            </a:solidFill>
            <a:prstDash val="solid"/>
          </a:ln>
        </p:spPr>
      </p:sp>
      <p:sp>
        <p:nvSpPr>
          <p:cNvPr id="21" name="Text 18"/>
          <p:cNvSpPr txBox="1"/>
          <p:nvPr/>
        </p:nvSpPr>
        <p:spPr>
          <a:xfrm>
            <a:off x="1645920" y="4160520"/>
            <a:ext cx="1371600" cy="457200"/>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22" name="hasse-node"/>
          <p:cNvSpPr/>
          <p:nvPr/>
        </p:nvSpPr>
        <p:spPr>
          <a:xfrm>
            <a:off x="3840480" y="4160520"/>
            <a:ext cx="1371600" cy="457200"/>
          </a:xfrm>
          <a:prstGeom prst="roundRect">
            <a:avLst>
              <a:gd name="adj" fmla="val 50000"/>
            </a:avLst>
          </a:prstGeom>
          <a:solidFill>
            <a:schemeClr val="bg1"/>
          </a:solidFill>
          <a:ln w="15875">
            <a:solidFill>
              <a:schemeClr val="accent4"/>
            </a:solidFill>
            <a:prstDash val="solid"/>
          </a:ln>
        </p:spPr>
      </p:sp>
      <p:sp>
        <p:nvSpPr>
          <p:cNvPr id="23" name="Text 20"/>
          <p:cNvSpPr txBox="1"/>
          <p:nvPr/>
        </p:nvSpPr>
        <p:spPr>
          <a:xfrm>
            <a:off x="3840480" y="4160520"/>
            <a:ext cx="1371600" cy="457200"/>
          </a:xfrm>
          <a:prstGeom prst="rect">
            <a:avLst/>
          </a:prstGeom>
          <a:noFill/>
          <a:ln/>
        </p:spPr>
        <p:txBody>
          <a:bodyPr wrap="square" lIns="0" tIns="0" rIns="0" bIns="0" rtlCol="0" anchor="ctr"/>
          <a:lstStyle/>
          <a:p>
            <a:pPr algn="ctr" indent="0" marL="0">
              <a:buNone/>
            </a:pPr>
            <a:r>
              <a:rPr lang="en-US" sz="1400" b="1" dirty="0">
                <a:solidFill>
                  <a:schemeClr val="tx1"/>
                </a:solidFill>
              </a:rPr>
              <a:t>{1,3}</a:t>
            </a:r>
            <a:endParaRPr lang="en-US" sz="1400" dirty="0"/>
          </a:p>
        </p:txBody>
      </p:sp>
      <p:sp>
        <p:nvSpPr>
          <p:cNvPr id="24" name="hasse-node"/>
          <p:cNvSpPr/>
          <p:nvPr/>
        </p:nvSpPr>
        <p:spPr>
          <a:xfrm>
            <a:off x="2743200" y="4937760"/>
            <a:ext cx="1371600" cy="457200"/>
          </a:xfrm>
          <a:prstGeom prst="roundRect">
            <a:avLst>
              <a:gd name="adj" fmla="val 50000"/>
            </a:avLst>
          </a:prstGeom>
          <a:solidFill>
            <a:schemeClr val="bg1"/>
          </a:solidFill>
          <a:ln w="15875">
            <a:solidFill>
              <a:schemeClr val="accent4"/>
            </a:solidFill>
            <a:prstDash val="solid"/>
          </a:ln>
        </p:spPr>
      </p:sp>
      <p:sp>
        <p:nvSpPr>
          <p:cNvPr id="25" name="Text 22"/>
          <p:cNvSpPr txBox="1"/>
          <p:nvPr/>
        </p:nvSpPr>
        <p:spPr>
          <a:xfrm>
            <a:off x="2743200" y="4937760"/>
            <a:ext cx="13716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6" name="hasse-node"/>
          <p:cNvSpPr/>
          <p:nvPr/>
        </p:nvSpPr>
        <p:spPr>
          <a:xfrm>
            <a:off x="2743200" y="5669280"/>
            <a:ext cx="1371600" cy="457200"/>
          </a:xfrm>
          <a:prstGeom prst="roundRect">
            <a:avLst>
              <a:gd name="adj" fmla="val 50000"/>
            </a:avLst>
          </a:prstGeom>
          <a:solidFill>
            <a:schemeClr val="bg1"/>
          </a:solidFill>
          <a:ln w="15875">
            <a:solidFill>
              <a:schemeClr val="accent4"/>
            </a:solidFill>
            <a:prstDash val="solid"/>
          </a:ln>
        </p:spPr>
      </p:sp>
      <p:sp>
        <p:nvSpPr>
          <p:cNvPr id="27" name="Text 24"/>
          <p:cNvSpPr txBox="1"/>
          <p:nvPr/>
        </p:nvSpPr>
        <p:spPr>
          <a:xfrm>
            <a:off x="2743200" y="5669280"/>
            <a:ext cx="1371600" cy="457200"/>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28" name="Text 25"/>
          <p:cNvSpPr txBox="1"/>
          <p:nvPr/>
        </p:nvSpPr>
        <p:spPr>
          <a:xfrm>
            <a:off x="777240" y="5486400"/>
            <a:ext cx="1417320" cy="640080"/>
          </a:xfrm>
          <a:prstGeom prst="rect">
            <a:avLst/>
          </a:prstGeom>
          <a:noFill/>
          <a:ln/>
        </p:spPr>
        <p:txBody>
          <a:bodyPr wrap="square" lIns="0" tIns="0" rIns="0" bIns="0" rtlCol="0" anchor="b"/>
          <a:lstStyle/>
          <a:p>
            <a:pPr indent="0" marL="0">
              <a:buNone/>
            </a:pPr>
            <a:r>
              <a:rPr lang="en-US" sz="1100" dirty="0">
                <a:solidFill>
                  <a:schemeClr val="tx2"/>
                </a:solidFill>
              </a:rPr>
              <a:t>위쪽이 큰 원소. 초록색 세 칸은 상집합의 한 예</a:t>
            </a:r>
            <a:endParaRPr lang="en-US" sz="1100" dirty="0"/>
          </a:p>
        </p:txBody>
      </p:sp>
      <p:sp>
        <p:nvSpPr>
          <p:cNvPr id="29" name="Text 26"/>
          <p:cNvSpPr txBox="1"/>
          <p:nvPr/>
        </p:nvSpPr>
        <p:spPr>
          <a:xfrm>
            <a:off x="6583680" y="196596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상집합 8개 (위에서부터 채운다)</a:t>
            </a:r>
            <a:endParaRPr lang="en-US" sz="1800" dirty="0"/>
          </a:p>
        </p:txBody>
      </p:sp>
      <p:graphicFrame>
        <p:nvGraphicFramePr>
          <p:cNvPr id="17" name="upset-table"/>
          <p:cNvGraphicFramePr>
            <a:graphicFrameLocks noGrp="1"/>
          </p:cNvGraphicFramePr>
          <p:nvPr>
            <p:extLst>
              <p:ext uri="{D42A27DB-BD31-4B8C-83A1-F6EECF244321}">
                <p14:modId xmlns:p14="http://schemas.microsoft.com/office/powerpoint/2010/main" val="1579011935"/>
              </p:ext>
            </p:extLst>
          </p:nvPr>
        </p:nvGraphicFramePr>
        <p:xfrm>
          <a:off x="6583680" y="2423160"/>
          <a:ext cx="5056632" cy="914400"/>
        </p:xfrm>
        <a:graphic>
          <a:graphicData uri="http://schemas.openxmlformats.org/drawingml/2006/table">
            <a:tbl>
              <a:tblPr/>
              <a:tblGrid>
                <a:gridCol w="640080"/>
                <a:gridCol w="4416552"/>
              </a:tblGrid>
              <a:tr h="365760">
                <a:tc>
                  <a:txBody>
                    <a:bodyPr/>
                    <a:lstStyle/>
                    <a:p>
                      <a:pPr algn="ctr" indent="0" marL="0">
                        <a:buNone/>
                      </a:pPr>
                      <a:r>
                        <a:rPr lang="en-US" sz="1400" b="1" dirty="0">
                          <a:solidFill>
                            <a:schemeClr val="bg1"/>
                          </a:solidFill>
                        </a:rPr>
                        <a:t>#</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상집합에 들어가는 궤도</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365760">
                <a:tc>
                  <a:txBody>
                    <a:bodyPr/>
                    <a:lstStyle/>
                    <a:p>
                      <a:pPr algn="ctr" indent="0" marL="0">
                        <a:buNone/>
                      </a:pPr>
                      <a:r>
                        <a:rPr lang="en-US" sz="1400" dirty="0">
                          <a:solidFill>
                            <a:schemeClr val="tx1"/>
                          </a:solidFill>
                        </a:rPr>
                        <a:t>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없음 (빈 상집합)</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{1,2,3,4}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365760">
                <a:tc>
                  <a:txBody>
                    <a:bodyPr/>
                    <a:lstStyle/>
                    <a:p>
                      <a:pPr algn="ctr" indent="0" marL="0">
                        <a:buNone/>
                      </a:pPr>
                      <a:r>
                        <a:rPr lang="en-US" sz="1400" dirty="0">
                          <a:solidFill>
                            <a:schemeClr val="tx1"/>
                          </a:solidFill>
                        </a:rPr>
                        <a:t>3</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{1,2,3,4}, {1,2,3}</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 {1,2}만</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365760">
                <a:tc>
                  <a:txBody>
                    <a:bodyPr/>
                    <a:lstStyle/>
                    <a:p>
                      <a:pPr algn="ctr" indent="0" marL="0">
                        <a:buNone/>
                      </a:pPr>
                      <a:r>
                        <a:rPr lang="en-US" sz="1400" dirty="0">
                          <a:solidFill>
                            <a:schemeClr val="tx1"/>
                          </a:solidFill>
                        </a:rPr>
                        <a:t>5</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 {1,3}만</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 {1,2}, {1,3} 둘 다</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365760">
                <a:tc>
                  <a:txBody>
                    <a:bodyPr/>
                    <a:lstStyle/>
                    <a:p>
                      <a:pPr algn="ctr" indent="0" marL="0">
                        <a:buNone/>
                      </a:pPr>
                      <a:r>
                        <a:rPr lang="en-US" sz="1400" dirty="0">
                          <a:solidFill>
                            <a:schemeClr val="tx1"/>
                          </a:solidFill>
                        </a:rPr>
                        <a:t>7</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 {1}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365760">
                <a:tc>
                  <a:txBody>
                    <a:bodyPr/>
                    <a:lstStyle/>
                    <a:p>
                      <a:pPr algn="ctr" indent="0" marL="0">
                        <a:buNone/>
                      </a:pPr>
                      <a:r>
                        <a:rPr lang="en-US" sz="1400" dirty="0">
                          <a:solidFill>
                            <a:schemeClr val="tx1"/>
                          </a:solidFill>
                        </a:rPr>
                        <a:t>8</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 ∅ (전체)</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bl>
          </a:graphicData>
        </a:graphic>
      </p:graphicFrame>
      <p:sp>
        <p:nvSpPr>
          <p:cNvPr id="31" name="Text 27"/>
          <p:cNvSpPr txBox="1"/>
          <p:nvPr/>
        </p:nvSpPr>
        <p:spPr>
          <a:xfrm>
            <a:off x="6583680" y="5852160"/>
            <a:ext cx="5056632" cy="365760"/>
          </a:xfrm>
          <a:prstGeom prst="rect">
            <a:avLst/>
          </a:prstGeom>
          <a:noFill/>
          <a:ln/>
        </p:spPr>
        <p:txBody>
          <a:bodyPr wrap="square" lIns="0" tIns="0" rIns="0" bIns="0" rtlCol="0" anchor="ctr"/>
          <a:lstStyle/>
          <a:p>
            <a:pPr indent="0" marL="0">
              <a:buNone/>
            </a:pPr>
            <a:r>
              <a:rPr lang="en-US" sz="1600" b="1" dirty="0">
                <a:solidFill>
                  <a:schemeClr val="accent1"/>
                </a:solidFill>
              </a:rPr>
              <a:t>|Fix</a:t>
            </a:r>
            <a:r>
              <a:rPr lang="en-US" sz="1600" b="1" baseline="-40000" dirty="0">
                <a:solidFill>
                  <a:schemeClr val="accent1"/>
                </a:solidFill>
              </a:rPr>
              <a:t>M</a:t>
            </a:r>
            <a:r>
              <a:rPr lang="en-US" sz="1600" b="1" dirty="0">
                <a:solidFill>
                  <a:schemeClr val="accent1"/>
                </a:solidFill>
              </a:rPr>
              <a:t>((1234))| = 1+1+1+3+1+1 = 8</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28</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단조 Fix의 다섯 값</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켤레류마다 P</a:t>
            </a:r>
            <a:r>
              <a:rPr lang="en-US" sz="1800" baseline="-40000" dirty="0">
                <a:solidFill>
                  <a:schemeClr val="tx2"/>
                </a:solidFill>
              </a:rPr>
              <a:t>σ</a:t>
            </a:r>
            <a:r>
              <a:rPr lang="en-US" sz="1800" dirty="0">
                <a:solidFill>
                  <a:schemeClr val="tx2"/>
                </a:solidFill>
              </a:rPr>
              <a:t>가 달라지고, 각각 알려진 방법으로 센다</a:t>
            </a:r>
            <a:endParaRPr lang="en-US" sz="1800" dirty="0"/>
          </a:p>
        </p:txBody>
      </p:sp>
      <p:sp>
        <p:nvSpPr>
          <p:cNvPr id="8" name="method-row"/>
          <p:cNvSpPr/>
          <p:nvPr/>
        </p:nvSpPr>
        <p:spPr>
          <a:xfrm>
            <a:off x="548640" y="1920240"/>
            <a:ext cx="11091672" cy="676656"/>
          </a:xfrm>
          <a:prstGeom prst="roundRect">
            <a:avLst>
              <a:gd name="adj" fmla="val 10811"/>
            </a:avLst>
          </a:prstGeom>
          <a:solidFill>
            <a:schemeClr val="bg2"/>
          </a:solidFill>
          <a:ln w="3175">
            <a:solidFill>
              <a:schemeClr val="bg2"/>
            </a:solidFill>
            <a:prstDash val="solid"/>
          </a:ln>
        </p:spPr>
      </p:sp>
      <p:sp>
        <p:nvSpPr>
          <p:cNvPr id="9" name="Text 6"/>
          <p:cNvSpPr txBox="1"/>
          <p:nvPr/>
        </p:nvSpPr>
        <p:spPr>
          <a:xfrm>
            <a:off x="731520" y="1920240"/>
            <a:ext cx="2103120" cy="676656"/>
          </a:xfrm>
          <a:prstGeom prst="rect">
            <a:avLst/>
          </a:prstGeom>
          <a:noFill/>
          <a:ln/>
        </p:spPr>
        <p:txBody>
          <a:bodyPr wrap="square" lIns="0" tIns="0" rIns="0" bIns="0" rtlCol="0" anchor="ctr"/>
          <a:lstStyle/>
          <a:p>
            <a:pPr indent="0" marL="0">
              <a:buNone/>
            </a:pPr>
            <a:r>
              <a:rPr lang="en-US" sz="1600" b="1" dirty="0">
                <a:solidFill>
                  <a:schemeClr val="accent2"/>
                </a:solidFill>
              </a:rPr>
              <a:t>C₁  id</a:t>
            </a:r>
            <a:endParaRPr lang="en-US" sz="1600" dirty="0"/>
          </a:p>
        </p:txBody>
      </p:sp>
      <p:sp>
        <p:nvSpPr>
          <p:cNvPr id="10" name="Text 7"/>
          <p:cNvSpPr txBox="1"/>
          <p:nvPr/>
        </p:nvSpPr>
        <p:spPr>
          <a:xfrm>
            <a:off x="2926080" y="1920240"/>
            <a:ext cx="3383280" cy="676656"/>
          </a:xfrm>
          <a:prstGeom prst="rect">
            <a:avLst/>
          </a:prstGeom>
          <a:noFill/>
          <a:ln/>
        </p:spPr>
        <p:txBody>
          <a:bodyPr wrap="square" lIns="0" tIns="0" rIns="0" bIns="0" rtlCol="0" anchor="ctr"/>
          <a:lstStyle/>
          <a:p>
            <a:pPr indent="0" marL="0">
              <a:buNone/>
            </a:pPr>
            <a:r>
              <a:rPr lang="en-US" sz="1500" dirty="0">
                <a:solidFill>
                  <a:schemeClr val="tx1"/>
                </a:solidFill>
              </a:rPr>
              <a:t>P = 2</a:t>
            </a:r>
            <a:r>
              <a:rPr lang="en-US" sz="1500" baseline="30000" dirty="0">
                <a:solidFill>
                  <a:schemeClr val="tx1"/>
                </a:solidFill>
              </a:rPr>
              <a:t>[4]</a:t>
            </a:r>
            <a:r>
              <a:rPr lang="en-US" sz="1500" dirty="0">
                <a:solidFill>
                  <a:schemeClr val="tx1"/>
                </a:solidFill>
              </a:rPr>
              <a:t> (16원소)</a:t>
            </a:r>
            <a:endParaRPr lang="en-US" sz="1500" dirty="0"/>
          </a:p>
        </p:txBody>
      </p:sp>
      <p:sp>
        <p:nvSpPr>
          <p:cNvPr id="11" name="Text 8"/>
          <p:cNvSpPr txBox="1"/>
          <p:nvPr/>
        </p:nvSpPr>
        <p:spPr>
          <a:xfrm>
            <a:off x="6400800" y="1920240"/>
            <a:ext cx="3108960" cy="676656"/>
          </a:xfrm>
          <a:prstGeom prst="rect">
            <a:avLst/>
          </a:prstGeom>
          <a:noFill/>
          <a:ln/>
        </p:spPr>
        <p:txBody>
          <a:bodyPr wrap="square" lIns="0" tIns="0" rIns="0" bIns="0" rtlCol="0" anchor="ctr"/>
          <a:lstStyle/>
          <a:p>
            <a:pPr indent="0" marL="0">
              <a:buNone/>
            </a:pPr>
            <a:r>
              <a:rPr lang="en-US" sz="1600" b="1" dirty="0">
                <a:solidFill>
                  <a:schemeClr val="tx1"/>
                </a:solidFill>
              </a:rPr>
              <a:t>상집합 수 = 168</a:t>
            </a:r>
            <a:endParaRPr lang="en-US" sz="1600" dirty="0"/>
          </a:p>
        </p:txBody>
      </p:sp>
      <p:sp>
        <p:nvSpPr>
          <p:cNvPr id="12" name="Text 9"/>
          <p:cNvSpPr txBox="1"/>
          <p:nvPr/>
        </p:nvSpPr>
        <p:spPr>
          <a:xfrm>
            <a:off x="9601200" y="1920240"/>
            <a:ext cx="1920240" cy="676656"/>
          </a:xfrm>
          <a:prstGeom prst="rect">
            <a:avLst/>
          </a:prstGeom>
          <a:noFill/>
          <a:ln/>
        </p:spPr>
        <p:txBody>
          <a:bodyPr wrap="square" lIns="0" tIns="0" rIns="0" bIns="0" rtlCol="0" anchor="ctr"/>
          <a:lstStyle/>
          <a:p>
            <a:pPr indent="0" marL="0">
              <a:buNone/>
            </a:pPr>
            <a:r>
              <a:rPr lang="en-US" sz="1300" dirty="0">
                <a:solidFill>
                  <a:schemeClr val="tx2"/>
                </a:solidFill>
              </a:rPr>
              <a:t>Dedekind 수 (1897)</a:t>
            </a:r>
            <a:endParaRPr lang="en-US" sz="1300" dirty="0"/>
          </a:p>
        </p:txBody>
      </p:sp>
      <p:sp>
        <p:nvSpPr>
          <p:cNvPr id="13" name="method-row"/>
          <p:cNvSpPr/>
          <p:nvPr/>
        </p:nvSpPr>
        <p:spPr>
          <a:xfrm>
            <a:off x="548640" y="2679192"/>
            <a:ext cx="11091672" cy="676656"/>
          </a:xfrm>
          <a:prstGeom prst="roundRect">
            <a:avLst>
              <a:gd name="adj" fmla="val 10811"/>
            </a:avLst>
          </a:prstGeom>
          <a:solidFill>
            <a:schemeClr val="bg2"/>
          </a:solidFill>
          <a:ln w="3175">
            <a:solidFill>
              <a:schemeClr val="bg2"/>
            </a:solidFill>
            <a:prstDash val="solid"/>
          </a:ln>
        </p:spPr>
      </p:sp>
      <p:sp>
        <p:nvSpPr>
          <p:cNvPr id="14" name="Text 11"/>
          <p:cNvSpPr txBox="1"/>
          <p:nvPr/>
        </p:nvSpPr>
        <p:spPr>
          <a:xfrm>
            <a:off x="731520" y="2679192"/>
            <a:ext cx="2103120" cy="676656"/>
          </a:xfrm>
          <a:prstGeom prst="rect">
            <a:avLst/>
          </a:prstGeom>
          <a:noFill/>
          <a:ln/>
        </p:spPr>
        <p:txBody>
          <a:bodyPr wrap="square" lIns="0" tIns="0" rIns="0" bIns="0" rtlCol="0" anchor="ctr"/>
          <a:lstStyle/>
          <a:p>
            <a:pPr indent="0" marL="0">
              <a:buNone/>
            </a:pPr>
            <a:r>
              <a:rPr lang="en-US" sz="1600" b="1" dirty="0">
                <a:solidFill>
                  <a:schemeClr val="accent2"/>
                </a:solidFill>
              </a:rPr>
              <a:t>C₂  (12)</a:t>
            </a:r>
            <a:endParaRPr lang="en-US" sz="1600" dirty="0"/>
          </a:p>
        </p:txBody>
      </p:sp>
      <p:sp>
        <p:nvSpPr>
          <p:cNvPr id="15" name="Text 12"/>
          <p:cNvSpPr txBox="1"/>
          <p:nvPr/>
        </p:nvSpPr>
        <p:spPr>
          <a:xfrm>
            <a:off x="2926080" y="2679192"/>
            <a:ext cx="3383280" cy="676656"/>
          </a:xfrm>
          <a:prstGeom prst="rect">
            <a:avLst/>
          </a:prstGeom>
          <a:noFill/>
          <a:ln/>
        </p:spPr>
        <p:txBody>
          <a:bodyPr wrap="square" lIns="0" tIns="0" rIns="0" bIns="0" rtlCol="0" anchor="ctr"/>
          <a:lstStyle/>
          <a:p>
            <a:pPr indent="0" marL="0">
              <a:buNone/>
            </a:pPr>
            <a:r>
              <a:rPr lang="en-US" sz="1500" dirty="0">
                <a:solidFill>
                  <a:schemeClr val="tx1"/>
                </a:solidFill>
              </a:rPr>
              <a:t>P = 3 × 2 × 2 (사슬의 곱)</a:t>
            </a:r>
            <a:endParaRPr lang="en-US" sz="1500" dirty="0"/>
          </a:p>
        </p:txBody>
      </p:sp>
      <p:sp>
        <p:nvSpPr>
          <p:cNvPr id="16" name="Text 13"/>
          <p:cNvSpPr txBox="1"/>
          <p:nvPr/>
        </p:nvSpPr>
        <p:spPr>
          <a:xfrm>
            <a:off x="6400800" y="2679192"/>
            <a:ext cx="3108960" cy="676656"/>
          </a:xfrm>
          <a:prstGeom prst="rect">
            <a:avLst/>
          </a:prstGeom>
          <a:noFill/>
          <a:ln/>
        </p:spPr>
        <p:txBody>
          <a:bodyPr wrap="square" lIns="0" tIns="0" rIns="0" bIns="0" rtlCol="0" anchor="ctr"/>
          <a:lstStyle/>
          <a:p>
            <a:pPr indent="0" marL="0">
              <a:buNone/>
            </a:pPr>
            <a:r>
              <a:rPr lang="en-US" sz="1600" b="1" dirty="0">
                <a:solidFill>
                  <a:schemeClr val="tx1"/>
                </a:solidFill>
              </a:rPr>
              <a:t>평면분할 PP(2,2,3) = 50</a:t>
            </a:r>
            <a:endParaRPr lang="en-US" sz="1600" dirty="0"/>
          </a:p>
        </p:txBody>
      </p:sp>
      <p:sp>
        <p:nvSpPr>
          <p:cNvPr id="17" name="Text 14"/>
          <p:cNvSpPr txBox="1"/>
          <p:nvPr/>
        </p:nvSpPr>
        <p:spPr>
          <a:xfrm>
            <a:off x="9601200" y="2679192"/>
            <a:ext cx="1920240" cy="676656"/>
          </a:xfrm>
          <a:prstGeom prst="rect">
            <a:avLst/>
          </a:prstGeom>
          <a:noFill/>
          <a:ln/>
        </p:spPr>
        <p:txBody>
          <a:bodyPr wrap="square" lIns="0" tIns="0" rIns="0" bIns="0" rtlCol="0" anchor="ctr"/>
          <a:lstStyle/>
          <a:p>
            <a:pPr indent="0" marL="0">
              <a:buNone/>
            </a:pPr>
            <a:r>
              <a:rPr lang="en-US" sz="1300" dirty="0">
                <a:solidFill>
                  <a:schemeClr val="tx2"/>
                </a:solidFill>
              </a:rPr>
              <a:t>MacMahon (1916)</a:t>
            </a:r>
            <a:endParaRPr lang="en-US" sz="1300" dirty="0"/>
          </a:p>
        </p:txBody>
      </p:sp>
      <p:sp>
        <p:nvSpPr>
          <p:cNvPr id="18" name="method-row"/>
          <p:cNvSpPr/>
          <p:nvPr/>
        </p:nvSpPr>
        <p:spPr>
          <a:xfrm>
            <a:off x="548640" y="3438144"/>
            <a:ext cx="11091672" cy="676656"/>
          </a:xfrm>
          <a:prstGeom prst="roundRect">
            <a:avLst>
              <a:gd name="adj" fmla="val 10811"/>
            </a:avLst>
          </a:prstGeom>
          <a:solidFill>
            <a:schemeClr val="bg2"/>
          </a:solidFill>
          <a:ln w="3175">
            <a:solidFill>
              <a:schemeClr val="bg2"/>
            </a:solidFill>
            <a:prstDash val="solid"/>
          </a:ln>
        </p:spPr>
      </p:sp>
      <p:sp>
        <p:nvSpPr>
          <p:cNvPr id="19" name="Text 16"/>
          <p:cNvSpPr txBox="1"/>
          <p:nvPr/>
        </p:nvSpPr>
        <p:spPr>
          <a:xfrm>
            <a:off x="731520" y="3438144"/>
            <a:ext cx="2103120" cy="676656"/>
          </a:xfrm>
          <a:prstGeom prst="rect">
            <a:avLst/>
          </a:prstGeom>
          <a:noFill/>
          <a:ln/>
        </p:spPr>
        <p:txBody>
          <a:bodyPr wrap="square" lIns="0" tIns="0" rIns="0" bIns="0" rtlCol="0" anchor="ctr"/>
          <a:lstStyle/>
          <a:p>
            <a:pPr indent="0" marL="0">
              <a:buNone/>
            </a:pPr>
            <a:r>
              <a:rPr lang="en-US" sz="1600" b="1" dirty="0">
                <a:solidFill>
                  <a:schemeClr val="accent2"/>
                </a:solidFill>
              </a:rPr>
              <a:t>C₃  (12)(34)</a:t>
            </a:r>
            <a:endParaRPr lang="en-US" sz="1600" dirty="0"/>
          </a:p>
        </p:txBody>
      </p:sp>
      <p:sp>
        <p:nvSpPr>
          <p:cNvPr id="20" name="Text 17"/>
          <p:cNvSpPr txBox="1"/>
          <p:nvPr/>
        </p:nvSpPr>
        <p:spPr>
          <a:xfrm>
            <a:off x="2926080" y="3438144"/>
            <a:ext cx="3383280" cy="676656"/>
          </a:xfrm>
          <a:prstGeom prst="rect">
            <a:avLst/>
          </a:prstGeom>
          <a:noFill/>
          <a:ln/>
        </p:spPr>
        <p:txBody>
          <a:bodyPr wrap="square" lIns="0" tIns="0" rIns="0" bIns="0" rtlCol="0" anchor="ctr"/>
          <a:lstStyle/>
          <a:p>
            <a:pPr indent="0" marL="0">
              <a:buNone/>
            </a:pPr>
            <a:r>
              <a:rPr lang="en-US" sz="1500" dirty="0">
                <a:solidFill>
                  <a:schemeClr val="tx1"/>
                </a:solidFill>
              </a:rPr>
              <a:t>궤도 10개의 순서집합</a:t>
            </a:r>
            <a:endParaRPr lang="en-US" sz="1500" dirty="0"/>
          </a:p>
        </p:txBody>
      </p:sp>
      <p:sp>
        <p:nvSpPr>
          <p:cNvPr id="21" name="Text 18"/>
          <p:cNvSpPr txBox="1"/>
          <p:nvPr/>
        </p:nvSpPr>
        <p:spPr>
          <a:xfrm>
            <a:off x="6400800" y="3438144"/>
            <a:ext cx="3108960" cy="676656"/>
          </a:xfrm>
          <a:prstGeom prst="rect">
            <a:avLst/>
          </a:prstGeom>
          <a:noFill/>
          <a:ln/>
        </p:spPr>
        <p:txBody>
          <a:bodyPr wrap="square" lIns="0" tIns="0" rIns="0" bIns="0" rtlCol="0" anchor="ctr"/>
          <a:lstStyle/>
          <a:p>
            <a:pPr indent="0" marL="0">
              <a:buNone/>
            </a:pPr>
            <a:r>
              <a:rPr lang="en-US" sz="1600" b="1" dirty="0">
                <a:solidFill>
                  <a:schemeClr val="tx1"/>
                </a:solidFill>
              </a:rPr>
              <a:t>층별로 세어 28</a:t>
            </a:r>
            <a:endParaRPr lang="en-US" sz="1600" dirty="0"/>
          </a:p>
        </p:txBody>
      </p:sp>
      <p:sp>
        <p:nvSpPr>
          <p:cNvPr id="22" name="Text 19"/>
          <p:cNvSpPr txBox="1"/>
          <p:nvPr/>
        </p:nvSpPr>
        <p:spPr>
          <a:xfrm>
            <a:off x="9601200" y="3438144"/>
            <a:ext cx="1920240" cy="676656"/>
          </a:xfrm>
          <a:prstGeom prst="rect">
            <a:avLst/>
          </a:prstGeom>
          <a:noFill/>
          <a:ln/>
        </p:spPr>
        <p:txBody>
          <a:bodyPr wrap="square" lIns="0" tIns="0" rIns="0" bIns="0" rtlCol="0" anchor="ctr"/>
          <a:lstStyle/>
          <a:p>
            <a:pPr indent="0" marL="0">
              <a:buNone/>
            </a:pPr>
            <a:r>
              <a:rPr lang="en-US" sz="1300" dirty="0">
                <a:solidFill>
                  <a:schemeClr val="tx2"/>
                </a:solidFill>
              </a:rPr>
              <a:t>손 계산</a:t>
            </a:r>
            <a:endParaRPr lang="en-US" sz="1300" dirty="0"/>
          </a:p>
        </p:txBody>
      </p:sp>
      <p:sp>
        <p:nvSpPr>
          <p:cNvPr id="23" name="method-row"/>
          <p:cNvSpPr/>
          <p:nvPr/>
        </p:nvSpPr>
        <p:spPr>
          <a:xfrm>
            <a:off x="548640" y="4197096"/>
            <a:ext cx="11091672" cy="676656"/>
          </a:xfrm>
          <a:prstGeom prst="roundRect">
            <a:avLst>
              <a:gd name="adj" fmla="val 10811"/>
            </a:avLst>
          </a:prstGeom>
          <a:solidFill>
            <a:schemeClr val="bg2"/>
          </a:solidFill>
          <a:ln w="3175">
            <a:solidFill>
              <a:schemeClr val="bg2"/>
            </a:solidFill>
            <a:prstDash val="solid"/>
          </a:ln>
        </p:spPr>
      </p:sp>
      <p:sp>
        <p:nvSpPr>
          <p:cNvPr id="24" name="Text 21"/>
          <p:cNvSpPr txBox="1"/>
          <p:nvPr/>
        </p:nvSpPr>
        <p:spPr>
          <a:xfrm>
            <a:off x="731520" y="4197096"/>
            <a:ext cx="2103120" cy="676656"/>
          </a:xfrm>
          <a:prstGeom prst="rect">
            <a:avLst/>
          </a:prstGeom>
          <a:noFill/>
          <a:ln/>
        </p:spPr>
        <p:txBody>
          <a:bodyPr wrap="square" lIns="0" tIns="0" rIns="0" bIns="0" rtlCol="0" anchor="ctr"/>
          <a:lstStyle/>
          <a:p>
            <a:pPr indent="0" marL="0">
              <a:buNone/>
            </a:pPr>
            <a:r>
              <a:rPr lang="en-US" sz="1600" b="1" dirty="0">
                <a:solidFill>
                  <a:schemeClr val="accent2"/>
                </a:solidFill>
              </a:rPr>
              <a:t>C₄  (123)</a:t>
            </a:r>
            <a:endParaRPr lang="en-US" sz="1600" dirty="0"/>
          </a:p>
        </p:txBody>
      </p:sp>
      <p:sp>
        <p:nvSpPr>
          <p:cNvPr id="25" name="Text 22"/>
          <p:cNvSpPr txBox="1"/>
          <p:nvPr/>
        </p:nvSpPr>
        <p:spPr>
          <a:xfrm>
            <a:off x="2926080" y="4197096"/>
            <a:ext cx="3383280" cy="676656"/>
          </a:xfrm>
          <a:prstGeom prst="rect">
            <a:avLst/>
          </a:prstGeom>
          <a:noFill/>
          <a:ln/>
        </p:spPr>
        <p:txBody>
          <a:bodyPr wrap="square" lIns="0" tIns="0" rIns="0" bIns="0" rtlCol="0" anchor="ctr"/>
          <a:lstStyle/>
          <a:p>
            <a:pPr indent="0" marL="0">
              <a:buNone/>
            </a:pPr>
            <a:r>
              <a:rPr lang="en-US" sz="1500" dirty="0">
                <a:solidFill>
                  <a:schemeClr val="tx1"/>
                </a:solidFill>
              </a:rPr>
              <a:t>P = 4 × 2</a:t>
            </a:r>
            <a:endParaRPr lang="en-US" sz="1500" dirty="0"/>
          </a:p>
        </p:txBody>
      </p:sp>
      <p:sp>
        <p:nvSpPr>
          <p:cNvPr id="26" name="Text 23"/>
          <p:cNvSpPr txBox="1"/>
          <p:nvPr/>
        </p:nvSpPr>
        <p:spPr>
          <a:xfrm>
            <a:off x="6400800" y="4197096"/>
            <a:ext cx="3108960" cy="676656"/>
          </a:xfrm>
          <a:prstGeom prst="rect">
            <a:avLst/>
          </a:prstGeom>
          <a:noFill/>
          <a:ln/>
        </p:spPr>
        <p:txBody>
          <a:bodyPr wrap="square" lIns="0" tIns="0" rIns="0" bIns="0" rtlCol="0" anchor="ctr"/>
          <a:lstStyle/>
          <a:p>
            <a:pPr indent="0" marL="0">
              <a:buNone/>
            </a:pPr>
            <a:r>
              <a:rPr lang="en-US" sz="1600" b="1" dirty="0">
                <a:solidFill>
                  <a:schemeClr val="tx1"/>
                </a:solidFill>
              </a:rPr>
              <a:t>격자 경로 C(6,2) = 15</a:t>
            </a:r>
            <a:endParaRPr lang="en-US" sz="1600" dirty="0"/>
          </a:p>
        </p:txBody>
      </p:sp>
      <p:sp>
        <p:nvSpPr>
          <p:cNvPr id="27" name="Text 24"/>
          <p:cNvSpPr txBox="1"/>
          <p:nvPr/>
        </p:nvSpPr>
        <p:spPr>
          <a:xfrm>
            <a:off x="9601200" y="4197096"/>
            <a:ext cx="1920240" cy="676656"/>
          </a:xfrm>
          <a:prstGeom prst="rect">
            <a:avLst/>
          </a:prstGeom>
          <a:noFill/>
          <a:ln/>
        </p:spPr>
        <p:txBody>
          <a:bodyPr wrap="square" lIns="0" tIns="0" rIns="0" bIns="0" rtlCol="0" anchor="ctr"/>
          <a:lstStyle/>
          <a:p>
            <a:pPr indent="0" marL="0">
              <a:buNone/>
            </a:pPr>
            <a:r>
              <a:rPr lang="en-US" sz="1300" dirty="0">
                <a:solidFill>
                  <a:schemeClr val="tx2"/>
                </a:solidFill>
              </a:rPr>
              <a:t>두 사슬의 곱</a:t>
            </a:r>
            <a:endParaRPr lang="en-US" sz="1300" dirty="0"/>
          </a:p>
        </p:txBody>
      </p:sp>
      <p:sp>
        <p:nvSpPr>
          <p:cNvPr id="28" name="method-row"/>
          <p:cNvSpPr/>
          <p:nvPr/>
        </p:nvSpPr>
        <p:spPr>
          <a:xfrm>
            <a:off x="548640" y="4956048"/>
            <a:ext cx="11091672" cy="676656"/>
          </a:xfrm>
          <a:prstGeom prst="roundRect">
            <a:avLst>
              <a:gd name="adj" fmla="val 10811"/>
            </a:avLst>
          </a:prstGeom>
          <a:solidFill>
            <a:schemeClr val="bg2"/>
          </a:solidFill>
          <a:ln w="3175">
            <a:solidFill>
              <a:schemeClr val="bg2"/>
            </a:solidFill>
            <a:prstDash val="solid"/>
          </a:ln>
        </p:spPr>
      </p:sp>
      <p:sp>
        <p:nvSpPr>
          <p:cNvPr id="29" name="Text 26"/>
          <p:cNvSpPr txBox="1"/>
          <p:nvPr/>
        </p:nvSpPr>
        <p:spPr>
          <a:xfrm>
            <a:off x="731520" y="4956048"/>
            <a:ext cx="2103120" cy="676656"/>
          </a:xfrm>
          <a:prstGeom prst="rect">
            <a:avLst/>
          </a:prstGeom>
          <a:noFill/>
          <a:ln/>
        </p:spPr>
        <p:txBody>
          <a:bodyPr wrap="square" lIns="0" tIns="0" rIns="0" bIns="0" rtlCol="0" anchor="ctr"/>
          <a:lstStyle/>
          <a:p>
            <a:pPr indent="0" marL="0">
              <a:buNone/>
            </a:pPr>
            <a:r>
              <a:rPr lang="en-US" sz="1600" b="1" dirty="0">
                <a:solidFill>
                  <a:schemeClr val="accent2"/>
                </a:solidFill>
              </a:rPr>
              <a:t>C₅  (1234)</a:t>
            </a:r>
            <a:endParaRPr lang="en-US" sz="1600" dirty="0"/>
          </a:p>
        </p:txBody>
      </p:sp>
      <p:sp>
        <p:nvSpPr>
          <p:cNvPr id="30" name="Text 27"/>
          <p:cNvSpPr txBox="1"/>
          <p:nvPr/>
        </p:nvSpPr>
        <p:spPr>
          <a:xfrm>
            <a:off x="2926080" y="4956048"/>
            <a:ext cx="3383280" cy="676656"/>
          </a:xfrm>
          <a:prstGeom prst="rect">
            <a:avLst/>
          </a:prstGeom>
          <a:noFill/>
          <a:ln/>
        </p:spPr>
        <p:txBody>
          <a:bodyPr wrap="square" lIns="0" tIns="0" rIns="0" bIns="0" rtlCol="0" anchor="ctr"/>
          <a:lstStyle/>
          <a:p>
            <a:pPr indent="0" marL="0">
              <a:buNone/>
            </a:pPr>
            <a:r>
              <a:rPr lang="en-US" sz="1500" dirty="0">
                <a:solidFill>
                  <a:schemeClr val="tx1"/>
                </a:solidFill>
              </a:rPr>
              <a:t>궤도 6개 (목걸이)</a:t>
            </a:r>
            <a:endParaRPr lang="en-US" sz="1500" dirty="0"/>
          </a:p>
        </p:txBody>
      </p:sp>
      <p:sp>
        <p:nvSpPr>
          <p:cNvPr id="31" name="Text 28"/>
          <p:cNvSpPr txBox="1"/>
          <p:nvPr/>
        </p:nvSpPr>
        <p:spPr>
          <a:xfrm>
            <a:off x="6400800" y="4956048"/>
            <a:ext cx="3108960" cy="676656"/>
          </a:xfrm>
          <a:prstGeom prst="rect">
            <a:avLst/>
          </a:prstGeom>
          <a:noFill/>
          <a:ln/>
        </p:spPr>
        <p:txBody>
          <a:bodyPr wrap="square" lIns="0" tIns="0" rIns="0" bIns="0" rtlCol="0" anchor="ctr"/>
          <a:lstStyle/>
          <a:p>
            <a:pPr indent="0" marL="0">
              <a:buNone/>
            </a:pPr>
            <a:r>
              <a:rPr lang="en-US" sz="1600" b="1" dirty="0">
                <a:solidFill>
                  <a:schemeClr val="tx1"/>
                </a:solidFill>
              </a:rPr>
              <a:t>앞 장에서 8</a:t>
            </a:r>
            <a:endParaRPr lang="en-US" sz="1600" dirty="0"/>
          </a:p>
        </p:txBody>
      </p:sp>
      <p:sp>
        <p:nvSpPr>
          <p:cNvPr id="32" name="Text 29"/>
          <p:cNvSpPr txBox="1"/>
          <p:nvPr/>
        </p:nvSpPr>
        <p:spPr>
          <a:xfrm>
            <a:off x="9601200" y="4956048"/>
            <a:ext cx="1920240" cy="676656"/>
          </a:xfrm>
          <a:prstGeom prst="rect">
            <a:avLst/>
          </a:prstGeom>
          <a:noFill/>
          <a:ln/>
        </p:spPr>
        <p:txBody>
          <a:bodyPr wrap="square" lIns="0" tIns="0" rIns="0" bIns="0" rtlCol="0" anchor="ctr"/>
          <a:lstStyle/>
          <a:p>
            <a:pPr indent="0" marL="0">
              <a:buNone/>
            </a:pPr>
            <a:r>
              <a:rPr lang="en-US" sz="1300" dirty="0">
                <a:solidFill>
                  <a:schemeClr val="tx2"/>
                </a:solidFill>
              </a:rPr>
              <a:t>손 계산</a:t>
            </a:r>
            <a:endParaRPr lang="en-US" sz="1300" dirty="0"/>
          </a:p>
        </p:txBody>
      </p:sp>
      <p:sp>
        <p:nvSpPr>
          <p:cNvPr id="33" name="result-line"/>
          <p:cNvSpPr txBox="1"/>
          <p:nvPr/>
        </p:nvSpPr>
        <p:spPr>
          <a:xfrm>
            <a:off x="548640" y="5852160"/>
            <a:ext cx="11091672" cy="457200"/>
          </a:xfrm>
          <a:prstGeom prst="rect">
            <a:avLst/>
          </a:prstGeom>
          <a:noFill/>
          <a:ln/>
        </p:spPr>
        <p:txBody>
          <a:bodyPr wrap="square" lIns="0" tIns="0" rIns="0" bIns="0" rtlCol="0" anchor="ctr"/>
          <a:lstStyle/>
          <a:p>
            <a:pPr algn="ctr" indent="0" marL="0">
              <a:buNone/>
            </a:pPr>
            <a:r>
              <a:rPr lang="en-US" sz="2400" b="1" dirty="0">
                <a:solidFill>
                  <a:schemeClr val="accent1"/>
                </a:solidFill>
              </a:rPr>
              <a:t>168 + 6·50 + 3·28 + 8·15 + 6·8 = 720    →    720 / 24 = 30 궤도</a:t>
            </a:r>
            <a:endParaRPr lang="en-US" sz="2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29</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단조 공간의 30개 궤도</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크기 24인 궤도는 없다: 안정화군이 자명한 단조 함수는 없다</a:t>
            </a:r>
            <a:endParaRPr lang="en-US" sz="1800" dirty="0"/>
          </a:p>
        </p:txBody>
      </p:sp>
      <p:graphicFrame>
        <p:nvGraphicFramePr>
          <p:cNvPr id="8" name="Chart 0" descr=""/>
          <p:cNvGraphicFramePr/>
          <p:nvPr/>
        </p:nvGraphicFramePr>
        <p:xfrm>
          <a:off x="548640" y="1920240"/>
          <a:ext cx="585216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monotone-examples"/>
          <p:cNvGraphicFramePr>
            <a:graphicFrameLocks noGrp="1"/>
          </p:cNvGraphicFramePr>
          <p:nvPr>
            <p:extLst>
              <p:ext uri="{D42A27DB-BD31-4B8C-83A1-F6EECF244321}">
                <p14:modId xmlns:p14="http://schemas.microsoft.com/office/powerpoint/2010/main" val="1579011935"/>
              </p:ext>
            </p:extLst>
          </p:nvPr>
        </p:nvGraphicFramePr>
        <p:xfrm>
          <a:off x="6629400" y="2011680"/>
          <a:ext cx="5010912" cy="914400"/>
        </p:xfrm>
        <a:graphic>
          <a:graphicData uri="http://schemas.openxmlformats.org/drawingml/2006/table">
            <a:tbl>
              <a:tblPr/>
              <a:tblGrid>
                <a:gridCol w="1234440"/>
                <a:gridCol w="3776472"/>
              </a:tblGrid>
              <a:tr h="566928">
                <a:tc>
                  <a:txBody>
                    <a:bodyPr/>
                    <a:lstStyle/>
                    <a:p>
                      <a:pPr algn="ctr" indent="0" marL="0">
                        <a:buNone/>
                      </a:pPr>
                      <a:r>
                        <a:rPr lang="en-US" sz="1400" b="1" dirty="0">
                          <a:solidFill>
                            <a:schemeClr val="bg1"/>
                          </a:solidFill>
                        </a:rPr>
                        <a:t>크기</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대표 함수의 예</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566928">
                <a:tc>
                  <a:txBody>
                    <a:bodyPr/>
                    <a:lstStyle/>
                    <a:p>
                      <a:pPr algn="ctr" indent="0" marL="0">
                        <a:buNone/>
                      </a:pPr>
                      <a:r>
                        <a:rPr lang="en-US" sz="1400" dirty="0">
                          <a:solidFill>
                            <a:schemeClr val="tx1"/>
                          </a:solidFill>
                        </a:rPr>
                        <a:t>1 (6개)</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At-Least-k (k = 0, 1, …, 5)</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566928">
                <a:tc>
                  <a:txBody>
                    <a:bodyPr/>
                    <a:lstStyle/>
                    <a:p>
                      <a:pPr algn="ctr" indent="0" marL="0">
                        <a:buNone/>
                      </a:pPr>
                      <a:r>
                        <a:rPr lang="en-US" sz="1400" dirty="0">
                          <a:solidFill>
                            <a:schemeClr val="tx1"/>
                          </a:solidFill>
                        </a:rPr>
                        <a:t>3 (2개)</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x</a:t>
                      </a:r>
                      <a:r>
                        <a:rPr lang="en-US" sz="1400" baseline="-40000" dirty="0">
                          <a:solidFill>
                            <a:schemeClr val="tx1"/>
                          </a:solidFill>
                        </a:rPr>
                        <a:t>2</a:t>
                      </a:r>
                      <a:r>
                        <a:rPr lang="en-US" sz="1400" dirty="0">
                          <a:solidFill>
                            <a:schemeClr val="tx1"/>
                          </a:solidFill>
                        </a:rPr>
                        <a:t> ∨ x</a:t>
                      </a:r>
                      <a:r>
                        <a:rPr lang="en-US" sz="1400" baseline="-40000" dirty="0">
                          <a:solidFill>
                            <a:schemeClr val="tx1"/>
                          </a:solidFill>
                        </a:rPr>
                        <a:t>3</a:t>
                      </a:r>
                      <a:r>
                        <a:rPr lang="en-US" sz="1400" dirty="0">
                          <a:solidFill>
                            <a:schemeClr val="tx1"/>
                          </a:solidFill>
                        </a:rPr>
                        <a:t>x</a:t>
                      </a:r>
                      <a:r>
                        <a:rPr lang="en-US" sz="1400" baseline="-40000" dirty="0">
                          <a:solidFill>
                            <a:schemeClr val="tx1"/>
                          </a:solidFill>
                        </a:rPr>
                        <a:t>4</a:t>
                      </a:r>
                      <a:r>
                        <a:rPr lang="en-US" sz="1400" dirty="0">
                          <a:solidFill>
                            <a:schemeClr val="tx1"/>
                          </a:solidFill>
                        </a:rPr>
                        <a:t>,  (x</a:t>
                      </a:r>
                      <a:r>
                        <a:rPr lang="en-US" sz="1400" baseline="-40000" dirty="0">
                          <a:solidFill>
                            <a:schemeClr val="tx1"/>
                          </a:solidFill>
                        </a:rPr>
                        <a:t>1</a:t>
                      </a:r>
                      <a:r>
                        <a:rPr lang="en-US" sz="1400" dirty="0">
                          <a:solidFill>
                            <a:schemeClr val="tx1"/>
                          </a:solidFill>
                        </a:rPr>
                        <a:t>∨x</a:t>
                      </a:r>
                      <a:r>
                        <a:rPr lang="en-US" sz="1400" baseline="-40000" dirty="0">
                          <a:solidFill>
                            <a:schemeClr val="tx1"/>
                          </a:solidFill>
                        </a:rPr>
                        <a:t>2</a:t>
                      </a:r>
                      <a:r>
                        <a:rPr lang="en-US" sz="1400" dirty="0">
                          <a:solidFill>
                            <a:schemeClr val="tx1"/>
                          </a:solidFill>
                        </a:rPr>
                        <a:t>)(x</a:t>
                      </a:r>
                      <a:r>
                        <a:rPr lang="en-US" sz="1400" baseline="-40000" dirty="0">
                          <a:solidFill>
                            <a:schemeClr val="tx1"/>
                          </a:solidFill>
                        </a:rPr>
                        <a:t>3</a:t>
                      </a:r>
                      <a:r>
                        <a:rPr lang="en-US" sz="1400" dirty="0">
                          <a:solidFill>
                            <a:schemeClr val="tx1"/>
                          </a:solidFill>
                        </a:rPr>
                        <a:t>∨x</a:t>
                      </a:r>
                      <a:r>
                        <a:rPr lang="en-US" sz="1400" baseline="-40000" dirty="0">
                          <a:solidFill>
                            <a:schemeClr val="tx1"/>
                          </a:solidFill>
                        </a:rPr>
                        <a:t>4</a:t>
                      </a:r>
                      <a:r>
                        <a:rPr lang="en-US" sz="1400" dirty="0">
                          <a:solidFill>
                            <a:schemeClr val="tx1"/>
                          </a:solidFill>
                        </a:rPr>
                        <a:t>)</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566928">
                <a:tc>
                  <a:txBody>
                    <a:bodyPr/>
                    <a:lstStyle/>
                    <a:p>
                      <a:pPr algn="ctr" indent="0" marL="0">
                        <a:buNone/>
                      </a:pPr>
                      <a:r>
                        <a:rPr lang="en-US" sz="1400" dirty="0">
                          <a:solidFill>
                            <a:schemeClr val="tx1"/>
                          </a:solidFill>
                        </a:rPr>
                        <a:t>4 (9개)</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  x</a:t>
                      </a:r>
                      <a:r>
                        <a:rPr lang="en-US" sz="1400" baseline="-40000" dirty="0">
                          <a:solidFill>
                            <a:schemeClr val="tx1"/>
                          </a:solidFill>
                        </a:rPr>
                        <a:t>1</a:t>
                      </a:r>
                      <a:r>
                        <a:rPr lang="en-US" sz="1400" dirty="0">
                          <a:solidFill>
                            <a:schemeClr val="tx1"/>
                          </a:solidFill>
                        </a:rPr>
                        <a:t>x</a:t>
                      </a:r>
                      <a:r>
                        <a:rPr lang="en-US" sz="1400" baseline="-40000" dirty="0">
                          <a:solidFill>
                            <a:schemeClr val="tx1"/>
                          </a:solidFill>
                        </a:rPr>
                        <a:t>2</a:t>
                      </a:r>
                      <a:r>
                        <a:rPr lang="en-US" sz="1400" dirty="0">
                          <a:solidFill>
                            <a:schemeClr val="tx1"/>
                          </a:solidFill>
                        </a:rPr>
                        <a:t>x</a:t>
                      </a:r>
                      <a:r>
                        <a:rPr lang="en-US" sz="1400" baseline="-40000" dirty="0">
                          <a:solidFill>
                            <a:schemeClr val="tx1"/>
                          </a:solidFill>
                        </a:rPr>
                        <a:t>3</a:t>
                      </a:r>
                      <a:r>
                        <a:rPr lang="en-US" sz="1400" dirty="0">
                          <a:solidFill>
                            <a:schemeClr val="tx1"/>
                          </a:solidFill>
                        </a:rPr>
                        <a:t>,  x</a:t>
                      </a:r>
                      <a:r>
                        <a:rPr lang="en-US" sz="1400" baseline="-40000" dirty="0">
                          <a:solidFill>
                            <a:schemeClr val="tx1"/>
                          </a:solidFill>
                        </a:rPr>
                        <a:t>1</a:t>
                      </a:r>
                      <a:r>
                        <a:rPr lang="en-US" sz="1400" dirty="0">
                          <a:solidFill>
                            <a:schemeClr val="tx1"/>
                          </a:solidFill>
                        </a:rPr>
                        <a:t>∨x</a:t>
                      </a:r>
                      <a:r>
                        <a:rPr lang="en-US" sz="1400" baseline="-40000" dirty="0">
                          <a:solidFill>
                            <a:schemeClr val="tx1"/>
                          </a:solidFill>
                        </a:rPr>
                        <a:t>2</a:t>
                      </a:r>
                      <a:r>
                        <a:rPr lang="en-US" sz="1400" dirty="0">
                          <a:solidFill>
                            <a:schemeClr val="tx1"/>
                          </a:solidFill>
                        </a:rPr>
                        <a:t>∨x</a:t>
                      </a:r>
                      <a:r>
                        <a:rPr lang="en-US" sz="1400" baseline="-40000" dirty="0">
                          <a:solidFill>
                            <a:schemeClr val="tx1"/>
                          </a:solidFill>
                        </a:rPr>
                        <a:t>3</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566928">
                <a:tc>
                  <a:txBody>
                    <a:bodyPr/>
                    <a:lstStyle/>
                    <a:p>
                      <a:pPr algn="ctr" indent="0" marL="0">
                        <a:buNone/>
                      </a:pPr>
                      <a:r>
                        <a:rPr lang="en-US" sz="1400" dirty="0">
                          <a:solidFill>
                            <a:schemeClr val="tx1"/>
                          </a:solidFill>
                        </a:rPr>
                        <a:t>6 (6개)</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x</a:t>
                      </a:r>
                      <a:r>
                        <a:rPr lang="en-US" sz="1400" baseline="-40000" dirty="0">
                          <a:solidFill>
                            <a:schemeClr val="tx1"/>
                          </a:solidFill>
                        </a:rPr>
                        <a:t>2</a:t>
                      </a:r>
                      <a:r>
                        <a:rPr lang="en-US" sz="1400" dirty="0">
                          <a:solidFill>
                            <a:schemeClr val="tx1"/>
                          </a:solidFill>
                        </a:rPr>
                        <a:t>,  x</a:t>
                      </a:r>
                      <a:r>
                        <a:rPr lang="en-US" sz="1400" baseline="-40000" dirty="0">
                          <a:solidFill>
                            <a:schemeClr val="tx1"/>
                          </a:solidFill>
                        </a:rPr>
                        <a:t>1</a:t>
                      </a:r>
                      <a:r>
                        <a:rPr lang="en-US" sz="1400" dirty="0">
                          <a:solidFill>
                            <a:schemeClr val="tx1"/>
                          </a:solidFill>
                        </a:rPr>
                        <a:t>∨x</a:t>
                      </a:r>
                      <a:r>
                        <a:rPr lang="en-US" sz="1400" baseline="-40000" dirty="0">
                          <a:solidFill>
                            <a:schemeClr val="tx1"/>
                          </a:solidFill>
                        </a:rPr>
                        <a:t>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566928">
                <a:tc>
                  <a:txBody>
                    <a:bodyPr/>
                    <a:lstStyle/>
                    <a:p>
                      <a:pPr algn="ctr" indent="0" marL="0">
                        <a:buNone/>
                      </a:pPr>
                      <a:r>
                        <a:rPr lang="en-US" sz="1400" dirty="0">
                          <a:solidFill>
                            <a:schemeClr val="tx1"/>
                          </a:solidFill>
                        </a:rPr>
                        <a:t>12 (7개)</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x</a:t>
                      </a:r>
                      <a:r>
                        <a:rPr lang="en-US" sz="1400" baseline="-40000" dirty="0">
                          <a:solidFill>
                            <a:schemeClr val="tx1"/>
                          </a:solidFill>
                        </a:rPr>
                        <a:t>1</a:t>
                      </a:r>
                      <a:r>
                        <a:rPr lang="en-US" sz="1400" dirty="0">
                          <a:solidFill>
                            <a:schemeClr val="tx1"/>
                          </a:solidFill>
                        </a:rPr>
                        <a:t>(x</a:t>
                      </a:r>
                      <a:r>
                        <a:rPr lang="en-US" sz="1400" baseline="-40000" dirty="0">
                          <a:solidFill>
                            <a:schemeClr val="tx1"/>
                          </a:solidFill>
                        </a:rPr>
                        <a:t>2</a:t>
                      </a:r>
                      <a:r>
                        <a:rPr lang="en-US" sz="1400" dirty="0">
                          <a:solidFill>
                            <a:schemeClr val="tx1"/>
                          </a:solidFill>
                        </a:rPr>
                        <a:t>∨x</a:t>
                      </a:r>
                      <a:r>
                        <a:rPr lang="en-US" sz="1400" baseline="-40000" dirty="0">
                          <a:solidFill>
                            <a:schemeClr val="tx1"/>
                          </a:solidFill>
                        </a:rPr>
                        <a:t>3</a:t>
                      </a:r>
                      <a:r>
                        <a:rPr lang="en-US" sz="1400" dirty="0">
                          <a:solidFill>
                            <a:schemeClr val="tx1"/>
                          </a:solidFill>
                        </a:rPr>
                        <a:t>)</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bl>
          </a:graphicData>
        </a:graphic>
      </p:graphicFrame>
      <p:sp>
        <p:nvSpPr>
          <p:cNvPr id="10" name="Text 5"/>
          <p:cNvSpPr txBox="1"/>
          <p:nvPr/>
        </p:nvSpPr>
        <p:spPr>
          <a:xfrm>
            <a:off x="6629400" y="5577840"/>
            <a:ext cx="5010912" cy="365760"/>
          </a:xfrm>
          <a:prstGeom prst="rect">
            <a:avLst/>
          </a:prstGeom>
          <a:noFill/>
          <a:ln/>
        </p:spPr>
        <p:txBody>
          <a:bodyPr wrap="square" lIns="0" tIns="0" rIns="0" bIns="0" rtlCol="0" anchor="ctr"/>
          <a:lstStyle/>
          <a:p>
            <a:pPr indent="0" marL="0">
              <a:buNone/>
            </a:pPr>
            <a:r>
              <a:rPr lang="en-US" sz="1600" b="1" dirty="0">
                <a:solidFill>
                  <a:schemeClr val="tx1"/>
                </a:solidFill>
              </a:rPr>
              <a:t>6·1 + 2·3 + 9·4 + 6·6 + 7·12 = 168</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30</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3부 · 세 가지 클론</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세 공간 한눈에 보기</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아핀 10 · 단조 30 · 자기쌍대 32 — 2장의 질문에 대한 답</a:t>
            </a:r>
            <a:endParaRPr lang="en-US" sz="1800" dirty="0"/>
          </a:p>
        </p:txBody>
      </p:sp>
      <p:graphicFrame>
        <p:nvGraphicFramePr>
          <p:cNvPr id="20" name="compare-table"/>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1554480"/>
                <a:gridCol w="1097280"/>
                <a:gridCol w="1097280"/>
                <a:gridCol w="4572000"/>
                <a:gridCol w="2770632"/>
              </a:tblGrid>
              <a:tr h="603504">
                <a:tc>
                  <a:txBody>
                    <a:bodyPr/>
                    <a:lstStyle/>
                    <a:p>
                      <a:pPr algn="ctr" indent="0" marL="0">
                        <a:buNone/>
                      </a:pPr>
                      <a:r>
                        <a:rPr lang="en-US" sz="1400" b="1" dirty="0">
                          <a:solidFill>
                            <a:schemeClr val="bg1"/>
                          </a:solidFill>
                        </a:rPr>
                        <a:t>공간</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크기</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궤도 수</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궤도 크기 분포 (크기 × 개수)</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S</a:t>
                      </a:r>
                      <a:r>
                        <a:rPr lang="en-US" sz="1400" b="1" baseline="-40000" dirty="0">
                          <a:solidFill>
                            <a:schemeClr val="bg1"/>
                          </a:solidFill>
                        </a:rPr>
                        <a:t>4</a:t>
                      </a:r>
                      <a:r>
                        <a:rPr lang="en-US" sz="1400" b="1" dirty="0">
                          <a:solidFill>
                            <a:schemeClr val="bg1"/>
                          </a:solidFill>
                        </a:rPr>
                        <a:t>-고정점</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603504">
                <a:tc>
                  <a:txBody>
                    <a:bodyPr/>
                    <a:lstStyle/>
                    <a:p>
                      <a:pPr algn="ctr" indent="0" marL="0">
                        <a:buNone/>
                      </a:pPr>
                      <a:r>
                        <a:rPr lang="en-US" sz="1400" dirty="0">
                          <a:solidFill>
                            <a:schemeClr val="tx1"/>
                          </a:solidFill>
                        </a:rPr>
                        <a:t>아핀 L</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10</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1×4, 4×4, 6×2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4개: 0, 1, XOR, XNOR</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603504">
                <a:tc>
                  <a:txBody>
                    <a:bodyPr/>
                    <a:lstStyle/>
                    <a:p>
                      <a:pPr algn="ctr" indent="0" marL="0">
                        <a:buNone/>
                      </a:pPr>
                      <a:r>
                        <a:rPr lang="en-US" sz="1400" dirty="0">
                          <a:solidFill>
                            <a:schemeClr val="tx1"/>
                          </a:solidFill>
                        </a:rPr>
                        <a:t>단조 M</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168</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30</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1×6, 3×2, 4×9, 6×6, 12×7</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6개: At-Least-k</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r h="603504">
                <a:tc>
                  <a:txBody>
                    <a:bodyPr/>
                    <a:lstStyle/>
                    <a:p>
                      <a:pPr algn="ctr" indent="0" marL="0">
                        <a:buNone/>
                      </a:pPr>
                      <a:r>
                        <a:rPr lang="en-US" sz="1400" dirty="0">
                          <a:solidFill>
                            <a:schemeClr val="tx1"/>
                          </a:solidFill>
                        </a:rPr>
                        <a:t>자기쌍대 D</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256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32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4×16, 12×16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tx1"/>
                          </a:solidFill>
                        </a:rPr>
                        <a:t>없음 (0개)</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603504">
                <a:tc>
                  <a:txBody>
                    <a:bodyPr/>
                    <a:lstStyle/>
                    <a:p>
                      <a:pPr algn="ctr" indent="0" marL="0">
                        <a:buNone/>
                      </a:pPr>
                      <a:r>
                        <a:rPr lang="en-US" sz="1400" dirty="0">
                          <a:solidFill>
                            <a:schemeClr val="tx1"/>
                          </a:solidFill>
                        </a:rPr>
                        <a:t>전체 F</a:t>
                      </a:r>
                      <a:r>
                        <a:rPr lang="en-US" sz="1400" baseline="-40000" dirty="0">
                          <a:solidFill>
                            <a:schemeClr val="tx1"/>
                          </a:solidFill>
                        </a:rPr>
                        <a:t>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65,536</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3,984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1×32, 3×32, 4×224, 6×224, 12×1,680, 24×1,792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32개</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bl>
          </a:graphicData>
        </a:graphic>
      </p:graphicFrame>
      <p:sp>
        <p:nvSpPr>
          <p:cNvPr id="9" name="inter-card"/>
          <p:cNvSpPr/>
          <p:nvPr/>
        </p:nvSpPr>
        <p:spPr>
          <a:xfrm>
            <a:off x="548640" y="5212080"/>
            <a:ext cx="5440680" cy="960120"/>
          </a:xfrm>
          <a:prstGeom prst="roundRect">
            <a:avLst>
              <a:gd name="adj" fmla="val 7619"/>
            </a:avLst>
          </a:prstGeom>
          <a:solidFill>
            <a:schemeClr val="bg2"/>
          </a:solidFill>
          <a:ln w="3175">
            <a:solidFill>
              <a:schemeClr val="bg2"/>
            </a:solidFill>
            <a:prstDash val="solid"/>
          </a:ln>
        </p:spPr>
      </p:sp>
      <p:sp>
        <p:nvSpPr>
          <p:cNvPr id="10" name="Text 6"/>
          <p:cNvSpPr txBox="1"/>
          <p:nvPr/>
        </p:nvSpPr>
        <p:spPr>
          <a:xfrm>
            <a:off x="777240" y="5212080"/>
            <a:ext cx="5029200" cy="960120"/>
          </a:xfrm>
          <a:prstGeom prst="rect">
            <a:avLst/>
          </a:prstGeom>
          <a:noFill/>
          <a:ln/>
        </p:spPr>
        <p:txBody>
          <a:bodyPr wrap="square" lIns="0" tIns="0" rIns="0" bIns="0" rtlCol="0" anchor="ctr"/>
          <a:lstStyle/>
          <a:p>
            <a:pPr indent="0" marL="0">
              <a:buNone/>
            </a:pPr>
            <a:r>
              <a:rPr lang="en-US" sz="1500" b="1" dirty="0">
                <a:solidFill>
                  <a:schemeClr val="tx1"/>
                </a:solidFill>
              </a:rPr>
              <a:t>L ∩ M = {0, 1, x</a:t>
            </a:r>
            <a:r>
              <a:rPr lang="en-US" sz="1500" b="1" baseline="-40000" dirty="0">
                <a:solidFill>
                  <a:schemeClr val="tx1"/>
                </a:solidFill>
              </a:rPr>
              <a:t>1</a:t>
            </a:r>
            <a:r>
              <a:rPr lang="en-US" sz="1500" b="1" dirty="0">
                <a:solidFill>
                  <a:schemeClr val="tx1"/>
                </a:solidFill>
              </a:rPr>
              <a:t>, x</a:t>
            </a:r>
            <a:r>
              <a:rPr lang="en-US" sz="1500" b="1" baseline="-40000" dirty="0">
                <a:solidFill>
                  <a:schemeClr val="tx1"/>
                </a:solidFill>
              </a:rPr>
              <a:t>2</a:t>
            </a:r>
            <a:r>
              <a:rPr lang="en-US" sz="1500" b="1" dirty="0">
                <a:solidFill>
                  <a:schemeClr val="tx1"/>
                </a:solidFill>
              </a:rPr>
              <a:t>, x</a:t>
            </a:r>
            <a:r>
              <a:rPr lang="en-US" sz="1500" b="1" baseline="-40000" dirty="0">
                <a:solidFill>
                  <a:schemeClr val="tx1"/>
                </a:solidFill>
              </a:rPr>
              <a:t>3</a:t>
            </a:r>
            <a:r>
              <a:rPr lang="en-US" sz="1500" b="1" dirty="0">
                <a:solidFill>
                  <a:schemeClr val="tx1"/>
                </a:solidFill>
              </a:rPr>
              <a:t>, x</a:t>
            </a:r>
            <a:r>
              <a:rPr lang="en-US" sz="1500" b="1" baseline="-40000" dirty="0">
                <a:solidFill>
                  <a:schemeClr val="tx1"/>
                </a:solidFill>
              </a:rPr>
              <a:t>4</a:t>
            </a:r>
            <a:r>
              <a:rPr lang="en-US" sz="1500" b="1" dirty="0">
                <a:solidFill>
                  <a:schemeClr val="tx1"/>
                </a:solidFill>
              </a:rPr>
              <a:t>} (6개)</a:t>
            </a:r>
            <a:endParaRPr lang="en-US" sz="1500" dirty="0"/>
          </a:p>
          <a:p>
            <a:pPr indent="0" marL="0">
              <a:buNone/>
            </a:pPr>
            <a:r>
              <a:rPr lang="en-US" sz="1300" dirty="0">
                <a:solidFill>
                  <a:schemeClr val="tx2"/>
                </a:solidFill>
              </a:rPr>
              <a:t>S</a:t>
            </a:r>
            <a:r>
              <a:rPr lang="en-US" sz="1300" baseline="-40000" dirty="0">
                <a:solidFill>
                  <a:schemeClr val="tx2"/>
                </a:solidFill>
              </a:rPr>
              <a:t>4</a:t>
            </a:r>
            <a:r>
              <a:rPr lang="en-US" sz="1300" dirty="0">
                <a:solidFill>
                  <a:schemeClr val="tx2"/>
                </a:solidFill>
              </a:rPr>
              <a:t>-궤도 3개 (크기 1, 1, 4)</a:t>
            </a:r>
            <a:endParaRPr lang="en-US" sz="1500" dirty="0"/>
          </a:p>
        </p:txBody>
      </p:sp>
      <p:sp>
        <p:nvSpPr>
          <p:cNvPr id="11" name="inter-card"/>
          <p:cNvSpPr/>
          <p:nvPr/>
        </p:nvSpPr>
        <p:spPr>
          <a:xfrm>
            <a:off x="6199632" y="5212080"/>
            <a:ext cx="5440680" cy="960120"/>
          </a:xfrm>
          <a:prstGeom prst="roundRect">
            <a:avLst>
              <a:gd name="adj" fmla="val 7619"/>
            </a:avLst>
          </a:prstGeom>
          <a:solidFill>
            <a:schemeClr val="bg2"/>
          </a:solidFill>
          <a:ln w="3175">
            <a:solidFill>
              <a:schemeClr val="bg2"/>
            </a:solidFill>
            <a:prstDash val="solid"/>
          </a:ln>
        </p:spPr>
      </p:sp>
      <p:sp>
        <p:nvSpPr>
          <p:cNvPr id="12" name="Text 8"/>
          <p:cNvSpPr txBox="1"/>
          <p:nvPr/>
        </p:nvSpPr>
        <p:spPr>
          <a:xfrm>
            <a:off x="6428232" y="5212080"/>
            <a:ext cx="5029200" cy="960120"/>
          </a:xfrm>
          <a:prstGeom prst="rect">
            <a:avLst/>
          </a:prstGeom>
          <a:noFill/>
          <a:ln/>
        </p:spPr>
        <p:txBody>
          <a:bodyPr wrap="square" lIns="0" tIns="0" rIns="0" bIns="0" rtlCol="0" anchor="ctr"/>
          <a:lstStyle/>
          <a:p>
            <a:pPr indent="0" marL="0">
              <a:buNone/>
            </a:pPr>
            <a:r>
              <a:rPr lang="en-US" sz="1500" b="1" dirty="0">
                <a:solidFill>
                  <a:schemeClr val="tx1"/>
                </a:solidFill>
              </a:rPr>
              <a:t>세 공간은 서로 포함 관계가 아니다</a:t>
            </a:r>
            <a:endParaRPr lang="en-US" sz="1500" dirty="0"/>
          </a:p>
          <a:p>
            <a:pPr indent="0" marL="0">
              <a:buNone/>
            </a:pPr>
            <a:r>
              <a:rPr lang="en-US" sz="1300" dirty="0">
                <a:solidFill>
                  <a:schemeClr val="tx2"/>
                </a:solidFill>
              </a:rPr>
              <a:t>예: Exactly-2는 고정점이지만 L, M, D 어디에도 없다</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32</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4부 · 검증과 확장</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검증과 문헌 속 위치</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이 값들은 새 결과가 아니라 알려진 값의 독립 재계산이다</a:t>
            </a:r>
            <a:endParaRPr lang="en-US" sz="1800" dirty="0"/>
          </a:p>
        </p:txBody>
      </p:sp>
      <p:sp>
        <p:nvSpPr>
          <p:cNvPr id="8" name="stat-card"/>
          <p:cNvSpPr/>
          <p:nvPr/>
        </p:nvSpPr>
        <p:spPr>
          <a:xfrm>
            <a:off x="548640" y="1965960"/>
            <a:ext cx="3602736" cy="1737360"/>
          </a:xfrm>
          <a:prstGeom prst="roundRect">
            <a:avLst>
              <a:gd name="adj" fmla="val 4211"/>
            </a:avLst>
          </a:prstGeom>
          <a:solidFill>
            <a:schemeClr val="bg2"/>
          </a:solidFill>
          <a:ln w="3175">
            <a:solidFill>
              <a:schemeClr val="bg2"/>
            </a:solidFill>
            <a:prstDash val="solid"/>
          </a:ln>
        </p:spPr>
      </p:sp>
      <p:sp>
        <p:nvSpPr>
          <p:cNvPr id="9" name="Text 6"/>
          <p:cNvSpPr txBox="1"/>
          <p:nvPr/>
        </p:nvSpPr>
        <p:spPr>
          <a:xfrm>
            <a:off x="548640" y="1965960"/>
            <a:ext cx="3602736" cy="1737360"/>
          </a:xfrm>
          <a:prstGeom prst="rect">
            <a:avLst/>
          </a:prstGeom>
          <a:noFill/>
          <a:ln/>
        </p:spPr>
        <p:txBody>
          <a:bodyPr wrap="square" lIns="0" tIns="0" rIns="0" bIns="0" rtlCol="0" anchor="ctr"/>
          <a:lstStyle/>
          <a:p>
            <a:pPr algn="ctr" indent="0" marL="0">
              <a:buNone/>
            </a:pPr>
            <a:r>
              <a:rPr lang="en-US" sz="4400" b="1" dirty="0">
                <a:solidFill>
                  <a:schemeClr val="accent1"/>
                </a:solidFill>
              </a:rPr>
              <a:t>3,984</a:t>
            </a:r>
            <a:endParaRPr lang="en-US" sz="4400" dirty="0"/>
          </a:p>
          <a:p>
            <a:pPr algn="ctr" indent="0" marL="0">
              <a:buNone/>
            </a:pPr>
            <a:r>
              <a:rPr lang="en-US" sz="1400" dirty="0">
                <a:solidFill>
                  <a:schemeClr val="tx1"/>
                </a:solidFill>
              </a:rPr>
              <a:t>S₄ 아래 전체 궤도</a:t>
            </a:r>
            <a:endParaRPr lang="en-US" sz="4400" dirty="0"/>
          </a:p>
          <a:p>
            <a:pPr algn="ctr" indent="0" marL="0">
              <a:buNone/>
            </a:pPr>
            <a:r>
              <a:rPr lang="en-US" sz="1200" b="1" dirty="0">
                <a:solidFill>
                  <a:schemeClr val="accent2"/>
                </a:solidFill>
              </a:rPr>
              <a:t>✓ OEIS A003180</a:t>
            </a:r>
            <a:endParaRPr lang="en-US" sz="4400" dirty="0"/>
          </a:p>
        </p:txBody>
      </p:sp>
      <p:sp>
        <p:nvSpPr>
          <p:cNvPr id="10" name="stat-card"/>
          <p:cNvSpPr/>
          <p:nvPr/>
        </p:nvSpPr>
        <p:spPr>
          <a:xfrm>
            <a:off x="4315968" y="1965960"/>
            <a:ext cx="3602736" cy="1737360"/>
          </a:xfrm>
          <a:prstGeom prst="roundRect">
            <a:avLst>
              <a:gd name="adj" fmla="val 4211"/>
            </a:avLst>
          </a:prstGeom>
          <a:solidFill>
            <a:schemeClr val="bg2"/>
          </a:solidFill>
          <a:ln w="3175">
            <a:solidFill>
              <a:schemeClr val="bg2"/>
            </a:solidFill>
            <a:prstDash val="solid"/>
          </a:ln>
        </p:spPr>
      </p:sp>
      <p:sp>
        <p:nvSpPr>
          <p:cNvPr id="11" name="Text 8"/>
          <p:cNvSpPr txBox="1"/>
          <p:nvPr/>
        </p:nvSpPr>
        <p:spPr>
          <a:xfrm>
            <a:off x="4315968" y="1965960"/>
            <a:ext cx="3602736" cy="1737360"/>
          </a:xfrm>
          <a:prstGeom prst="rect">
            <a:avLst/>
          </a:prstGeom>
          <a:noFill/>
          <a:ln/>
        </p:spPr>
        <p:txBody>
          <a:bodyPr wrap="square" lIns="0" tIns="0" rIns="0" bIns="0" rtlCol="0" anchor="ctr"/>
          <a:lstStyle/>
          <a:p>
            <a:pPr algn="ctr" indent="0" marL="0">
              <a:buNone/>
            </a:pPr>
            <a:r>
              <a:rPr lang="en-US" sz="4400" b="1" dirty="0">
                <a:solidFill>
                  <a:schemeClr val="accent1"/>
                </a:solidFill>
              </a:rPr>
              <a:t>30</a:t>
            </a:r>
            <a:endParaRPr lang="en-US" sz="4400" dirty="0"/>
          </a:p>
          <a:p>
            <a:pPr algn="ctr" indent="0" marL="0">
              <a:buNone/>
            </a:pPr>
            <a:r>
              <a:rPr lang="en-US" sz="1400" dirty="0">
                <a:solidFill>
                  <a:schemeClr val="tx1"/>
                </a:solidFill>
              </a:rPr>
              <a:t>S₄ 아래 단조 궤도</a:t>
            </a:r>
            <a:endParaRPr lang="en-US" sz="4400" dirty="0"/>
          </a:p>
          <a:p>
            <a:pPr algn="ctr" indent="0" marL="0">
              <a:buNone/>
            </a:pPr>
            <a:r>
              <a:rPr lang="en-US" sz="1200" b="1" dirty="0">
                <a:solidFill>
                  <a:schemeClr val="accent2"/>
                </a:solidFill>
              </a:rPr>
              <a:t>✓ OEIS A003182</a:t>
            </a:r>
            <a:endParaRPr lang="en-US" sz="4400" dirty="0"/>
          </a:p>
        </p:txBody>
      </p:sp>
      <p:sp>
        <p:nvSpPr>
          <p:cNvPr id="12" name="stat-card"/>
          <p:cNvSpPr/>
          <p:nvPr/>
        </p:nvSpPr>
        <p:spPr>
          <a:xfrm>
            <a:off x="8083296" y="1965960"/>
            <a:ext cx="3602736" cy="1737360"/>
          </a:xfrm>
          <a:prstGeom prst="roundRect">
            <a:avLst>
              <a:gd name="adj" fmla="val 4211"/>
            </a:avLst>
          </a:prstGeom>
          <a:solidFill>
            <a:schemeClr val="bg2"/>
          </a:solidFill>
          <a:ln w="3175">
            <a:solidFill>
              <a:schemeClr val="bg2"/>
            </a:solidFill>
            <a:prstDash val="solid"/>
          </a:ln>
        </p:spPr>
      </p:sp>
      <p:sp>
        <p:nvSpPr>
          <p:cNvPr id="13" name="Text 10"/>
          <p:cNvSpPr txBox="1"/>
          <p:nvPr/>
        </p:nvSpPr>
        <p:spPr>
          <a:xfrm>
            <a:off x="8083296" y="1965960"/>
            <a:ext cx="3602736" cy="1737360"/>
          </a:xfrm>
          <a:prstGeom prst="rect">
            <a:avLst/>
          </a:prstGeom>
          <a:noFill/>
          <a:ln/>
        </p:spPr>
        <p:txBody>
          <a:bodyPr wrap="square" lIns="0" tIns="0" rIns="0" bIns="0" rtlCol="0" anchor="ctr"/>
          <a:lstStyle/>
          <a:p>
            <a:pPr algn="ctr" indent="0" marL="0">
              <a:buNone/>
            </a:pPr>
            <a:r>
              <a:rPr lang="en-US" sz="4400" b="1" dirty="0">
                <a:solidFill>
                  <a:schemeClr val="accent1"/>
                </a:solidFill>
              </a:rPr>
              <a:t>402</a:t>
            </a:r>
            <a:endParaRPr lang="en-US" sz="4400" dirty="0"/>
          </a:p>
          <a:p>
            <a:pPr algn="ctr" indent="0" marL="0">
              <a:buNone/>
            </a:pPr>
            <a:r>
              <a:rPr lang="en-US" sz="1400" dirty="0">
                <a:solidFill>
                  <a:schemeClr val="tx1"/>
                </a:solidFill>
              </a:rPr>
              <a:t>B₄ 아래 전체 궤도</a:t>
            </a:r>
            <a:endParaRPr lang="en-US" sz="4400" dirty="0"/>
          </a:p>
          <a:p>
            <a:pPr algn="ctr" indent="0" marL="0">
              <a:buNone/>
            </a:pPr>
            <a:r>
              <a:rPr lang="en-US" sz="1200" b="1" dirty="0">
                <a:solidFill>
                  <a:schemeClr val="accent2"/>
                </a:solidFill>
              </a:rPr>
              <a:t>✓ OEIS A000616 (Slepian, 1953)</a:t>
            </a:r>
            <a:endParaRPr lang="en-US" sz="4400" dirty="0"/>
          </a:p>
        </p:txBody>
      </p:sp>
      <p:sp>
        <p:nvSpPr>
          <p:cNvPr id="14" name="list-card"/>
          <p:cNvSpPr/>
          <p:nvPr/>
        </p:nvSpPr>
        <p:spPr>
          <a:xfrm>
            <a:off x="548640" y="3977640"/>
            <a:ext cx="5440680" cy="2194560"/>
          </a:xfrm>
          <a:prstGeom prst="roundRect">
            <a:avLst>
              <a:gd name="adj" fmla="val 3333"/>
            </a:avLst>
          </a:prstGeom>
          <a:solidFill>
            <a:schemeClr val="bg1"/>
          </a:solidFill>
          <a:ln w="12700">
            <a:solidFill>
              <a:schemeClr val="accent6"/>
            </a:solidFill>
            <a:prstDash val="solid"/>
          </a:ln>
        </p:spPr>
      </p:sp>
      <p:sp>
        <p:nvSpPr>
          <p:cNvPr id="15" name="Text 12"/>
          <p:cNvSpPr txBox="1"/>
          <p:nvPr/>
        </p:nvSpPr>
        <p:spPr>
          <a:xfrm>
            <a:off x="777240" y="4023360"/>
            <a:ext cx="5029200" cy="2103120"/>
          </a:xfrm>
          <a:prstGeom prst="rect">
            <a:avLst/>
          </a:prstGeom>
          <a:noFill/>
          <a:ln/>
        </p:spPr>
        <p:txBody>
          <a:bodyPr wrap="square" lIns="0" tIns="0" rIns="0" bIns="0" rtlCol="0" anchor="ctr"/>
          <a:lstStyle/>
          <a:p>
            <a:pPr indent="0" marL="0">
              <a:spcAft>
                <a:spcPts val="800"/>
              </a:spcAft>
              <a:buNone/>
            </a:pPr>
            <a:r>
              <a:rPr lang="en-US" sz="1800" b="1" dirty="0">
                <a:solidFill>
                  <a:schemeClr val="accent2"/>
                </a:solidFill>
              </a:rPr>
              <a:t>논문이 덧붙이는 것</a:t>
            </a:r>
            <a:endParaRPr lang="en-US" sz="1800" dirty="0"/>
          </a:p>
          <a:p>
            <a:pPr marL="342900" indent="-342900">
              <a:spcAft>
                <a:spcPts val="600"/>
              </a:spcAft>
              <a:buSzPct val="100000"/>
              <a:buChar char="•"/>
            </a:pPr>
            <a:r>
              <a:rPr lang="en-US" sz="1600" dirty="0">
                <a:solidFill>
                  <a:schemeClr val="tx1"/>
                </a:solidFill>
              </a:rPr>
              <a:t>켤레류별 Fix 표와 안정화군</a:t>
            </a:r>
            <a:endParaRPr lang="en-US" sz="1800" dirty="0"/>
          </a:p>
          <a:p>
            <a:pPr marL="342900" indent="-342900">
              <a:spcAft>
                <a:spcPts val="600"/>
              </a:spcAft>
              <a:buSzPct val="100000"/>
              <a:buChar char="•"/>
            </a:pPr>
            <a:r>
              <a:rPr lang="en-US" sz="1600" dirty="0">
                <a:solidFill>
                  <a:schemeClr val="tx1"/>
                </a:solidFill>
              </a:rPr>
              <a:t>아핀 10궤도 · 단조 30궤도의 명시적 목록</a:t>
            </a:r>
            <a:endParaRPr lang="en-US" sz="1800" dirty="0"/>
          </a:p>
          <a:p>
            <a:pPr marL="342900" indent="-342900">
              <a:buSzPct val="100000"/>
              <a:buChar char="•"/>
            </a:pPr>
            <a:r>
              <a:rPr lang="en-US" sz="1600" dirty="0">
                <a:solidFill>
                  <a:schemeClr val="tx1"/>
                </a:solidFill>
              </a:rPr>
              <a:t>궤도 크기 분포</a:t>
            </a:r>
            <a:endParaRPr lang="en-US" sz="1800" dirty="0"/>
          </a:p>
        </p:txBody>
      </p:sp>
      <p:sp>
        <p:nvSpPr>
          <p:cNvPr id="16" name="list-card"/>
          <p:cNvSpPr/>
          <p:nvPr/>
        </p:nvSpPr>
        <p:spPr>
          <a:xfrm>
            <a:off x="6199632" y="3977640"/>
            <a:ext cx="5440680" cy="2194560"/>
          </a:xfrm>
          <a:prstGeom prst="roundRect">
            <a:avLst>
              <a:gd name="adj" fmla="val 3333"/>
            </a:avLst>
          </a:prstGeom>
          <a:solidFill>
            <a:schemeClr val="bg1"/>
          </a:solidFill>
          <a:ln w="12700">
            <a:solidFill>
              <a:schemeClr val="accent6"/>
            </a:solidFill>
            <a:prstDash val="solid"/>
          </a:ln>
        </p:spPr>
      </p:sp>
      <p:sp>
        <p:nvSpPr>
          <p:cNvPr id="17" name="Text 14"/>
          <p:cNvSpPr txBox="1"/>
          <p:nvPr/>
        </p:nvSpPr>
        <p:spPr>
          <a:xfrm>
            <a:off x="6428232" y="4023360"/>
            <a:ext cx="5029200" cy="2103120"/>
          </a:xfrm>
          <a:prstGeom prst="rect">
            <a:avLst/>
          </a:prstGeom>
          <a:noFill/>
          <a:ln/>
        </p:spPr>
        <p:txBody>
          <a:bodyPr wrap="square" lIns="0" tIns="0" rIns="0" bIns="0" rtlCol="0" anchor="ctr"/>
          <a:lstStyle/>
          <a:p>
            <a:pPr indent="0" marL="0">
              <a:spcAft>
                <a:spcPts val="800"/>
              </a:spcAft>
              <a:buNone/>
            </a:pPr>
            <a:r>
              <a:rPr lang="en-US" sz="1800" b="1" dirty="0">
                <a:solidFill>
                  <a:schemeClr val="accent1"/>
                </a:solidFill>
              </a:rPr>
              <a:t>검증 방법과 한계</a:t>
            </a:r>
            <a:endParaRPr lang="en-US" sz="1800" dirty="0"/>
          </a:p>
          <a:p>
            <a:pPr marL="342900" indent="-342900">
              <a:spcAft>
                <a:spcPts val="600"/>
              </a:spcAft>
              <a:buSzPct val="100000"/>
              <a:buChar char="•"/>
            </a:pPr>
            <a:r>
              <a:rPr lang="en-US" sz="1600" dirty="0">
                <a:solidFill>
                  <a:schemeClr val="tx1"/>
                </a:solidFill>
              </a:rPr>
              <a:t>scripts/verify_*.py: 열거와 Burnside 값을 대조</a:t>
            </a:r>
            <a:endParaRPr lang="en-US" sz="1800" dirty="0"/>
          </a:p>
          <a:p>
            <a:pPr marL="342900" indent="-342900">
              <a:spcAft>
                <a:spcPts val="600"/>
              </a:spcAft>
              <a:buSzPct val="100000"/>
              <a:buChar char="•"/>
            </a:pPr>
            <a:r>
              <a:rPr lang="en-US" sz="1600" dirty="0">
                <a:solidFill>
                  <a:schemeClr val="tx1"/>
                </a:solidFill>
              </a:rPr>
              <a:t>이론과 스크립트가 같은 저자 → 외부 검증은 아님</a:t>
            </a:r>
            <a:endParaRPr lang="en-US" sz="1800" dirty="0"/>
          </a:p>
          <a:p>
            <a:pPr marL="342900" indent="-342900">
              <a:buSzPct val="100000"/>
              <a:buChar char="•"/>
            </a:pPr>
            <a:r>
              <a:rPr lang="en-US" sz="1600" dirty="0">
                <a:solidFill>
                  <a:schemeClr val="tx1"/>
                </a:solidFill>
              </a:rPr>
              <a:t>선행 연구 조사는 웹 검색 · OEIS에 한정</a:t>
            </a:r>
            <a:endParaRPr lang="en-US"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33</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4부 · 검증과 확장</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5변수로 늘리면?</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아핀은 완만하게, 단조는 Dedekind 수와 함께 급증한다</a:t>
            </a:r>
            <a:endParaRPr lang="en-US" sz="1800" dirty="0"/>
          </a:p>
        </p:txBody>
      </p:sp>
      <p:graphicFrame>
        <p:nvGraphicFramePr>
          <p:cNvPr id="8" name="Chart 0" descr=""/>
          <p:cNvGraphicFramePr/>
          <p:nvPr/>
        </p:nvGraphicFramePr>
        <p:xfrm>
          <a:off x="548640" y="1920240"/>
          <a:ext cx="676656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22" name="n5-table"/>
          <p:cNvGraphicFramePr>
            <a:graphicFrameLocks noGrp="1"/>
          </p:cNvGraphicFramePr>
          <p:nvPr>
            <p:extLst>
              <p:ext uri="{D42A27DB-BD31-4B8C-83A1-F6EECF244321}">
                <p14:modId xmlns:p14="http://schemas.microsoft.com/office/powerpoint/2010/main" val="1579011935"/>
              </p:ext>
            </p:extLst>
          </p:nvPr>
        </p:nvGraphicFramePr>
        <p:xfrm>
          <a:off x="7635240" y="2103120"/>
          <a:ext cx="4005072" cy="914400"/>
        </p:xfrm>
        <a:graphic>
          <a:graphicData uri="http://schemas.openxmlformats.org/drawingml/2006/table">
            <a:tbl>
              <a:tblPr/>
              <a:tblGrid>
                <a:gridCol w="1261872"/>
                <a:gridCol w="1371600"/>
                <a:gridCol w="1371600"/>
              </a:tblGrid>
              <a:tr h="594360">
                <a:tc>
                  <a:txBody>
                    <a:bodyPr/>
                    <a:lstStyle/>
                    <a:p>
                      <a:pPr algn="ctr" indent="0" marL="0">
                        <a:buNone/>
                      </a:pPr>
                      <a:r>
                        <a:rPr lang="en-US" sz="1400" b="1" dirty="0">
                          <a:solidFill>
                            <a:schemeClr val="bg1"/>
                          </a:solidFill>
                        </a:rPr>
                        <a:t>공간</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4변수 함수 수</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5변수 함수 수</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tx1"/>
                    </a:solidFill>
                  </a:tcPr>
                </a:tc>
              </a:tr>
              <a:tr h="594360">
                <a:tc>
                  <a:txBody>
                    <a:bodyPr/>
                    <a:lstStyle/>
                    <a:p>
                      <a:pPr algn="ctr" indent="0" marL="0">
                        <a:buNone/>
                      </a:pPr>
                      <a:r>
                        <a:rPr lang="en-US" sz="1400" dirty="0">
                          <a:solidFill>
                            <a:schemeClr val="tx1"/>
                          </a:solidFill>
                        </a:rPr>
                        <a:t>아핀 L</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32</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64</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1"/>
                    </a:solidFill>
                  </a:tcPr>
                </a:tc>
              </a:tr>
              <a:tr h="594360">
                <a:tc>
                  <a:txBody>
                    <a:bodyPr/>
                    <a:lstStyle/>
                    <a:p>
                      <a:pPr algn="ctr" indent="0" marL="0">
                        <a:buNone/>
                      </a:pPr>
                      <a:r>
                        <a:rPr lang="en-US" sz="1400" dirty="0">
                          <a:solidFill>
                            <a:schemeClr val="tx1"/>
                          </a:solidFill>
                        </a:rPr>
                        <a:t>단조 M</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168</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7,581</a:t>
                      </a:r>
                      <a:endParaRPr lang="en-US" sz="1400" dirty="0"/>
                    </a:p>
                  </a:txBody>
                  <a:tcPr marL="73152" marR="73152" marT="27432" marB="27432"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chemeClr val="bg2"/>
                    </a:solidFill>
                  </a:tcPr>
                </a:tc>
              </a:tr>
            </a:tbl>
          </a:graphicData>
        </a:graphic>
      </p:graphicFrame>
      <p:sp>
        <p:nvSpPr>
          <p:cNvPr id="10" name="note-card"/>
          <p:cNvSpPr/>
          <p:nvPr/>
        </p:nvSpPr>
        <p:spPr>
          <a:xfrm>
            <a:off x="7635240" y="4069080"/>
            <a:ext cx="4005072" cy="2103120"/>
          </a:xfrm>
          <a:prstGeom prst="roundRect">
            <a:avLst>
              <a:gd name="adj" fmla="val 3478"/>
            </a:avLst>
          </a:prstGeom>
          <a:solidFill>
            <a:schemeClr val="bg2"/>
          </a:solidFill>
          <a:ln w="3175">
            <a:solidFill>
              <a:schemeClr val="bg2"/>
            </a:solidFill>
            <a:prstDash val="solid"/>
          </a:ln>
        </p:spPr>
      </p:sp>
      <p:sp>
        <p:nvSpPr>
          <p:cNvPr id="11" name="Text 6"/>
          <p:cNvSpPr txBox="1"/>
          <p:nvPr/>
        </p:nvSpPr>
        <p:spPr>
          <a:xfrm>
            <a:off x="7863840" y="4114800"/>
            <a:ext cx="3611880" cy="2011680"/>
          </a:xfrm>
          <a:prstGeom prst="rect">
            <a:avLst/>
          </a:prstGeom>
          <a:noFill/>
          <a:ln/>
        </p:spPr>
        <p:txBody>
          <a:bodyPr wrap="square" lIns="0" tIns="0" rIns="0" bIns="0" rtlCol="0" anchor="ctr"/>
          <a:lstStyle/>
          <a:p>
            <a:pPr indent="0" marL="0">
              <a:spcAft>
                <a:spcPts val="400"/>
              </a:spcAft>
              <a:buNone/>
            </a:pPr>
            <a:r>
              <a:rPr lang="en-US" sz="1400" b="1" dirty="0">
                <a:solidFill>
                  <a:schemeClr val="accent1"/>
                </a:solidFill>
              </a:rPr>
              <a:t>예비 계산 (변수 순열만 허용)</a:t>
            </a:r>
            <a:endParaRPr lang="en-US" sz="1400" dirty="0"/>
          </a:p>
          <a:p>
            <a:pPr indent="0" marL="0">
              <a:spcAft>
                <a:spcPts val="200"/>
              </a:spcAft>
              <a:buNone/>
            </a:pPr>
            <a:r>
              <a:rPr lang="en-US" sz="1600" dirty="0">
                <a:solidFill>
                  <a:schemeClr val="tx1"/>
                </a:solidFill>
              </a:rPr>
              <a:t>아핀: 10 → 12</a:t>
            </a:r>
            <a:endParaRPr lang="en-US" sz="1400" dirty="0"/>
          </a:p>
          <a:p>
            <a:pPr indent="0" marL="0">
              <a:spcAft>
                <a:spcPts val="200"/>
              </a:spcAft>
              <a:buNone/>
            </a:pPr>
            <a:r>
              <a:rPr lang="en-US" sz="1600" dirty="0">
                <a:solidFill>
                  <a:schemeClr val="tx1"/>
                </a:solidFill>
              </a:rPr>
              <a:t>단조: 30 → 210 (7배)</a:t>
            </a:r>
            <a:endParaRPr lang="en-US" sz="1400" dirty="0"/>
          </a:p>
          <a:p>
            <a:pPr indent="0" marL="0">
              <a:buNone/>
            </a:pPr>
            <a:r>
              <a:rPr lang="en-US" sz="1300" dirty="0">
                <a:solidFill>
                  <a:schemeClr val="tx2"/>
                </a:solidFill>
              </a:rPr>
              <a:t>일반 n에 대한 닫힌 식은 아직 없다</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34</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4부 · 검증과 확장</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확장: 입력 반전까지 허용하면</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7번 논문 6장의 결과 — 군이 커지면 궤도는 줄어든다</a:t>
            </a:r>
            <a:endParaRPr lang="en-US" sz="1800" dirty="0"/>
          </a:p>
        </p:txBody>
      </p:sp>
      <p:sp>
        <p:nvSpPr>
          <p:cNvPr id="8" name="group-head"/>
          <p:cNvSpPr/>
          <p:nvPr/>
        </p:nvSpPr>
        <p:spPr>
          <a:xfrm>
            <a:off x="548640" y="1965960"/>
            <a:ext cx="5239512" cy="868680"/>
          </a:xfrm>
          <a:prstGeom prst="roundRect">
            <a:avLst>
              <a:gd name="adj" fmla="val 8421"/>
            </a:avLst>
          </a:prstGeom>
          <a:solidFill>
            <a:schemeClr val="accent4"/>
          </a:solidFill>
          <a:ln w="3175">
            <a:solidFill>
              <a:schemeClr val="accent4"/>
            </a:solidFill>
            <a:prstDash val="solid"/>
          </a:ln>
        </p:spPr>
      </p:sp>
      <p:sp>
        <p:nvSpPr>
          <p:cNvPr id="9" name="Text 6"/>
          <p:cNvSpPr txBox="1"/>
          <p:nvPr/>
        </p:nvSpPr>
        <p:spPr>
          <a:xfrm>
            <a:off x="822960" y="1965960"/>
            <a:ext cx="4754880" cy="868680"/>
          </a:xfrm>
          <a:prstGeom prst="rect">
            <a:avLst/>
          </a:prstGeom>
          <a:noFill/>
          <a:ln/>
        </p:spPr>
        <p:txBody>
          <a:bodyPr wrap="square" lIns="0" tIns="0" rIns="0" bIns="0" rtlCol="0" anchor="ctr"/>
          <a:lstStyle/>
          <a:p>
            <a:pPr indent="0" marL="0">
              <a:buNone/>
            </a:pPr>
            <a:r>
              <a:rPr lang="en-US" sz="2200" b="1" dirty="0">
                <a:solidFill>
                  <a:schemeClr val="bg1"/>
                </a:solidFill>
              </a:rPr>
              <a:t>S₄</a:t>
            </a:r>
            <a:endParaRPr lang="en-US" sz="2200" dirty="0"/>
          </a:p>
          <a:p>
            <a:pPr indent="0" marL="0">
              <a:buNone/>
            </a:pPr>
            <a:r>
              <a:rPr lang="en-US" sz="1400" dirty="0">
                <a:solidFill>
                  <a:schemeClr val="bg1"/>
                </a:solidFill>
              </a:rPr>
              <a:t>위수 24 · 변수 순열</a:t>
            </a:r>
            <a:endParaRPr lang="en-US" sz="2200" dirty="0"/>
          </a:p>
        </p:txBody>
      </p:sp>
      <p:sp>
        <p:nvSpPr>
          <p:cNvPr id="10" name="group-head"/>
          <p:cNvSpPr/>
          <p:nvPr/>
        </p:nvSpPr>
        <p:spPr>
          <a:xfrm>
            <a:off x="6400800" y="1965960"/>
            <a:ext cx="5239512" cy="868680"/>
          </a:xfrm>
          <a:prstGeom prst="roundRect">
            <a:avLst>
              <a:gd name="adj" fmla="val 8421"/>
            </a:avLst>
          </a:prstGeom>
          <a:solidFill>
            <a:schemeClr val="accent1"/>
          </a:solidFill>
          <a:ln w="3175">
            <a:solidFill>
              <a:schemeClr val="accent1"/>
            </a:solidFill>
            <a:prstDash val="solid"/>
          </a:ln>
        </p:spPr>
      </p:sp>
      <p:sp>
        <p:nvSpPr>
          <p:cNvPr id="11" name="Text 8"/>
          <p:cNvSpPr txBox="1"/>
          <p:nvPr/>
        </p:nvSpPr>
        <p:spPr>
          <a:xfrm>
            <a:off x="6675120" y="1965960"/>
            <a:ext cx="4754880" cy="868680"/>
          </a:xfrm>
          <a:prstGeom prst="rect">
            <a:avLst/>
          </a:prstGeom>
          <a:noFill/>
          <a:ln/>
        </p:spPr>
        <p:txBody>
          <a:bodyPr wrap="square" lIns="0" tIns="0" rIns="0" bIns="0" rtlCol="0" anchor="ctr"/>
          <a:lstStyle/>
          <a:p>
            <a:pPr indent="0" marL="0">
              <a:buNone/>
            </a:pPr>
            <a:r>
              <a:rPr lang="en-US" sz="2200" b="1" dirty="0">
                <a:solidFill>
                  <a:schemeClr val="bg1"/>
                </a:solidFill>
              </a:rPr>
              <a:t>B₄ = Z₂⁴ ⋊ S₄</a:t>
            </a:r>
            <a:endParaRPr lang="en-US" sz="2200" dirty="0"/>
          </a:p>
          <a:p>
            <a:pPr indent="0" marL="0">
              <a:buNone/>
            </a:pPr>
            <a:r>
              <a:rPr lang="en-US" sz="1400" dirty="0">
                <a:solidFill>
                  <a:schemeClr val="bg1"/>
                </a:solidFill>
              </a:rPr>
              <a:t>위수 384 · 입력 반전까지</a:t>
            </a:r>
            <a:endParaRPr lang="en-US" sz="2200" dirty="0"/>
          </a:p>
        </p:txBody>
      </p:sp>
      <p:sp>
        <p:nvSpPr>
          <p:cNvPr id="12" name="arrow"/>
          <p:cNvSpPr/>
          <p:nvPr/>
        </p:nvSpPr>
        <p:spPr>
          <a:xfrm>
            <a:off x="5824728" y="3383280"/>
            <a:ext cx="530352" cy="457200"/>
          </a:xfrm>
          <a:prstGeom prst="rightArrow">
            <a:avLst/>
          </a:prstGeom>
          <a:solidFill>
            <a:schemeClr val="accent6"/>
          </a:solidFill>
          <a:ln w="3175">
            <a:solidFill>
              <a:schemeClr val="accent6"/>
            </a:solidFill>
            <a:prstDash val="solid"/>
          </a:ln>
        </p:spPr>
      </p:sp>
      <p:sp>
        <p:nvSpPr>
          <p:cNvPr id="13" name="result-row"/>
          <p:cNvSpPr/>
          <p:nvPr/>
        </p:nvSpPr>
        <p:spPr>
          <a:xfrm>
            <a:off x="548640" y="3017520"/>
            <a:ext cx="5239512" cy="658368"/>
          </a:xfrm>
          <a:prstGeom prst="roundRect">
            <a:avLst>
              <a:gd name="adj" fmla="val 11111"/>
            </a:avLst>
          </a:prstGeom>
          <a:solidFill>
            <a:schemeClr val="bg2"/>
          </a:solidFill>
          <a:ln w="3175">
            <a:solidFill>
              <a:schemeClr val="bg2"/>
            </a:solidFill>
            <a:prstDash val="solid"/>
          </a:ln>
        </p:spPr>
      </p:sp>
      <p:sp>
        <p:nvSpPr>
          <p:cNvPr id="14" name="result-row"/>
          <p:cNvSpPr/>
          <p:nvPr/>
        </p:nvSpPr>
        <p:spPr>
          <a:xfrm>
            <a:off x="6400800" y="3017520"/>
            <a:ext cx="5239512" cy="658368"/>
          </a:xfrm>
          <a:prstGeom prst="roundRect">
            <a:avLst>
              <a:gd name="adj" fmla="val 11111"/>
            </a:avLst>
          </a:prstGeom>
          <a:solidFill>
            <a:schemeClr val="bg2"/>
          </a:solidFill>
          <a:ln w="3175">
            <a:solidFill>
              <a:schemeClr val="bg2"/>
            </a:solidFill>
            <a:prstDash val="solid"/>
          </a:ln>
        </p:spPr>
      </p:sp>
      <p:sp>
        <p:nvSpPr>
          <p:cNvPr id="15" name="Text 12"/>
          <p:cNvSpPr txBox="1"/>
          <p:nvPr/>
        </p:nvSpPr>
        <p:spPr>
          <a:xfrm>
            <a:off x="777240" y="3017520"/>
            <a:ext cx="2377440" cy="658368"/>
          </a:xfrm>
          <a:prstGeom prst="rect">
            <a:avLst/>
          </a:prstGeom>
          <a:noFill/>
          <a:ln/>
        </p:spPr>
        <p:txBody>
          <a:bodyPr wrap="square" lIns="0" tIns="0" rIns="0" bIns="0" rtlCol="0" anchor="ctr"/>
          <a:lstStyle/>
          <a:p>
            <a:pPr indent="0" marL="0">
              <a:buNone/>
            </a:pPr>
            <a:r>
              <a:rPr lang="en-US" sz="1600" b="1" dirty="0">
                <a:solidFill>
                  <a:schemeClr val="tx2"/>
                </a:solidFill>
              </a:rPr>
              <a:t>전체 공간</a:t>
            </a:r>
            <a:endParaRPr lang="en-US" sz="1600" dirty="0"/>
          </a:p>
        </p:txBody>
      </p:sp>
      <p:sp>
        <p:nvSpPr>
          <p:cNvPr id="16" name="Text 13"/>
          <p:cNvSpPr txBox="1"/>
          <p:nvPr/>
        </p:nvSpPr>
        <p:spPr>
          <a:xfrm>
            <a:off x="3154680" y="3017520"/>
            <a:ext cx="2377440" cy="658368"/>
          </a:xfrm>
          <a:prstGeom prst="rect">
            <a:avLst/>
          </a:prstGeom>
          <a:noFill/>
          <a:ln/>
        </p:spPr>
        <p:txBody>
          <a:bodyPr wrap="square" lIns="0" tIns="0" rIns="0" bIns="0" rtlCol="0" anchor="ctr"/>
          <a:lstStyle/>
          <a:p>
            <a:pPr algn="r" indent="0" marL="0">
              <a:buNone/>
            </a:pPr>
            <a:r>
              <a:rPr lang="en-US" sz="2400" b="1" dirty="0">
                <a:solidFill>
                  <a:schemeClr val="tx1"/>
                </a:solidFill>
              </a:rPr>
              <a:t>3,984</a:t>
            </a:r>
            <a:endParaRPr lang="en-US" sz="2400" dirty="0"/>
          </a:p>
        </p:txBody>
      </p:sp>
      <p:sp>
        <p:nvSpPr>
          <p:cNvPr id="17" name="Text 14"/>
          <p:cNvSpPr txBox="1"/>
          <p:nvPr/>
        </p:nvSpPr>
        <p:spPr>
          <a:xfrm>
            <a:off x="6629400" y="3017520"/>
            <a:ext cx="2011680" cy="658368"/>
          </a:xfrm>
          <a:prstGeom prst="rect">
            <a:avLst/>
          </a:prstGeom>
          <a:noFill/>
          <a:ln/>
        </p:spPr>
        <p:txBody>
          <a:bodyPr wrap="square" lIns="0" tIns="0" rIns="0" bIns="0" rtlCol="0" anchor="ctr"/>
          <a:lstStyle/>
          <a:p>
            <a:pPr indent="0" marL="0">
              <a:buNone/>
            </a:pPr>
            <a:r>
              <a:rPr lang="en-US" sz="1600" b="1" dirty="0">
                <a:solidFill>
                  <a:schemeClr val="tx2"/>
                </a:solidFill>
              </a:rPr>
              <a:t>전체 공간</a:t>
            </a:r>
            <a:endParaRPr lang="en-US" sz="1600" dirty="0"/>
          </a:p>
        </p:txBody>
      </p:sp>
      <p:sp>
        <p:nvSpPr>
          <p:cNvPr id="18" name="Text 15"/>
          <p:cNvSpPr txBox="1"/>
          <p:nvPr/>
        </p:nvSpPr>
        <p:spPr>
          <a:xfrm>
            <a:off x="8549640" y="3017520"/>
            <a:ext cx="2834640" cy="658368"/>
          </a:xfrm>
          <a:prstGeom prst="rect">
            <a:avLst/>
          </a:prstGeom>
          <a:noFill/>
          <a:ln/>
        </p:spPr>
        <p:txBody>
          <a:bodyPr wrap="square" lIns="0" tIns="0" rIns="0" bIns="0" rtlCol="0" anchor="ctr"/>
          <a:lstStyle/>
          <a:p>
            <a:pPr algn="r" indent="0" marL="0">
              <a:buNone/>
            </a:pPr>
            <a:r>
              <a:rPr lang="en-US" sz="2400" b="1" dirty="0">
                <a:solidFill>
                  <a:schemeClr val="accent1"/>
                </a:solidFill>
              </a:rPr>
              <a:t>402</a:t>
            </a:r>
            <a:endParaRPr lang="en-US" sz="2400" dirty="0"/>
          </a:p>
        </p:txBody>
      </p:sp>
      <p:sp>
        <p:nvSpPr>
          <p:cNvPr id="19" name="result-row"/>
          <p:cNvSpPr/>
          <p:nvPr/>
        </p:nvSpPr>
        <p:spPr>
          <a:xfrm>
            <a:off x="548640" y="3794760"/>
            <a:ext cx="5239512" cy="658368"/>
          </a:xfrm>
          <a:prstGeom prst="roundRect">
            <a:avLst>
              <a:gd name="adj" fmla="val 11111"/>
            </a:avLst>
          </a:prstGeom>
          <a:solidFill>
            <a:schemeClr val="bg2"/>
          </a:solidFill>
          <a:ln w="3175">
            <a:solidFill>
              <a:schemeClr val="bg2"/>
            </a:solidFill>
            <a:prstDash val="solid"/>
          </a:ln>
        </p:spPr>
      </p:sp>
      <p:sp>
        <p:nvSpPr>
          <p:cNvPr id="20" name="result-row"/>
          <p:cNvSpPr/>
          <p:nvPr/>
        </p:nvSpPr>
        <p:spPr>
          <a:xfrm>
            <a:off x="6400800" y="3794760"/>
            <a:ext cx="5239512" cy="658368"/>
          </a:xfrm>
          <a:prstGeom prst="roundRect">
            <a:avLst>
              <a:gd name="adj" fmla="val 11111"/>
            </a:avLst>
          </a:prstGeom>
          <a:solidFill>
            <a:schemeClr val="bg2"/>
          </a:solidFill>
          <a:ln w="3175">
            <a:solidFill>
              <a:schemeClr val="bg2"/>
            </a:solidFill>
            <a:prstDash val="solid"/>
          </a:ln>
        </p:spPr>
      </p:sp>
      <p:sp>
        <p:nvSpPr>
          <p:cNvPr id="21" name="Text 18"/>
          <p:cNvSpPr txBox="1"/>
          <p:nvPr/>
        </p:nvSpPr>
        <p:spPr>
          <a:xfrm>
            <a:off x="777240" y="3794760"/>
            <a:ext cx="2377440" cy="658368"/>
          </a:xfrm>
          <a:prstGeom prst="rect">
            <a:avLst/>
          </a:prstGeom>
          <a:noFill/>
          <a:ln/>
        </p:spPr>
        <p:txBody>
          <a:bodyPr wrap="square" lIns="0" tIns="0" rIns="0" bIns="0" rtlCol="0" anchor="ctr"/>
          <a:lstStyle/>
          <a:p>
            <a:pPr indent="0" marL="0">
              <a:buNone/>
            </a:pPr>
            <a:r>
              <a:rPr lang="en-US" sz="1600" b="1" dirty="0">
                <a:solidFill>
                  <a:schemeClr val="tx2"/>
                </a:solidFill>
              </a:rPr>
              <a:t>아핀 L</a:t>
            </a:r>
            <a:endParaRPr lang="en-US" sz="1600" dirty="0"/>
          </a:p>
        </p:txBody>
      </p:sp>
      <p:sp>
        <p:nvSpPr>
          <p:cNvPr id="22" name="Text 19"/>
          <p:cNvSpPr txBox="1"/>
          <p:nvPr/>
        </p:nvSpPr>
        <p:spPr>
          <a:xfrm>
            <a:off x="3154680" y="3794760"/>
            <a:ext cx="2377440" cy="658368"/>
          </a:xfrm>
          <a:prstGeom prst="rect">
            <a:avLst/>
          </a:prstGeom>
          <a:noFill/>
          <a:ln/>
        </p:spPr>
        <p:txBody>
          <a:bodyPr wrap="square" lIns="0" tIns="0" rIns="0" bIns="0" rtlCol="0" anchor="ctr"/>
          <a:lstStyle/>
          <a:p>
            <a:pPr algn="r" indent="0" marL="0">
              <a:buNone/>
            </a:pPr>
            <a:r>
              <a:rPr lang="en-US" sz="2400" b="1" dirty="0">
                <a:solidFill>
                  <a:schemeClr val="tx1"/>
                </a:solidFill>
              </a:rPr>
              <a:t>10</a:t>
            </a:r>
            <a:endParaRPr lang="en-US" sz="2400" dirty="0"/>
          </a:p>
        </p:txBody>
      </p:sp>
      <p:sp>
        <p:nvSpPr>
          <p:cNvPr id="23" name="Text 20"/>
          <p:cNvSpPr txBox="1"/>
          <p:nvPr/>
        </p:nvSpPr>
        <p:spPr>
          <a:xfrm>
            <a:off x="6629400" y="3794760"/>
            <a:ext cx="2011680" cy="658368"/>
          </a:xfrm>
          <a:prstGeom prst="rect">
            <a:avLst/>
          </a:prstGeom>
          <a:noFill/>
          <a:ln/>
        </p:spPr>
        <p:txBody>
          <a:bodyPr wrap="square" lIns="0" tIns="0" rIns="0" bIns="0" rtlCol="0" anchor="ctr"/>
          <a:lstStyle/>
          <a:p>
            <a:pPr indent="0" marL="0">
              <a:buNone/>
            </a:pPr>
            <a:r>
              <a:rPr lang="en-US" sz="1600" b="1" dirty="0">
                <a:solidFill>
                  <a:schemeClr val="tx2"/>
                </a:solidFill>
              </a:rPr>
              <a:t>아핀 L</a:t>
            </a:r>
            <a:endParaRPr lang="en-US" sz="1600" dirty="0"/>
          </a:p>
        </p:txBody>
      </p:sp>
      <p:sp>
        <p:nvSpPr>
          <p:cNvPr id="24" name="Text 21"/>
          <p:cNvSpPr txBox="1"/>
          <p:nvPr/>
        </p:nvSpPr>
        <p:spPr>
          <a:xfrm>
            <a:off x="8549640" y="3794760"/>
            <a:ext cx="2834640" cy="658368"/>
          </a:xfrm>
          <a:prstGeom prst="rect">
            <a:avLst/>
          </a:prstGeom>
          <a:noFill/>
          <a:ln/>
        </p:spPr>
        <p:txBody>
          <a:bodyPr wrap="square" lIns="0" tIns="0" rIns="0" bIns="0" rtlCol="0" anchor="ctr"/>
          <a:lstStyle/>
          <a:p>
            <a:pPr algn="r" indent="0" marL="0">
              <a:buNone/>
            </a:pPr>
            <a:r>
              <a:rPr lang="en-US" sz="2400" b="1" dirty="0">
                <a:solidFill>
                  <a:schemeClr val="accent1"/>
                </a:solidFill>
              </a:rPr>
              <a:t>6</a:t>
            </a:r>
            <a:endParaRPr lang="en-US" sz="2400" dirty="0"/>
          </a:p>
        </p:txBody>
      </p:sp>
      <p:sp>
        <p:nvSpPr>
          <p:cNvPr id="25" name="result-row"/>
          <p:cNvSpPr/>
          <p:nvPr/>
        </p:nvSpPr>
        <p:spPr>
          <a:xfrm>
            <a:off x="548640" y="4572000"/>
            <a:ext cx="5239512" cy="658368"/>
          </a:xfrm>
          <a:prstGeom prst="roundRect">
            <a:avLst>
              <a:gd name="adj" fmla="val 11111"/>
            </a:avLst>
          </a:prstGeom>
          <a:solidFill>
            <a:schemeClr val="bg2"/>
          </a:solidFill>
          <a:ln w="3175">
            <a:solidFill>
              <a:schemeClr val="bg2"/>
            </a:solidFill>
            <a:prstDash val="solid"/>
          </a:ln>
        </p:spPr>
      </p:sp>
      <p:sp>
        <p:nvSpPr>
          <p:cNvPr id="26" name="result-row"/>
          <p:cNvSpPr/>
          <p:nvPr/>
        </p:nvSpPr>
        <p:spPr>
          <a:xfrm>
            <a:off x="6400800" y="4572000"/>
            <a:ext cx="5239512" cy="658368"/>
          </a:xfrm>
          <a:prstGeom prst="roundRect">
            <a:avLst>
              <a:gd name="adj" fmla="val 11111"/>
            </a:avLst>
          </a:prstGeom>
          <a:solidFill>
            <a:schemeClr val="bg2"/>
          </a:solidFill>
          <a:ln w="3175">
            <a:solidFill>
              <a:schemeClr val="bg2"/>
            </a:solidFill>
            <a:prstDash val="solid"/>
          </a:ln>
        </p:spPr>
      </p:sp>
      <p:sp>
        <p:nvSpPr>
          <p:cNvPr id="27" name="Text 24"/>
          <p:cNvSpPr txBox="1"/>
          <p:nvPr/>
        </p:nvSpPr>
        <p:spPr>
          <a:xfrm>
            <a:off x="777240" y="4572000"/>
            <a:ext cx="2377440" cy="658368"/>
          </a:xfrm>
          <a:prstGeom prst="rect">
            <a:avLst/>
          </a:prstGeom>
          <a:noFill/>
          <a:ln/>
        </p:spPr>
        <p:txBody>
          <a:bodyPr wrap="square" lIns="0" tIns="0" rIns="0" bIns="0" rtlCol="0" anchor="ctr"/>
          <a:lstStyle/>
          <a:p>
            <a:pPr indent="0" marL="0">
              <a:buNone/>
            </a:pPr>
            <a:r>
              <a:rPr lang="en-US" sz="1600" b="1" dirty="0">
                <a:solidFill>
                  <a:schemeClr val="tx2"/>
                </a:solidFill>
              </a:rPr>
              <a:t>단조 M</a:t>
            </a:r>
            <a:endParaRPr lang="en-US" sz="1600" dirty="0"/>
          </a:p>
        </p:txBody>
      </p:sp>
      <p:sp>
        <p:nvSpPr>
          <p:cNvPr id="28" name="Text 25"/>
          <p:cNvSpPr txBox="1"/>
          <p:nvPr/>
        </p:nvSpPr>
        <p:spPr>
          <a:xfrm>
            <a:off x="3154680" y="4572000"/>
            <a:ext cx="2377440" cy="658368"/>
          </a:xfrm>
          <a:prstGeom prst="rect">
            <a:avLst/>
          </a:prstGeom>
          <a:noFill/>
          <a:ln/>
        </p:spPr>
        <p:txBody>
          <a:bodyPr wrap="square" lIns="0" tIns="0" rIns="0" bIns="0" rtlCol="0" anchor="ctr"/>
          <a:lstStyle/>
          <a:p>
            <a:pPr algn="r" indent="0" marL="0">
              <a:buNone/>
            </a:pPr>
            <a:r>
              <a:rPr lang="en-US" sz="2400" b="1" dirty="0">
                <a:solidFill>
                  <a:schemeClr val="tx1"/>
                </a:solidFill>
              </a:rPr>
              <a:t>30</a:t>
            </a:r>
            <a:endParaRPr lang="en-US" sz="2400" dirty="0"/>
          </a:p>
        </p:txBody>
      </p:sp>
      <p:sp>
        <p:nvSpPr>
          <p:cNvPr id="29" name="Text 26"/>
          <p:cNvSpPr txBox="1"/>
          <p:nvPr/>
        </p:nvSpPr>
        <p:spPr>
          <a:xfrm>
            <a:off x="6629400" y="4572000"/>
            <a:ext cx="2011680" cy="658368"/>
          </a:xfrm>
          <a:prstGeom prst="rect">
            <a:avLst/>
          </a:prstGeom>
          <a:noFill/>
          <a:ln/>
        </p:spPr>
        <p:txBody>
          <a:bodyPr wrap="square" lIns="0" tIns="0" rIns="0" bIns="0" rtlCol="0" anchor="ctr"/>
          <a:lstStyle/>
          <a:p>
            <a:pPr indent="0" marL="0">
              <a:buNone/>
            </a:pPr>
            <a:r>
              <a:rPr lang="en-US" sz="1600" b="1" dirty="0">
                <a:solidFill>
                  <a:schemeClr val="tx2"/>
                </a:solidFill>
              </a:rPr>
              <a:t>단조 M</a:t>
            </a:r>
            <a:endParaRPr lang="en-US" sz="1600" dirty="0"/>
          </a:p>
        </p:txBody>
      </p:sp>
      <p:sp>
        <p:nvSpPr>
          <p:cNvPr id="30" name="Text 27"/>
          <p:cNvSpPr txBox="1"/>
          <p:nvPr/>
        </p:nvSpPr>
        <p:spPr>
          <a:xfrm>
            <a:off x="8549640" y="4572000"/>
            <a:ext cx="2834640" cy="658368"/>
          </a:xfrm>
          <a:prstGeom prst="rect">
            <a:avLst/>
          </a:prstGeom>
          <a:noFill/>
          <a:ln/>
        </p:spPr>
        <p:txBody>
          <a:bodyPr wrap="square" lIns="0" tIns="0" rIns="0" bIns="0" rtlCol="0" anchor="ctr"/>
          <a:lstStyle/>
          <a:p>
            <a:pPr algn="r" indent="0" marL="0">
              <a:buNone/>
            </a:pPr>
            <a:r>
              <a:rPr lang="en-US" sz="1600" b="1" dirty="0">
                <a:solidFill>
                  <a:schemeClr val="tx2"/>
                </a:solidFill>
              </a:rPr>
              <a:t>정의되지 않음</a:t>
            </a:r>
            <a:endParaRPr lang="en-US" sz="1600" dirty="0"/>
          </a:p>
        </p:txBody>
      </p:sp>
      <p:sp>
        <p:nvSpPr>
          <p:cNvPr id="31" name="result-row"/>
          <p:cNvSpPr/>
          <p:nvPr/>
        </p:nvSpPr>
        <p:spPr>
          <a:xfrm>
            <a:off x="548640" y="5349240"/>
            <a:ext cx="5239512" cy="658368"/>
          </a:xfrm>
          <a:prstGeom prst="roundRect">
            <a:avLst>
              <a:gd name="adj" fmla="val 11111"/>
            </a:avLst>
          </a:prstGeom>
          <a:solidFill>
            <a:schemeClr val="bg2"/>
          </a:solidFill>
          <a:ln w="3175">
            <a:solidFill>
              <a:schemeClr val="bg2"/>
            </a:solidFill>
            <a:prstDash val="solid"/>
          </a:ln>
        </p:spPr>
      </p:sp>
      <p:sp>
        <p:nvSpPr>
          <p:cNvPr id="32" name="result-row"/>
          <p:cNvSpPr/>
          <p:nvPr/>
        </p:nvSpPr>
        <p:spPr>
          <a:xfrm>
            <a:off x="6400800" y="5349240"/>
            <a:ext cx="5239512" cy="658368"/>
          </a:xfrm>
          <a:prstGeom prst="roundRect">
            <a:avLst>
              <a:gd name="adj" fmla="val 11111"/>
            </a:avLst>
          </a:prstGeom>
          <a:solidFill>
            <a:schemeClr val="bg2"/>
          </a:solidFill>
          <a:ln w="3175">
            <a:solidFill>
              <a:schemeClr val="bg2"/>
            </a:solidFill>
            <a:prstDash val="solid"/>
          </a:ln>
        </p:spPr>
      </p:sp>
      <p:sp>
        <p:nvSpPr>
          <p:cNvPr id="33" name="Text 30"/>
          <p:cNvSpPr txBox="1"/>
          <p:nvPr/>
        </p:nvSpPr>
        <p:spPr>
          <a:xfrm>
            <a:off x="777240" y="5349240"/>
            <a:ext cx="2377440" cy="658368"/>
          </a:xfrm>
          <a:prstGeom prst="rect">
            <a:avLst/>
          </a:prstGeom>
          <a:noFill/>
          <a:ln/>
        </p:spPr>
        <p:txBody>
          <a:bodyPr wrap="square" lIns="0" tIns="0" rIns="0" bIns="0" rtlCol="0" anchor="ctr"/>
          <a:lstStyle/>
          <a:p>
            <a:pPr indent="0" marL="0">
              <a:buNone/>
            </a:pPr>
            <a:r>
              <a:rPr lang="en-US" sz="1600" b="1" dirty="0">
                <a:solidFill>
                  <a:schemeClr val="tx2"/>
                </a:solidFill>
              </a:rPr>
              <a:t>자기쌍대 D</a:t>
            </a:r>
            <a:endParaRPr lang="en-US" sz="1600" dirty="0"/>
          </a:p>
        </p:txBody>
      </p:sp>
      <p:sp>
        <p:nvSpPr>
          <p:cNvPr id="34" name="Text 31"/>
          <p:cNvSpPr txBox="1"/>
          <p:nvPr/>
        </p:nvSpPr>
        <p:spPr>
          <a:xfrm>
            <a:off x="3154680" y="5349240"/>
            <a:ext cx="2377440" cy="658368"/>
          </a:xfrm>
          <a:prstGeom prst="rect">
            <a:avLst/>
          </a:prstGeom>
          <a:noFill/>
          <a:ln/>
        </p:spPr>
        <p:txBody>
          <a:bodyPr wrap="square" lIns="0" tIns="0" rIns="0" bIns="0" rtlCol="0" anchor="ctr"/>
          <a:lstStyle/>
          <a:p>
            <a:pPr algn="r" indent="0" marL="0">
              <a:buNone/>
            </a:pPr>
            <a:r>
              <a:rPr lang="en-US" sz="2400" b="1" dirty="0">
                <a:solidFill>
                  <a:schemeClr val="tx1"/>
                </a:solidFill>
              </a:rPr>
              <a:t>32</a:t>
            </a:r>
            <a:endParaRPr lang="en-US" sz="2400" dirty="0"/>
          </a:p>
        </p:txBody>
      </p:sp>
      <p:sp>
        <p:nvSpPr>
          <p:cNvPr id="35" name="Text 32"/>
          <p:cNvSpPr txBox="1"/>
          <p:nvPr/>
        </p:nvSpPr>
        <p:spPr>
          <a:xfrm>
            <a:off x="6629400" y="5349240"/>
            <a:ext cx="2011680" cy="658368"/>
          </a:xfrm>
          <a:prstGeom prst="rect">
            <a:avLst/>
          </a:prstGeom>
          <a:noFill/>
          <a:ln/>
        </p:spPr>
        <p:txBody>
          <a:bodyPr wrap="square" lIns="0" tIns="0" rIns="0" bIns="0" rtlCol="0" anchor="ctr"/>
          <a:lstStyle/>
          <a:p>
            <a:pPr indent="0" marL="0">
              <a:buNone/>
            </a:pPr>
            <a:r>
              <a:rPr lang="en-US" sz="1600" b="1" dirty="0">
                <a:solidFill>
                  <a:schemeClr val="tx2"/>
                </a:solidFill>
              </a:rPr>
              <a:t>자기쌍대 D</a:t>
            </a:r>
            <a:endParaRPr lang="en-US" sz="1600" dirty="0"/>
          </a:p>
        </p:txBody>
      </p:sp>
      <p:sp>
        <p:nvSpPr>
          <p:cNvPr id="36" name="Text 33"/>
          <p:cNvSpPr txBox="1"/>
          <p:nvPr/>
        </p:nvSpPr>
        <p:spPr>
          <a:xfrm>
            <a:off x="8549640" y="5349240"/>
            <a:ext cx="2834640" cy="658368"/>
          </a:xfrm>
          <a:prstGeom prst="rect">
            <a:avLst/>
          </a:prstGeom>
          <a:noFill/>
          <a:ln/>
        </p:spPr>
        <p:txBody>
          <a:bodyPr wrap="square" lIns="0" tIns="0" rIns="0" bIns="0" rtlCol="0" anchor="ctr"/>
          <a:lstStyle/>
          <a:p>
            <a:pPr algn="r" indent="0" marL="0">
              <a:buNone/>
            </a:pPr>
            <a:r>
              <a:rPr lang="en-US" sz="2400" b="1" dirty="0">
                <a:solidFill>
                  <a:schemeClr val="accent1"/>
                </a:solidFill>
              </a:rPr>
              <a:t>7</a:t>
            </a:r>
            <a:endParaRPr lang="en-US" sz="2400" dirty="0"/>
          </a:p>
        </p:txBody>
      </p:sp>
      <p:sp>
        <p:nvSpPr>
          <p:cNvPr id="37" name="Text 34"/>
          <p:cNvSpPr txBox="1"/>
          <p:nvPr/>
        </p:nvSpPr>
        <p:spPr>
          <a:xfrm>
            <a:off x="548640" y="6126480"/>
            <a:ext cx="11091672" cy="274320"/>
          </a:xfrm>
          <a:prstGeom prst="rect">
            <a:avLst/>
          </a:prstGeom>
          <a:noFill/>
          <a:ln/>
        </p:spPr>
        <p:txBody>
          <a:bodyPr wrap="square" lIns="0" tIns="0" rIns="0" bIns="0" rtlCol="0" anchor="ctr"/>
          <a:lstStyle/>
          <a:p>
            <a:pPr indent="0" marL="0">
              <a:buNone/>
            </a:pPr>
            <a:r>
              <a:rPr lang="en-US" sz="1200" dirty="0">
                <a:solidFill>
                  <a:schemeClr val="tx2"/>
                </a:solidFill>
              </a:rPr>
              <a:t>402 = 4변수 NP 동치류의 수 (Slepian, 1953)  ·  단조는 입력 반전에 닫혀 있지 않음</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35</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5부 · 정리</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한계와 열린 문제</a:t>
            </a:r>
            <a:endParaRPr lang="en-US" sz="3400" dirty="0"/>
          </a:p>
        </p:txBody>
      </p:sp>
      <p:sp>
        <p:nvSpPr>
          <p:cNvPr id="6" name="lead"/>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800" dirty="0">
                <a:solidFill>
                  <a:schemeClr val="tx2"/>
                </a:solidFill>
              </a:rPr>
              <a:t>연구 결과를 가르칠 때는 한계를 함께 가르친다</a:t>
            </a:r>
            <a:endParaRPr lang="en-US" sz="1800" dirty="0"/>
          </a:p>
        </p:txBody>
      </p:sp>
      <p:sp>
        <p:nvSpPr>
          <p:cNvPr id="8" name="limit-card"/>
          <p:cNvSpPr/>
          <p:nvPr/>
        </p:nvSpPr>
        <p:spPr>
          <a:xfrm>
            <a:off x="548640" y="1965960"/>
            <a:ext cx="5440680" cy="3383280"/>
          </a:xfrm>
          <a:prstGeom prst="roundRect">
            <a:avLst>
              <a:gd name="adj" fmla="val 2162"/>
            </a:avLst>
          </a:prstGeom>
          <a:solidFill>
            <a:schemeClr val="bg2"/>
          </a:solidFill>
          <a:ln w="3175">
            <a:solidFill>
              <a:schemeClr val="bg2"/>
            </a:solidFill>
            <a:prstDash val="solid"/>
          </a:ln>
        </p:spPr>
      </p:sp>
      <p:sp>
        <p:nvSpPr>
          <p:cNvPr id="9" name="Text 6"/>
          <p:cNvSpPr txBox="1"/>
          <p:nvPr/>
        </p:nvSpPr>
        <p:spPr>
          <a:xfrm>
            <a:off x="822960" y="2057400"/>
            <a:ext cx="4846320" cy="411480"/>
          </a:xfrm>
          <a:prstGeom prst="rect">
            <a:avLst/>
          </a:prstGeom>
          <a:noFill/>
          <a:ln/>
        </p:spPr>
        <p:txBody>
          <a:bodyPr wrap="square" lIns="0" tIns="0" rIns="0" bIns="0" rtlCol="0" anchor="ctr"/>
          <a:lstStyle/>
          <a:p>
            <a:pPr indent="0" marL="0">
              <a:buNone/>
            </a:pPr>
            <a:r>
              <a:rPr lang="en-US" sz="2200" b="1" dirty="0">
                <a:solidFill>
                  <a:schemeClr val="accent1"/>
                </a:solidFill>
              </a:rPr>
              <a:t>한계</a:t>
            </a:r>
            <a:endParaRPr lang="en-US" sz="2200" dirty="0"/>
          </a:p>
        </p:txBody>
      </p:sp>
      <p:sp>
        <p:nvSpPr>
          <p:cNvPr id="10" name="Text 7"/>
          <p:cNvSpPr txBox="1"/>
          <p:nvPr/>
        </p:nvSpPr>
        <p:spPr>
          <a:xfrm>
            <a:off x="822960" y="2606040"/>
            <a:ext cx="4937760" cy="26517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결과는 4변수에 한정된다</a:t>
            </a:r>
            <a:endParaRPr lang="en-US" sz="1700" dirty="0"/>
          </a:p>
          <a:p>
            <a:pPr marL="342900" indent="-342900">
              <a:spcAft>
                <a:spcPts val="1000"/>
              </a:spcAft>
              <a:buSzPct val="100000"/>
              <a:buChar char="•"/>
            </a:pPr>
            <a:r>
              <a:rPr lang="en-US" sz="1700" dirty="0">
                <a:solidFill>
                  <a:schemeClr val="tx1"/>
                </a:solidFill>
              </a:rPr>
              <a:t>단조 궤도 크기 분포는 S₄의 부분군 30개 위의 뫼비우스 반전 — 컴퓨터 계산이며 닫힌 식은 아니다</a:t>
            </a:r>
            <a:endParaRPr lang="en-US" sz="1700" dirty="0"/>
          </a:p>
          <a:p>
            <a:pPr marL="342900" indent="-342900">
              <a:spcAft>
                <a:spcPts val="1000"/>
              </a:spcAft>
              <a:buSzPct val="100000"/>
              <a:buChar char="•"/>
            </a:pPr>
            <a:r>
              <a:rPr lang="en-US" sz="1700" dirty="0">
                <a:solidFill>
                  <a:schemeClr val="tx1"/>
                </a:solidFill>
              </a:rPr>
              <a:t>30개 궤도의 대표 함수 목록은 열거에 의존한다</a:t>
            </a:r>
            <a:endParaRPr lang="en-US" sz="1700" dirty="0"/>
          </a:p>
          <a:p>
            <a:pPr marL="342900" indent="-342900">
              <a:buSzPct val="100000"/>
              <a:buChar char="•"/>
            </a:pPr>
            <a:r>
              <a:rPr lang="en-US" sz="1700" dirty="0">
                <a:solidFill>
                  <a:schemeClr val="tx1"/>
                </a:solidFill>
              </a:rPr>
              <a:t>선행 연구 조사는 웹 검색과 OEIS 조회에 한정</a:t>
            </a:r>
            <a:endParaRPr lang="en-US" sz="1700" dirty="0"/>
          </a:p>
        </p:txBody>
      </p:sp>
      <p:sp>
        <p:nvSpPr>
          <p:cNvPr id="11" name="open-card"/>
          <p:cNvSpPr/>
          <p:nvPr/>
        </p:nvSpPr>
        <p:spPr>
          <a:xfrm>
            <a:off x="6199632" y="1965960"/>
            <a:ext cx="5440680" cy="3383280"/>
          </a:xfrm>
          <a:prstGeom prst="roundRect">
            <a:avLst>
              <a:gd name="adj" fmla="val 2162"/>
            </a:avLst>
          </a:prstGeom>
          <a:solidFill>
            <a:schemeClr val="bg2"/>
          </a:solidFill>
          <a:ln w="3175">
            <a:solidFill>
              <a:schemeClr val="bg2"/>
            </a:solidFill>
            <a:prstDash val="solid"/>
          </a:ln>
        </p:spPr>
      </p:sp>
      <p:sp>
        <p:nvSpPr>
          <p:cNvPr id="12" name="Text 9"/>
          <p:cNvSpPr txBox="1"/>
          <p:nvPr/>
        </p:nvSpPr>
        <p:spPr>
          <a:xfrm>
            <a:off x="6473952" y="2057400"/>
            <a:ext cx="4846320" cy="411480"/>
          </a:xfrm>
          <a:prstGeom prst="rect">
            <a:avLst/>
          </a:prstGeom>
          <a:noFill/>
          <a:ln/>
        </p:spPr>
        <p:txBody>
          <a:bodyPr wrap="square" lIns="0" tIns="0" rIns="0" bIns="0" rtlCol="0" anchor="ctr"/>
          <a:lstStyle/>
          <a:p>
            <a:pPr indent="0" marL="0">
              <a:buNone/>
            </a:pPr>
            <a:r>
              <a:rPr lang="en-US" sz="2200" b="1" dirty="0">
                <a:solidFill>
                  <a:schemeClr val="accent2"/>
                </a:solidFill>
              </a:rPr>
              <a:t>열린 문제</a:t>
            </a:r>
            <a:endParaRPr lang="en-US" sz="2200" dirty="0"/>
          </a:p>
        </p:txBody>
      </p:sp>
      <p:sp>
        <p:nvSpPr>
          <p:cNvPr id="13" name="Text 10"/>
          <p:cNvSpPr txBox="1"/>
          <p:nvPr/>
        </p:nvSpPr>
        <p:spPr>
          <a:xfrm>
            <a:off x="6473952" y="2606040"/>
            <a:ext cx="4937760" cy="26517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n변수로의 일반화 (예비: 아핀 12, 단조 210)</a:t>
            </a:r>
            <a:endParaRPr lang="en-US" sz="1700" dirty="0"/>
          </a:p>
          <a:p>
            <a:pPr marL="342900" indent="-342900">
              <a:spcAft>
                <a:spcPts val="1000"/>
              </a:spcAft>
              <a:buSzPct val="100000"/>
              <a:buChar char="•"/>
            </a:pPr>
            <a:r>
              <a:rPr lang="en-US" sz="1700" dirty="0">
                <a:solidFill>
                  <a:schemeClr val="tx1"/>
                </a:solidFill>
              </a:rPr>
              <a:t>닫힌 식: 단조 궤도 크기 분포 (6, 2, 9, 6, 7)를 부분군 격자의 구조에서 유도</a:t>
            </a:r>
            <a:endParaRPr lang="en-US" sz="1700" dirty="0"/>
          </a:p>
          <a:p>
            <a:pPr marL="342900" indent="-342900">
              <a:spcAft>
                <a:spcPts val="1000"/>
              </a:spcAft>
              <a:buSzPct val="100000"/>
              <a:buChar char="•"/>
            </a:pPr>
            <a:r>
              <a:rPr lang="en-US" sz="1700" dirty="0">
                <a:solidFill>
                  <a:schemeClr val="tx1"/>
                </a:solidFill>
              </a:rPr>
              <a:t>30개 대표 함수 목록을 열거 없이 얻는 방법</a:t>
            </a:r>
            <a:endParaRPr lang="en-US" sz="1700" dirty="0"/>
          </a:p>
          <a:p>
            <a:pPr marL="342900" indent="-342900">
              <a:buSzPct val="100000"/>
              <a:buChar char="•"/>
            </a:pPr>
            <a:r>
              <a:rPr lang="en-US" sz="1700" dirty="0">
                <a:solidFill>
                  <a:schemeClr val="tx1"/>
                </a:solidFill>
              </a:rPr>
              <a:t>클론별 궤도 구조의 선행 여부 — 전문가 검토</a:t>
            </a:r>
            <a:endParaRPr lang="en-US" sz="1700" dirty="0"/>
          </a:p>
        </p:txBody>
      </p:sp>
      <p:sp>
        <p:nvSpPr>
          <p:cNvPr id="14" name="discussion-band"/>
          <p:cNvSpPr/>
          <p:nvPr/>
        </p:nvSpPr>
        <p:spPr>
          <a:xfrm>
            <a:off x="548640" y="5532120"/>
            <a:ext cx="11091672" cy="685800"/>
          </a:xfrm>
          <a:prstGeom prst="roundRect">
            <a:avLst>
              <a:gd name="adj" fmla="val 10667"/>
            </a:avLst>
          </a:prstGeom>
          <a:solidFill>
            <a:schemeClr val="tx1"/>
          </a:solidFill>
          <a:ln w="3175">
            <a:solidFill>
              <a:schemeClr val="tx1"/>
            </a:solidFill>
            <a:prstDash val="solid"/>
          </a:ln>
        </p:spPr>
      </p:sp>
      <p:sp>
        <p:nvSpPr>
          <p:cNvPr id="15" name="Text 12"/>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600" b="1" dirty="0">
                <a:solidFill>
                  <a:schemeClr val="bg1"/>
                </a:solidFill>
              </a:rPr>
              <a:t>토론: '컴퓨터로 확인한 사실'과 '증명한 사실'을 논문에서 어떻게 구분해 쓰면 좋을까?</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37</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4"/>
                </a:solidFill>
              </a:rPr>
              <a:t>5부 · 정리</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tx1"/>
                </a:solidFill>
              </a:rPr>
              <a:t>연습문제와 토론</a:t>
            </a:r>
            <a:endParaRPr lang="en-US" sz="3400" dirty="0"/>
          </a:p>
        </p:txBody>
      </p:sp>
      <p:sp>
        <p:nvSpPr>
          <p:cNvPr id="7" name="exercise-card"/>
          <p:cNvSpPr/>
          <p:nvPr/>
        </p:nvSpPr>
        <p:spPr>
          <a:xfrm>
            <a:off x="548640" y="1645920"/>
            <a:ext cx="11091672" cy="804672"/>
          </a:xfrm>
          <a:prstGeom prst="roundRect">
            <a:avLst>
              <a:gd name="adj" fmla="val 9091"/>
            </a:avLst>
          </a:prstGeom>
          <a:solidFill>
            <a:schemeClr val="bg2"/>
          </a:solidFill>
          <a:ln w="3175">
            <a:solidFill>
              <a:schemeClr val="bg2"/>
            </a:solidFill>
            <a:prstDash val="solid"/>
          </a:ln>
        </p:spPr>
      </p:sp>
      <p:sp>
        <p:nvSpPr>
          <p:cNvPr id="8" name="badge"/>
          <p:cNvSpPr/>
          <p:nvPr/>
        </p:nvSpPr>
        <p:spPr>
          <a:xfrm>
            <a:off x="731520" y="1819656"/>
            <a:ext cx="457200" cy="457200"/>
          </a:xfrm>
          <a:prstGeom prst="ellipse">
            <a:avLst/>
          </a:prstGeom>
          <a:solidFill>
            <a:schemeClr val="accent2"/>
          </a:solidFill>
          <a:ln w="3175">
            <a:solidFill>
              <a:schemeClr val="accent2"/>
            </a:solidFill>
            <a:prstDash val="solid"/>
          </a:ln>
        </p:spPr>
      </p:sp>
      <p:sp>
        <p:nvSpPr>
          <p:cNvPr id="9" name="badge-label"/>
          <p:cNvSpPr txBox="1"/>
          <p:nvPr/>
        </p:nvSpPr>
        <p:spPr>
          <a:xfrm>
            <a:off x="731520" y="181965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7"/>
          <p:cNvSpPr txBox="1"/>
          <p:nvPr/>
        </p:nvSpPr>
        <p:spPr>
          <a:xfrm>
            <a:off x="1417320" y="1645920"/>
            <a:ext cx="10058400" cy="804672"/>
          </a:xfrm>
          <a:prstGeom prst="rect">
            <a:avLst/>
          </a:prstGeom>
          <a:noFill/>
          <a:ln/>
        </p:spPr>
        <p:txBody>
          <a:bodyPr wrap="square" lIns="0" tIns="0" rIns="0" bIns="0" rtlCol="0" anchor="ctr"/>
          <a:lstStyle/>
          <a:p>
            <a:pPr indent="0" marL="0">
              <a:buNone/>
            </a:pPr>
            <a:r>
              <a:rPr lang="en-US" sz="1600" dirty="0">
                <a:solidFill>
                  <a:schemeClr val="tx1"/>
                </a:solidFill>
              </a:rPr>
              <a:t>n = 2 (F₂, 함수 16개)에 S₂가 작용할 때 궤도가 12개임을 열거로 확인하라.</a:t>
            </a:r>
            <a:endParaRPr lang="en-US" sz="1600" dirty="0"/>
          </a:p>
        </p:txBody>
      </p:sp>
      <p:sp>
        <p:nvSpPr>
          <p:cNvPr id="11" name="exercise-card"/>
          <p:cNvSpPr/>
          <p:nvPr/>
        </p:nvSpPr>
        <p:spPr>
          <a:xfrm>
            <a:off x="548640" y="2560320"/>
            <a:ext cx="11091672" cy="804672"/>
          </a:xfrm>
          <a:prstGeom prst="roundRect">
            <a:avLst>
              <a:gd name="adj" fmla="val 9091"/>
            </a:avLst>
          </a:prstGeom>
          <a:solidFill>
            <a:schemeClr val="bg2"/>
          </a:solidFill>
          <a:ln w="3175">
            <a:solidFill>
              <a:schemeClr val="bg2"/>
            </a:solidFill>
            <a:prstDash val="solid"/>
          </a:ln>
        </p:spPr>
      </p:sp>
      <p:sp>
        <p:nvSpPr>
          <p:cNvPr id="12" name="badge"/>
          <p:cNvSpPr/>
          <p:nvPr/>
        </p:nvSpPr>
        <p:spPr>
          <a:xfrm>
            <a:off x="731520" y="2734056"/>
            <a:ext cx="457200" cy="457200"/>
          </a:xfrm>
          <a:prstGeom prst="ellipse">
            <a:avLst/>
          </a:prstGeom>
          <a:solidFill>
            <a:schemeClr val="accent2"/>
          </a:solidFill>
          <a:ln w="3175">
            <a:solidFill>
              <a:schemeClr val="accent2"/>
            </a:solidFill>
            <a:prstDash val="solid"/>
          </a:ln>
        </p:spPr>
      </p:sp>
      <p:sp>
        <p:nvSpPr>
          <p:cNvPr id="13" name="badge-label"/>
          <p:cNvSpPr txBox="1"/>
          <p:nvPr/>
        </p:nvSpPr>
        <p:spPr>
          <a:xfrm>
            <a:off x="731520" y="273405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1"/>
          <p:cNvSpPr txBox="1"/>
          <p:nvPr/>
        </p:nvSpPr>
        <p:spPr>
          <a:xfrm>
            <a:off x="1417320" y="2560320"/>
            <a:ext cx="10058400" cy="804672"/>
          </a:xfrm>
          <a:prstGeom prst="rect">
            <a:avLst/>
          </a:prstGeom>
          <a:noFill/>
          <a:ln/>
        </p:spPr>
        <p:txBody>
          <a:bodyPr wrap="square" lIns="0" tIns="0" rIns="0" bIns="0" rtlCol="0" anchor="ctr"/>
          <a:lstStyle/>
          <a:p>
            <a:pPr indent="0" marL="0">
              <a:buNone/>
            </a:pPr>
            <a:r>
              <a:rPr lang="en-US" sz="1600" dirty="0">
                <a:solidFill>
                  <a:schemeClr val="tx1"/>
                </a:solidFill>
              </a:rPr>
              <a:t>n = 3 (F₃, 함수 256개)에 S₃가 작용할 때의 궤도 수를 번사이드 보조정리로 구하라.</a:t>
            </a:r>
            <a:endParaRPr lang="en-US" sz="1600" dirty="0"/>
          </a:p>
        </p:txBody>
      </p:sp>
      <p:sp>
        <p:nvSpPr>
          <p:cNvPr id="15" name="exercise-card"/>
          <p:cNvSpPr/>
          <p:nvPr/>
        </p:nvSpPr>
        <p:spPr>
          <a:xfrm>
            <a:off x="548640" y="3474720"/>
            <a:ext cx="11091672" cy="804672"/>
          </a:xfrm>
          <a:prstGeom prst="roundRect">
            <a:avLst>
              <a:gd name="adj" fmla="val 9091"/>
            </a:avLst>
          </a:prstGeom>
          <a:solidFill>
            <a:schemeClr val="bg2"/>
          </a:solidFill>
          <a:ln w="3175">
            <a:solidFill>
              <a:schemeClr val="bg2"/>
            </a:solidFill>
            <a:prstDash val="solid"/>
          </a:ln>
        </p:spPr>
      </p:sp>
      <p:sp>
        <p:nvSpPr>
          <p:cNvPr id="16" name="badge"/>
          <p:cNvSpPr/>
          <p:nvPr/>
        </p:nvSpPr>
        <p:spPr>
          <a:xfrm>
            <a:off x="731520" y="3648456"/>
            <a:ext cx="457200" cy="457200"/>
          </a:xfrm>
          <a:prstGeom prst="ellipse">
            <a:avLst/>
          </a:prstGeom>
          <a:solidFill>
            <a:schemeClr val="accent2"/>
          </a:solidFill>
          <a:ln w="3175">
            <a:solidFill>
              <a:schemeClr val="accent2"/>
            </a:solidFill>
            <a:prstDash val="solid"/>
          </a:ln>
        </p:spPr>
      </p:sp>
      <p:sp>
        <p:nvSpPr>
          <p:cNvPr id="17" name="badge-label"/>
          <p:cNvSpPr txBox="1"/>
          <p:nvPr/>
        </p:nvSpPr>
        <p:spPr>
          <a:xfrm>
            <a:off x="731520" y="364845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5"/>
          <p:cNvSpPr txBox="1"/>
          <p:nvPr/>
        </p:nvSpPr>
        <p:spPr>
          <a:xfrm>
            <a:off x="1417320" y="3474720"/>
            <a:ext cx="10058400" cy="804672"/>
          </a:xfrm>
          <a:prstGeom prst="rect">
            <a:avLst/>
          </a:prstGeom>
          <a:noFill/>
          <a:ln/>
        </p:spPr>
        <p:txBody>
          <a:bodyPr wrap="square" lIns="0" tIns="0" rIns="0" bIns="0" rtlCol="0" anchor="ctr"/>
          <a:lstStyle/>
          <a:p>
            <a:pPr indent="0" marL="0">
              <a:buNone/>
            </a:pPr>
            <a:r>
              <a:rPr lang="en-US" sz="1600" dirty="0">
                <a:solidFill>
                  <a:schemeClr val="tx1"/>
                </a:solidFill>
              </a:rPr>
              <a:t>자기쌍대 공간 D에서 C₃ = (12)(34)의 Fix가 0인 이유를 입력점 (0,1,0,1)로 설명하라.</a:t>
            </a:r>
            <a:endParaRPr lang="en-US" sz="1600" dirty="0"/>
          </a:p>
        </p:txBody>
      </p:sp>
      <p:sp>
        <p:nvSpPr>
          <p:cNvPr id="19" name="exercise-card"/>
          <p:cNvSpPr/>
          <p:nvPr/>
        </p:nvSpPr>
        <p:spPr>
          <a:xfrm>
            <a:off x="548640" y="4389120"/>
            <a:ext cx="11091672" cy="804672"/>
          </a:xfrm>
          <a:prstGeom prst="roundRect">
            <a:avLst>
              <a:gd name="adj" fmla="val 9091"/>
            </a:avLst>
          </a:prstGeom>
          <a:solidFill>
            <a:schemeClr val="bg1"/>
          </a:solidFill>
          <a:ln w="12700">
            <a:solidFill>
              <a:schemeClr val="accent6"/>
            </a:solidFill>
            <a:prstDash val="solid"/>
          </a:ln>
        </p:spPr>
      </p:sp>
      <p:sp>
        <p:nvSpPr>
          <p:cNvPr id="20" name="badge"/>
          <p:cNvSpPr/>
          <p:nvPr/>
        </p:nvSpPr>
        <p:spPr>
          <a:xfrm>
            <a:off x="731520" y="4562856"/>
            <a:ext cx="457200" cy="457200"/>
          </a:xfrm>
          <a:prstGeom prst="ellipse">
            <a:avLst/>
          </a:prstGeom>
          <a:solidFill>
            <a:schemeClr val="accent1"/>
          </a:solidFill>
          <a:ln w="3175">
            <a:solidFill>
              <a:schemeClr val="accent1"/>
            </a:solidFill>
            <a:prstDash val="solid"/>
          </a:ln>
        </p:spPr>
      </p:sp>
      <p:sp>
        <p:nvSpPr>
          <p:cNvPr id="21" name="badge-label"/>
          <p:cNvSpPr txBox="1"/>
          <p:nvPr/>
        </p:nvSpPr>
        <p:spPr>
          <a:xfrm>
            <a:off x="731520" y="456285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19"/>
          <p:cNvSpPr txBox="1"/>
          <p:nvPr/>
        </p:nvSpPr>
        <p:spPr>
          <a:xfrm>
            <a:off x="1417320" y="4389120"/>
            <a:ext cx="10058400" cy="804672"/>
          </a:xfrm>
          <a:prstGeom prst="rect">
            <a:avLst/>
          </a:prstGeom>
          <a:noFill/>
          <a:ln/>
        </p:spPr>
        <p:txBody>
          <a:bodyPr wrap="square" lIns="0" tIns="0" rIns="0" bIns="0" rtlCol="0" anchor="ctr"/>
          <a:lstStyle/>
          <a:p>
            <a:pPr indent="0" marL="0">
              <a:buNone/>
            </a:pPr>
            <a:r>
              <a:rPr lang="en-US" sz="1600" dirty="0">
                <a:solidFill>
                  <a:schemeClr val="tx1"/>
                </a:solidFill>
              </a:rPr>
              <a:t>도전: 입력 반전까지 허용(B₄)하면 아핀 공간 L의 궤도가 6개가 되는 이유를 설명하라.</a:t>
            </a:r>
            <a:endParaRPr lang="en-US" sz="1600" dirty="0"/>
          </a:p>
        </p:txBody>
      </p:sp>
      <p:sp>
        <p:nvSpPr>
          <p:cNvPr id="23" name="exercise-card"/>
          <p:cNvSpPr/>
          <p:nvPr/>
        </p:nvSpPr>
        <p:spPr>
          <a:xfrm>
            <a:off x="548640" y="5303520"/>
            <a:ext cx="11091672" cy="804672"/>
          </a:xfrm>
          <a:prstGeom prst="roundRect">
            <a:avLst>
              <a:gd name="adj" fmla="val 9091"/>
            </a:avLst>
          </a:prstGeom>
          <a:solidFill>
            <a:schemeClr val="bg1"/>
          </a:solidFill>
          <a:ln w="12700">
            <a:solidFill>
              <a:schemeClr val="accent6"/>
            </a:solidFill>
            <a:prstDash val="solid"/>
          </a:ln>
        </p:spPr>
      </p:sp>
      <p:sp>
        <p:nvSpPr>
          <p:cNvPr id="24" name="badge"/>
          <p:cNvSpPr/>
          <p:nvPr/>
        </p:nvSpPr>
        <p:spPr>
          <a:xfrm>
            <a:off x="731520" y="5477256"/>
            <a:ext cx="457200" cy="457200"/>
          </a:xfrm>
          <a:prstGeom prst="ellipse">
            <a:avLst/>
          </a:prstGeom>
          <a:solidFill>
            <a:schemeClr val="accent5"/>
          </a:solidFill>
          <a:ln w="3175">
            <a:solidFill>
              <a:schemeClr val="accent5"/>
            </a:solidFill>
            <a:prstDash val="solid"/>
          </a:ln>
        </p:spPr>
      </p:sp>
      <p:sp>
        <p:nvSpPr>
          <p:cNvPr id="25" name="badge-label"/>
          <p:cNvSpPr txBox="1"/>
          <p:nvPr/>
        </p:nvSpPr>
        <p:spPr>
          <a:xfrm>
            <a:off x="731520" y="547725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3"/>
          <p:cNvSpPr txBox="1"/>
          <p:nvPr/>
        </p:nvSpPr>
        <p:spPr>
          <a:xfrm>
            <a:off x="1417320" y="5303520"/>
            <a:ext cx="10058400" cy="804672"/>
          </a:xfrm>
          <a:prstGeom prst="rect">
            <a:avLst/>
          </a:prstGeom>
          <a:noFill/>
          <a:ln/>
        </p:spPr>
        <p:txBody>
          <a:bodyPr wrap="square" lIns="0" tIns="0" rIns="0" bIns="0" rtlCol="0" anchor="ctr"/>
          <a:lstStyle/>
          <a:p>
            <a:pPr indent="0" marL="0">
              <a:buNone/>
            </a:pPr>
            <a:r>
              <a:rPr lang="en-US" sz="1600" dirty="0">
                <a:solidFill>
                  <a:schemeClr val="tx1"/>
                </a:solidFill>
              </a:rPr>
              <a:t>토론: 단조 공간에는 왜 크기 24인 궤도가 하나도 없을까?</a:t>
            </a:r>
            <a:endParaRPr lang="en-US" sz="1600" dirty="0"/>
          </a:p>
        </p:txBody>
      </p:sp>
      <p:sp>
        <p:nvSpPr>
          <p:cNvPr id="27" name="Text 24"/>
          <p:cNvSpPr txBox="1"/>
          <p:nvPr/>
        </p:nvSpPr>
        <p:spPr>
          <a:xfrm>
            <a:off x="548640" y="6217920"/>
            <a:ext cx="11091672" cy="228600"/>
          </a:xfrm>
          <a:prstGeom prst="rect">
            <a:avLst/>
          </a:prstGeom>
          <a:noFill/>
          <a:ln/>
        </p:spPr>
        <p:txBody>
          <a:bodyPr wrap="square" lIns="0" tIns="0" rIns="0" bIns="0" rtlCol="0" anchor="ctr"/>
          <a:lstStyle/>
          <a:p>
            <a:pPr indent="0" marL="0">
              <a:buNone/>
            </a:pPr>
            <a:r>
              <a:rPr lang="en-US" sz="1100" dirty="0">
                <a:solidFill>
                  <a:schemeClr val="tx2"/>
                </a:solidFill>
              </a:rPr>
              <a:t>문제 1·2는 번사이드, 3은 자기쌍대, 4는 확장(B₄), 5는 단조 궤도 구조와 연결된다. 정답은 발표자 노트에 있다.</a:t>
            </a:r>
            <a:endParaRPr lang="en-US" sz="11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4"/>
                </a:solidFill>
              </a:defRPr>
            </a:lvl1pPr>
          </a:lstStyle>
          <a:p>
            <a:pPr algn="r">
              <a:defRPr sz="1000">
                <a:latin typeface="Malgun Gothic"/>
              </a:defRPr>
            </a:pPr>
            <a:r>
              <a:rPr>
                <a:solidFill>
                  <a:schemeClr val="accent6"/>
                </a:solidFill>
              </a:rPr>
              <a:t>38</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badge"/>
          <p:cNvSpPr/>
          <p:nvPr/>
        </p:nvSpPr>
        <p:spPr>
          <a:xfrm>
            <a:off x="548640" y="310896"/>
            <a:ext cx="274320" cy="274320"/>
          </a:xfrm>
          <a:prstGeom prst="ellipse">
            <a:avLst/>
          </a:prstGeom>
          <a:solidFill>
            <a:schemeClr val="accent2"/>
          </a:solidFill>
          <a:ln w="3175">
            <a:solidFill>
              <a:schemeClr val="accent2"/>
            </a:solidFill>
            <a:prstDash val="solid"/>
          </a:ln>
        </p:spPr>
      </p:sp>
      <p:sp>
        <p:nvSpPr>
          <p:cNvPr id="3" name="badge-label"/>
          <p:cNvSpPr txBox="1"/>
          <p:nvPr/>
        </p:nvSpPr>
        <p:spPr>
          <a:xfrm>
            <a:off x="548640" y="31089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 name="part-tag"/>
          <p:cNvSpPr txBox="1"/>
          <p:nvPr/>
        </p:nvSpPr>
        <p:spPr>
          <a:xfrm>
            <a:off x="914400" y="310896"/>
            <a:ext cx="5486400" cy="274320"/>
          </a:xfrm>
          <a:prstGeom prst="rect">
            <a:avLst/>
          </a:prstGeom>
          <a:noFill/>
          <a:ln/>
        </p:spPr>
        <p:txBody>
          <a:bodyPr wrap="square" lIns="0" tIns="0" rIns="0" bIns="0" rtlCol="0" anchor="ctr"/>
          <a:lstStyle/>
          <a:p>
            <a:pPr indent="0" marL="0">
              <a:buNone/>
            </a:pPr>
            <a:r>
              <a:rPr lang="en-US" sz="1200" b="1" dirty="0">
                <a:solidFill>
                  <a:schemeClr val="accent6"/>
                </a:solidFill>
              </a:rPr>
              <a:t>5부 · 정리</a:t>
            </a:r>
            <a:endParaRPr lang="en-US" sz="1200" dirty="0"/>
          </a:p>
        </p:txBody>
      </p:sp>
      <p:sp>
        <p:nvSpPr>
          <p:cNvPr id="5" name="Text 1"/>
          <p:cNvSpPr/>
          <p:nvPr>
            <p:ph idx="101"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400" b="1" dirty="0">
                <a:solidFill>
                  <a:schemeClr val="bg1"/>
                </a:solidFill>
              </a:rPr>
              <a:t>오늘의 핵심</a:t>
            </a:r>
            <a:endParaRPr lang="en-US" sz="3400" dirty="0"/>
          </a:p>
        </p:txBody>
      </p:sp>
      <p:sp>
        <p:nvSpPr>
          <p:cNvPr id="7" name="takeaway-card"/>
          <p:cNvSpPr/>
          <p:nvPr/>
        </p:nvSpPr>
        <p:spPr>
          <a:xfrm>
            <a:off x="548640" y="1783080"/>
            <a:ext cx="5449824" cy="1828800"/>
          </a:xfrm>
          <a:prstGeom prst="roundRect">
            <a:avLst>
              <a:gd name="adj" fmla="val 4000"/>
            </a:avLst>
          </a:prstGeom>
          <a:solidFill>
            <a:schemeClr val="tx2"/>
          </a:solidFill>
          <a:ln w="3175">
            <a:solidFill>
              <a:schemeClr val="tx2"/>
            </a:solidFill>
            <a:prstDash val="solid"/>
          </a:ln>
        </p:spPr>
      </p:sp>
      <p:sp>
        <p:nvSpPr>
          <p:cNvPr id="8" name="badge"/>
          <p:cNvSpPr/>
          <p:nvPr/>
        </p:nvSpPr>
        <p:spPr>
          <a:xfrm>
            <a:off x="822960" y="2441448"/>
            <a:ext cx="512064" cy="512064"/>
          </a:xfrm>
          <a:prstGeom prst="ellipse">
            <a:avLst/>
          </a:prstGeom>
          <a:solidFill>
            <a:schemeClr val="accent1"/>
          </a:solidFill>
          <a:ln w="3175">
            <a:solidFill>
              <a:schemeClr val="accent1"/>
            </a:solidFill>
            <a:prstDash val="solid"/>
          </a:ln>
        </p:spPr>
      </p:sp>
      <p:sp>
        <p:nvSpPr>
          <p:cNvPr id="9" name="badge-label"/>
          <p:cNvSpPr txBox="1"/>
          <p:nvPr/>
        </p:nvSpPr>
        <p:spPr>
          <a:xfrm>
            <a:off x="822960" y="244144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1600200" y="1874520"/>
            <a:ext cx="4206240" cy="1645920"/>
          </a:xfrm>
          <a:prstGeom prst="rect">
            <a:avLst/>
          </a:prstGeom>
          <a:noFill/>
          <a:ln/>
        </p:spPr>
        <p:txBody>
          <a:bodyPr wrap="square" lIns="0" tIns="0" rIns="0" bIns="0" rtlCol="0" anchor="ctr"/>
          <a:lstStyle/>
          <a:p>
            <a:pPr indent="0" marL="0">
              <a:spcAft>
                <a:spcPts val="800"/>
              </a:spcAft>
              <a:buNone/>
            </a:pPr>
            <a:r>
              <a:rPr lang="en-US" sz="2200" b="1" dirty="0">
                <a:solidFill>
                  <a:schemeClr val="bg1"/>
                </a:solidFill>
              </a:rPr>
              <a:t>번사이드 보조정리</a:t>
            </a:r>
            <a:endParaRPr lang="en-US" sz="2200" dirty="0"/>
          </a:p>
          <a:p>
            <a:pPr indent="0" marL="0">
              <a:spcAft>
                <a:spcPts val="200"/>
              </a:spcAft>
              <a:buNone/>
            </a:pPr>
            <a:r>
              <a:rPr lang="en-US" sz="1600" dirty="0">
                <a:solidFill>
                  <a:schemeClr val="accent6"/>
                </a:solidFill>
              </a:rPr>
              <a:t>궤도의 수 = 고정점 수의 평균</a:t>
            </a:r>
            <a:endParaRPr lang="en-US" sz="2200" dirty="0"/>
          </a:p>
        </p:txBody>
      </p:sp>
      <p:sp>
        <p:nvSpPr>
          <p:cNvPr id="11" name="takeaway-card"/>
          <p:cNvSpPr/>
          <p:nvPr/>
        </p:nvSpPr>
        <p:spPr>
          <a:xfrm>
            <a:off x="6190488" y="1783080"/>
            <a:ext cx="5449824" cy="1828800"/>
          </a:xfrm>
          <a:prstGeom prst="roundRect">
            <a:avLst>
              <a:gd name="adj" fmla="val 4000"/>
            </a:avLst>
          </a:prstGeom>
          <a:solidFill>
            <a:schemeClr val="tx2"/>
          </a:solidFill>
          <a:ln w="3175">
            <a:solidFill>
              <a:schemeClr val="tx2"/>
            </a:solidFill>
            <a:prstDash val="solid"/>
          </a:ln>
        </p:spPr>
      </p:sp>
      <p:sp>
        <p:nvSpPr>
          <p:cNvPr id="12" name="badge"/>
          <p:cNvSpPr/>
          <p:nvPr/>
        </p:nvSpPr>
        <p:spPr>
          <a:xfrm>
            <a:off x="6464808" y="2441448"/>
            <a:ext cx="512064" cy="512064"/>
          </a:xfrm>
          <a:prstGeom prst="ellipse">
            <a:avLst/>
          </a:prstGeom>
          <a:solidFill>
            <a:schemeClr val="accent1"/>
          </a:solidFill>
          <a:ln w="3175">
            <a:solidFill>
              <a:schemeClr val="accent1"/>
            </a:solidFill>
            <a:prstDash val="solid"/>
          </a:ln>
        </p:spPr>
      </p:sp>
      <p:sp>
        <p:nvSpPr>
          <p:cNvPr id="13" name="badge-label"/>
          <p:cNvSpPr txBox="1"/>
          <p:nvPr/>
        </p:nvSpPr>
        <p:spPr>
          <a:xfrm>
            <a:off x="6464808" y="244144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7242048" y="1874520"/>
            <a:ext cx="4206240" cy="1645920"/>
          </a:xfrm>
          <a:prstGeom prst="rect">
            <a:avLst/>
          </a:prstGeom>
          <a:noFill/>
          <a:ln/>
        </p:spPr>
        <p:txBody>
          <a:bodyPr wrap="square" lIns="0" tIns="0" rIns="0" bIns="0" rtlCol="0" anchor="ctr"/>
          <a:lstStyle/>
          <a:p>
            <a:pPr indent="0" marL="0">
              <a:spcAft>
                <a:spcPts val="800"/>
              </a:spcAft>
              <a:buNone/>
            </a:pPr>
            <a:r>
              <a:rPr lang="en-US" sz="2200" b="1" dirty="0">
                <a:solidFill>
                  <a:schemeClr val="bg1"/>
                </a:solidFill>
              </a:rPr>
              <a:t>네 개의 숫자</a:t>
            </a:r>
            <a:endParaRPr lang="en-US" sz="2200" dirty="0"/>
          </a:p>
          <a:p>
            <a:pPr indent="0" marL="0">
              <a:spcAft>
                <a:spcPts val="200"/>
              </a:spcAft>
              <a:buNone/>
            </a:pPr>
            <a:r>
              <a:rPr lang="en-US" sz="1600" dirty="0">
                <a:solidFill>
                  <a:schemeClr val="accent6"/>
                </a:solidFill>
              </a:rPr>
              <a:t>전체 3,984 · 아핀 10</a:t>
            </a:r>
            <a:endParaRPr lang="en-US" sz="2200" dirty="0"/>
          </a:p>
          <a:p>
            <a:pPr indent="0" marL="0">
              <a:spcAft>
                <a:spcPts val="200"/>
              </a:spcAft>
              <a:buNone/>
            </a:pPr>
            <a:r>
              <a:rPr lang="en-US" sz="1600" dirty="0">
                <a:solidFill>
                  <a:schemeClr val="accent6"/>
                </a:solidFill>
              </a:rPr>
              <a:t>단조 30 · 자기쌍대 32</a:t>
            </a:r>
            <a:endParaRPr lang="en-US" sz="2200" dirty="0"/>
          </a:p>
        </p:txBody>
      </p:sp>
      <p:sp>
        <p:nvSpPr>
          <p:cNvPr id="15" name="takeaway-card"/>
          <p:cNvSpPr/>
          <p:nvPr/>
        </p:nvSpPr>
        <p:spPr>
          <a:xfrm>
            <a:off x="548640" y="3794760"/>
            <a:ext cx="5449824" cy="1828800"/>
          </a:xfrm>
          <a:prstGeom prst="roundRect">
            <a:avLst>
              <a:gd name="adj" fmla="val 4000"/>
            </a:avLst>
          </a:prstGeom>
          <a:solidFill>
            <a:schemeClr val="tx2"/>
          </a:solidFill>
          <a:ln w="3175">
            <a:solidFill>
              <a:schemeClr val="tx2"/>
            </a:solidFill>
            <a:prstDash val="solid"/>
          </a:ln>
        </p:spPr>
      </p:sp>
      <p:sp>
        <p:nvSpPr>
          <p:cNvPr id="16" name="badge"/>
          <p:cNvSpPr/>
          <p:nvPr/>
        </p:nvSpPr>
        <p:spPr>
          <a:xfrm>
            <a:off x="822960" y="4453128"/>
            <a:ext cx="512064" cy="512064"/>
          </a:xfrm>
          <a:prstGeom prst="ellipse">
            <a:avLst/>
          </a:prstGeom>
          <a:solidFill>
            <a:schemeClr val="accent1"/>
          </a:solidFill>
          <a:ln w="3175">
            <a:solidFill>
              <a:schemeClr val="accent1"/>
            </a:solidFill>
            <a:prstDash val="solid"/>
          </a:ln>
        </p:spPr>
      </p:sp>
      <p:sp>
        <p:nvSpPr>
          <p:cNvPr id="17" name="badge-label"/>
          <p:cNvSpPr txBox="1"/>
          <p:nvPr/>
        </p:nvSpPr>
        <p:spPr>
          <a:xfrm>
            <a:off x="822960" y="44531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5"/>
          <p:cNvSpPr txBox="1"/>
          <p:nvPr/>
        </p:nvSpPr>
        <p:spPr>
          <a:xfrm>
            <a:off x="1600200" y="3886200"/>
            <a:ext cx="4206240" cy="1645920"/>
          </a:xfrm>
          <a:prstGeom prst="rect">
            <a:avLst/>
          </a:prstGeom>
          <a:noFill/>
          <a:ln/>
        </p:spPr>
        <p:txBody>
          <a:bodyPr wrap="square" lIns="0" tIns="0" rIns="0" bIns="0" rtlCol="0" anchor="ctr"/>
          <a:lstStyle/>
          <a:p>
            <a:pPr indent="0" marL="0">
              <a:spcAft>
                <a:spcPts val="800"/>
              </a:spcAft>
              <a:buNone/>
            </a:pPr>
            <a:r>
              <a:rPr lang="en-US" sz="2200" b="1" dirty="0">
                <a:solidFill>
                  <a:schemeClr val="bg1"/>
                </a:solidFill>
              </a:rPr>
              <a:t>공간마다 다른 세기</a:t>
            </a:r>
            <a:endParaRPr lang="en-US" sz="2200" dirty="0"/>
          </a:p>
          <a:p>
            <a:pPr indent="0" marL="0">
              <a:spcAft>
                <a:spcPts val="200"/>
              </a:spcAft>
              <a:buNone/>
            </a:pPr>
            <a:r>
              <a:rPr lang="en-US" sz="1600" dirty="0">
                <a:solidFill>
                  <a:schemeClr val="accent6"/>
                </a:solidFill>
              </a:rPr>
              <a:t>아핀: 변수 순환의 수</a:t>
            </a:r>
            <a:endParaRPr lang="en-US" sz="2200" dirty="0"/>
          </a:p>
          <a:p>
            <a:pPr indent="0" marL="0">
              <a:spcAft>
                <a:spcPts val="200"/>
              </a:spcAft>
              <a:buNone/>
            </a:pPr>
            <a:r>
              <a:rPr lang="en-US" sz="1600" dirty="0">
                <a:solidFill>
                  <a:schemeClr val="accent6"/>
                </a:solidFill>
              </a:rPr>
              <a:t>자기쌍대: 보수와의 충돌</a:t>
            </a:r>
            <a:endParaRPr lang="en-US" sz="2200" dirty="0"/>
          </a:p>
          <a:p>
            <a:pPr indent="0" marL="0">
              <a:spcAft>
                <a:spcPts val="200"/>
              </a:spcAft>
              <a:buNone/>
            </a:pPr>
            <a:r>
              <a:rPr lang="en-US" sz="1600" dirty="0">
                <a:solidFill>
                  <a:schemeClr val="accent6"/>
                </a:solidFill>
              </a:rPr>
              <a:t>단조: 궤도 순서집합의 상집합</a:t>
            </a:r>
            <a:endParaRPr lang="en-US" sz="2200" dirty="0"/>
          </a:p>
        </p:txBody>
      </p:sp>
      <p:sp>
        <p:nvSpPr>
          <p:cNvPr id="19" name="takeaway-card"/>
          <p:cNvSpPr/>
          <p:nvPr/>
        </p:nvSpPr>
        <p:spPr>
          <a:xfrm>
            <a:off x="6190488" y="3794760"/>
            <a:ext cx="5449824" cy="1828800"/>
          </a:xfrm>
          <a:prstGeom prst="roundRect">
            <a:avLst>
              <a:gd name="adj" fmla="val 4000"/>
            </a:avLst>
          </a:prstGeom>
          <a:solidFill>
            <a:schemeClr val="tx2"/>
          </a:solidFill>
          <a:ln w="3175">
            <a:solidFill>
              <a:schemeClr val="tx2"/>
            </a:solidFill>
            <a:prstDash val="solid"/>
          </a:ln>
        </p:spPr>
      </p:sp>
      <p:sp>
        <p:nvSpPr>
          <p:cNvPr id="20" name="badge"/>
          <p:cNvSpPr/>
          <p:nvPr/>
        </p:nvSpPr>
        <p:spPr>
          <a:xfrm>
            <a:off x="6464808" y="4453128"/>
            <a:ext cx="512064" cy="512064"/>
          </a:xfrm>
          <a:prstGeom prst="ellipse">
            <a:avLst/>
          </a:prstGeom>
          <a:solidFill>
            <a:schemeClr val="accent1"/>
          </a:solidFill>
          <a:ln w="3175">
            <a:solidFill>
              <a:schemeClr val="accent1"/>
            </a:solidFill>
            <a:prstDash val="solid"/>
          </a:ln>
        </p:spPr>
      </p:sp>
      <p:sp>
        <p:nvSpPr>
          <p:cNvPr id="21" name="badge-label"/>
          <p:cNvSpPr txBox="1"/>
          <p:nvPr/>
        </p:nvSpPr>
        <p:spPr>
          <a:xfrm>
            <a:off x="6464808" y="4453128"/>
            <a:ext cx="512064" cy="51206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7242048" y="3886200"/>
            <a:ext cx="4206240" cy="1645920"/>
          </a:xfrm>
          <a:prstGeom prst="rect">
            <a:avLst/>
          </a:prstGeom>
          <a:noFill/>
          <a:ln/>
        </p:spPr>
        <p:txBody>
          <a:bodyPr wrap="square" lIns="0" tIns="0" rIns="0" bIns="0" rtlCol="0" anchor="ctr"/>
          <a:lstStyle/>
          <a:p>
            <a:pPr indent="0" marL="0">
              <a:spcAft>
                <a:spcPts val="800"/>
              </a:spcAft>
              <a:buNone/>
            </a:pPr>
            <a:r>
              <a:rPr lang="en-US" sz="2200" b="1" dirty="0">
                <a:solidFill>
                  <a:schemeClr val="bg1"/>
                </a:solidFill>
              </a:rPr>
              <a:t>군이 커지면 궤도는 줄어든다</a:t>
            </a:r>
            <a:endParaRPr lang="en-US" sz="2200" dirty="0"/>
          </a:p>
          <a:p>
            <a:pPr indent="0" marL="0">
              <a:spcAft>
                <a:spcPts val="200"/>
              </a:spcAft>
              <a:buNone/>
            </a:pPr>
            <a:r>
              <a:rPr lang="en-US" sz="1600" dirty="0">
                <a:solidFill>
                  <a:schemeClr val="accent6"/>
                </a:solidFill>
              </a:rPr>
              <a:t>S₄ → B₄ : 3,984 → 402</a:t>
            </a:r>
            <a:endParaRPr lang="en-US" sz="2200" dirty="0"/>
          </a:p>
        </p:txBody>
      </p:sp>
      <p:sp>
        <p:nvSpPr>
          <p:cNvPr id="23" name="Text 20"/>
          <p:cNvSpPr txBox="1"/>
          <p:nvPr/>
        </p:nvSpPr>
        <p:spPr>
          <a:xfrm>
            <a:off x="548640" y="5852160"/>
            <a:ext cx="11091672" cy="411480"/>
          </a:xfrm>
          <a:prstGeom prst="rect">
            <a:avLst/>
          </a:prstGeom>
          <a:noFill/>
          <a:ln/>
        </p:spPr>
        <p:txBody>
          <a:bodyPr wrap="square" lIns="0" tIns="0" rIns="0" bIns="0" rtlCol="0" anchor="ctr"/>
          <a:lstStyle/>
          <a:p>
            <a:pPr indent="0" marL="0">
              <a:buNone/>
            </a:pPr>
            <a:r>
              <a:rPr lang="en-US" sz="2000" b="1" dirty="0">
                <a:solidFill>
                  <a:schemeClr val="accent3"/>
                </a:solidFill>
              </a:rPr>
              <a:t>질문과 토론</a:t>
            </a:r>
            <a:endParaRPr lang="en-US" sz="2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wrap="none"/>
          <a:lstStyle>
            <a:lvl1pPr>
              <a:defRPr sz="1000">
                <a:solidFill>
                  <a:schemeClr val="accent6"/>
                </a:solidFill>
              </a:defRPr>
            </a:lvl1pPr>
          </a:lstStyle>
          <a:p>
            <a:pPr algn="r">
              <a:defRPr sz="1000">
                <a:latin typeface="Malgun Gothic"/>
              </a:defRPr>
            </a:pPr>
            <a:r>
              <a:rPr>
                <a:solidFill>
                  <a:schemeClr val="accent6"/>
                </a:solidFill>
              </a:rPr>
              <a:t>40</a:t>
            </a:r>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카르노맵(Karnaugh Map)이란 무엇인가?</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0</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0 도입 · 기초 개념 해설</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진리표를 2차원 격자로 재배열하여 복잡한 논리식을 직관적으로 압축하는 지도</a:t>
            </a:r>
          </a:p>
        </p:txBody>
      </p:sp>
      <p:sp>
        <p:nvSpPr>
          <p:cNvPr id="7" name="content-card"/>
          <p:cNvSpPr/>
          <p:nvPr/>
        </p:nvSpPr>
        <p:spPr>
          <a:xfrm>
            <a:off x="548640" y="2057400"/>
            <a:ext cx="56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52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[개념 원리] </a:t>
            </a:r>
            <a:r>
              <a:rPr sz="1700" b="1">
                <a:latin typeface="Malgun Gothic"/>
                <a:solidFill>
                  <a:schemeClr val="tx1"/>
                </a:solidFill>
              </a:rPr>
              <a:t>진리표를 도넛 모양의 지도로 변환하는 기술</a:t>
            </a:r>
          </a:p>
          <a:p>
            <a:pPr>
              <a:spcAft>
                <a:spcPts val="600"/>
              </a:spcAft>
            </a:pPr>
            <a:r>
              <a:rPr sz="1300" b="1">
                <a:latin typeface="Malgun Gothic"/>
                <a:solidFill>
                  <a:schemeClr val="tx1"/>
                </a:solidFill>
              </a:rPr>
              <a:t>• 진리표의 한계: </a:t>
            </a:r>
            <a:r>
              <a:rPr sz="1300">
                <a:latin typeface="Malgun Gothic"/>
                <a:solidFill>
                  <a:schemeClr val="tx2"/>
                </a:solidFill>
              </a:rPr>
              <a:t>입력과 출력을 1줄로 나열한 진리표는 멀리 떨어진 항들 간의 공통 변수를 찾기 매우 어렵습니다.</a:t>
            </a:r>
          </a:p>
          <a:p>
            <a:pPr>
              <a:spcAft>
                <a:spcPts val="600"/>
              </a:spcAft>
            </a:pPr>
            <a:r>
              <a:rPr sz="1300" b="1">
                <a:latin typeface="Malgun Gothic"/>
                <a:solidFill>
                  <a:schemeClr val="tx1"/>
                </a:solidFill>
              </a:rPr>
              <a:t>• 2차원 지도의 원리: </a:t>
            </a:r>
            <a:r>
              <a:rPr sz="1300">
                <a:latin typeface="Malgun Gothic"/>
                <a:solidFill>
                  <a:schemeClr val="tx2"/>
                </a:solidFill>
              </a:rPr>
              <a:t>변수 4개를 행(AB)과 열(CD)로 나누어 4×4 격자에 배치하면, 이웃한 칸끼리 묶어 변수를 즉시 소거할 수 있습니다.</a:t>
            </a:r>
          </a:p>
          <a:p>
            <a:pPr>
              <a:spcAft>
                <a:spcPts val="600"/>
              </a:spcAft>
            </a:pPr>
            <a:r>
              <a:rPr sz="1300" b="1">
                <a:latin typeface="Malgun Gothic"/>
                <a:solidFill>
                  <a:schemeClr val="tx1"/>
                </a:solidFill>
              </a:rPr>
              <a:t>• Gray Code 순서: </a:t>
            </a:r>
            <a:r>
              <a:rPr sz="1300">
                <a:latin typeface="Malgun Gothic"/>
                <a:solidFill>
                  <a:schemeClr val="tx2"/>
                </a:solidFill>
              </a:rPr>
              <a:t>일반 2진수(00→01→10→11)가 아니라 00→01→11→10 순서를 사용하여, 인접한 모든 칸이 '정확히 1비트만' 차이 나도록 만듭니다.</a:t>
            </a:r>
          </a:p>
          <a:p>
            <a:pPr>
              <a:spcAft>
                <a:spcPts val="600"/>
              </a:spcAft>
            </a:pPr>
            <a:r>
              <a:rPr sz="1300" b="1">
                <a:latin typeface="Malgun Gothic"/>
                <a:solidFill>
                  <a:schemeClr val="tx1"/>
                </a:solidFill>
              </a:rPr>
              <a:t>• 토러스(도넛) 구조: </a:t>
            </a:r>
            <a:r>
              <a:rPr sz="1300">
                <a:latin typeface="Malgun Gothic"/>
                <a:solidFill>
                  <a:schemeClr val="tx2"/>
                </a:solidFill>
              </a:rPr>
              <a:t>격자의 맨 위와 맨 아래, 맨 왼쪽과 맨 오른쪽도 1비트 차이로 서로 연결되어 있어 실제 위상은 2차원 도넛(Torus)입니다.</a:t>
            </a:r>
          </a:p>
        </p:txBody>
      </p:sp>
      <p:sp>
        <p:nvSpPr>
          <p:cNvPr id="9" name="content-card"/>
          <p:cNvSpPr/>
          <p:nvPr/>
        </p:nvSpPr>
        <p:spPr>
          <a:xfrm>
            <a:off x="6400000" y="2057400"/>
            <a:ext cx="5240000" cy="4200000"/>
          </a:xfrm>
          <a:prstGeom prst="roundRect">
            <a:avLst/>
          </a:prstGeom>
          <a:solidFill>
            <a:schemeClr val="bg1"/>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0000" y="2200000"/>
            <a:ext cx="4800000" cy="400000"/>
          </a:xfrm>
          <a:prstGeom prst="rect">
            <a:avLst/>
          </a:prstGeom>
          <a:noFill/>
        </p:spPr>
        <p:txBody>
          <a:bodyPr wrap="none">
            <a:spAutoFit/>
          </a:bodyPr>
          <a:lstStyle/>
          <a:p>
            <a:r>
              <a:rPr sz="1400" b="1">
                <a:latin typeface="Malgun Gothic"/>
                <a:solidFill>
                  <a:schemeClr val="accent4"/>
                </a:solidFill>
              </a:rPr>
              <a:t>[논문 그림 1 &amp; 2] Gray 코드 순환과 표준 카르노맵</a:t>
            </a:r>
          </a:p>
        </p:txBody>
      </p:sp>
      <p:pic>
        <p:nvPicPr>
          <p:cNvPr id="11" name="Picture 10" descr="fig02_gray_cycle.png"/>
          <p:cNvPicPr>
            <a:picLocks noChangeAspect="1"/>
          </p:cNvPicPr>
          <p:nvPr/>
        </p:nvPicPr>
        <p:blipFill>
          <a:blip r:embed="rId2"/>
          <a:stretch>
            <a:fillRect/>
          </a:stretch>
        </p:blipFill>
        <p:spPr>
          <a:xfrm>
            <a:off x="6650000" y="2700000"/>
            <a:ext cx="4700000" cy="1294676"/>
          </a:xfrm>
          <a:prstGeom prst="rect">
            <a:avLst/>
          </a:prstGeom>
        </p:spPr>
      </p:pic>
      <p:pic>
        <p:nvPicPr>
          <p:cNvPr id="12" name="Picture 11" descr="fig01_kmap_exactly0.png"/>
          <p:cNvPicPr>
            <a:picLocks noChangeAspect="1"/>
          </p:cNvPicPr>
          <p:nvPr/>
        </p:nvPicPr>
        <p:blipFill>
          <a:blip r:embed="rId3"/>
          <a:stretch>
            <a:fillRect/>
          </a:stretch>
        </p:blipFill>
        <p:spPr>
          <a:xfrm>
            <a:off x="7600000" y="4150000"/>
            <a:ext cx="2800000" cy="2303226"/>
          </a:xfrm>
          <a:prstGeom prst="rect">
            <a:avLst/>
          </a:prstGeom>
        </p:spPr>
      </p:pic>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왜 4변수 부울 함수는 65,536개나 될까?</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1</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1부 · 준비 · 기초 개념</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16개의 독립된 입력 상황마다 출력값 0 또는 1을 자유롭게 결정하는 경우의 수</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[1단계: 입력] </a:t>
            </a:r>
            <a:r>
              <a:rPr sz="1700" b="1">
                <a:latin typeface="Malgun Gothic"/>
                <a:solidFill>
                  <a:schemeClr val="tx1"/>
                </a:solidFill>
              </a:rPr>
              <a:t>16개의 입력 상황</a:t>
            </a:r>
          </a:p>
          <a:p>
            <a:pPr>
              <a:spcAft>
                <a:spcPts val="600"/>
              </a:spcAft>
            </a:pPr>
            <a:r>
              <a:rPr sz="1300" b="1">
                <a:latin typeface="Malgun Gothic"/>
                <a:solidFill>
                  <a:schemeClr val="tx1"/>
                </a:solidFill>
              </a:rPr>
              <a:t>• 4개 스위치 (A, B, C, D): </a:t>
            </a:r>
            <a:r>
              <a:rPr sz="1300">
                <a:latin typeface="Malgun Gothic"/>
                <a:solidFill>
                  <a:schemeClr val="tx2"/>
                </a:solidFill>
              </a:rPr>
              <a:t>각 변수는 참(1) 또는 거짓(0)의 2가지 상태를 가집니다.</a:t>
            </a:r>
          </a:p>
          <a:p>
            <a:pPr>
              <a:spcAft>
                <a:spcPts val="600"/>
              </a:spcAft>
            </a:pPr>
            <a:r>
              <a:rPr sz="1300" b="1">
                <a:latin typeface="Malgun Gothic"/>
                <a:solidFill>
                  <a:schemeClr val="tx1"/>
                </a:solidFill>
              </a:rPr>
              <a:t>• 입력 상황의 수: </a:t>
            </a:r>
            <a:r>
              <a:rPr sz="1300">
                <a:latin typeface="Malgun Gothic"/>
                <a:solidFill>
                  <a:schemeClr val="tx2"/>
                </a:solidFill>
              </a:rPr>
              <a:t>2 × 2 × 2 × 2 = 2⁴ = 16가지의 서로 다른 입력 조합이 존재합니다.</a:t>
            </a:r>
          </a:p>
          <a:p>
            <a:pPr>
              <a:spcAft>
                <a:spcPts val="600"/>
              </a:spcAft>
            </a:pPr>
            <a:r>
              <a:rPr sz="1300" b="1">
                <a:latin typeface="Malgun Gothic"/>
                <a:solidFill>
                  <a:schemeClr val="tx1"/>
                </a:solidFill>
              </a:rPr>
              <a:t>• 카르노맵 16칸: </a:t>
            </a:r>
            <a:r>
              <a:rPr sz="1300">
                <a:latin typeface="Malgun Gothic"/>
                <a:solidFill>
                  <a:schemeClr val="tx2"/>
                </a:solidFill>
              </a:rPr>
              <a:t>이 16가지 상황이 바로 카르노맵 격자의 16개 칸에 1:1로 대응됩니다.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[2단계: 결정] </a:t>
            </a:r>
            <a:r>
              <a:rPr sz="1700" b="1">
                <a:latin typeface="Malgun Gothic"/>
                <a:solidFill>
                  <a:schemeClr val="tx1"/>
                </a:solidFill>
              </a:rPr>
              <a:t>함수 1개 = 16비트 정수</a:t>
            </a:r>
          </a:p>
          <a:p>
            <a:pPr>
              <a:spcAft>
                <a:spcPts val="600"/>
              </a:spcAft>
            </a:pPr>
            <a:r>
              <a:rPr sz="1300" b="1">
                <a:latin typeface="Malgun Gothic"/>
                <a:solidFill>
                  <a:schemeClr val="tx1"/>
                </a:solidFill>
              </a:rPr>
              <a:t>• 함수 f의 역할: </a:t>
            </a:r>
            <a:r>
              <a:rPr sz="1300">
                <a:latin typeface="Malgun Gothic"/>
                <a:solidFill>
                  <a:schemeClr val="tx2"/>
                </a:solidFill>
              </a:rPr>
              <a:t>각 입력 상황에 대해 출력으로 0을 낼지, 1을 낼지 규칙을 정하는 것입니다.</a:t>
            </a:r>
          </a:p>
          <a:p>
            <a:pPr>
              <a:spcAft>
                <a:spcPts val="600"/>
              </a:spcAft>
            </a:pPr>
            <a:r>
              <a:rPr sz="1300" b="1">
                <a:latin typeface="Malgun Gothic"/>
                <a:solidFill>
                  <a:schemeClr val="tx1"/>
                </a:solidFill>
              </a:rPr>
              <a:t>• 독립된 16번의 선택: </a:t>
            </a:r>
            <a:r>
              <a:rPr sz="1300">
                <a:latin typeface="Malgun Gothic"/>
                <a:solidFill>
                  <a:schemeClr val="tx2"/>
                </a:solidFill>
              </a:rPr>
              <a:t>칸 0에서 2가지(0/1), 칸 1에서 2가지, ..., 칸 15에서 2가지.</a:t>
            </a:r>
          </a:p>
          <a:p>
            <a:pPr>
              <a:spcAft>
                <a:spcPts val="600"/>
              </a:spcAft>
            </a:pPr>
            <a:r>
              <a:rPr sz="1300" b="1">
                <a:latin typeface="Malgun Gothic"/>
                <a:solidFill>
                  <a:schemeClr val="tx1"/>
                </a:solidFill>
              </a:rPr>
              <a:t>• 총 경우의 수 2¹⁶: </a:t>
            </a:r>
            <a:r>
              <a:rPr sz="1300">
                <a:latin typeface="Malgun Gothic"/>
                <a:solidFill>
                  <a:schemeClr val="tx2"/>
                </a:solidFill>
              </a:rPr>
              <a:t>2 × 2 × ... × 2 (16번) = 2¹⁶ = 65,536가지 서로 다른 함수가 탄생합니다!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5"/>
                </a:solidFill>
              </a:rPr>
              <a:t>[3단계: 핵심] </a:t>
            </a:r>
            <a:r>
              <a:rPr sz="1700" b="1">
                <a:latin typeface="Malgun Gothic"/>
                <a:solidFill>
                  <a:schemeClr val="tx1"/>
                </a:solidFill>
              </a:rPr>
              <a:t>거대한 공간과 군론의 목적</a:t>
            </a:r>
          </a:p>
          <a:p>
            <a:pPr>
              <a:spcAft>
                <a:spcPts val="600"/>
              </a:spcAft>
            </a:pPr>
            <a:r>
              <a:rPr sz="1300" b="1">
                <a:latin typeface="Malgun Gothic"/>
                <a:solidFill>
                  <a:schemeClr val="tx1"/>
                </a:solidFill>
              </a:rPr>
              <a:t>• 전광판 비유: </a:t>
            </a:r>
            <a:r>
              <a:rPr sz="1300">
                <a:latin typeface="Malgun Gothic"/>
                <a:solidFill>
                  <a:schemeClr val="tx2"/>
                </a:solidFill>
              </a:rPr>
              <a:t>16개 전구의 불을 켜거나 끄는 모든 패턴의 가짓수가 바로 65,536개입니다.</a:t>
            </a:r>
          </a:p>
          <a:p>
            <a:pPr>
              <a:spcAft>
                <a:spcPts val="600"/>
              </a:spcAft>
            </a:pPr>
            <a:r>
              <a:rPr sz="1300" b="1">
                <a:latin typeface="Malgun Gothic"/>
                <a:solidFill>
                  <a:schemeClr val="tx1"/>
                </a:solidFill>
              </a:rPr>
              <a:t>• 연구의 출발 질문: </a:t>
            </a:r>
            <a:r>
              <a:rPr sz="1300">
                <a:latin typeface="Malgun Gothic"/>
                <a:solidFill>
                  <a:schemeClr val="tx2"/>
                </a:solidFill>
              </a:rPr>
              <a:t>이 65,536개의 회로를 엔지니어가 전부 따로 설계해야 할까요?</a:t>
            </a:r>
          </a:p>
          <a:p>
            <a:pPr>
              <a:spcAft>
                <a:spcPts val="600"/>
              </a:spcAft>
            </a:pPr>
            <a:r>
              <a:rPr sz="1300" b="1">
                <a:latin typeface="Malgun Gothic"/>
                <a:solidFill>
                  <a:schemeClr val="tx1"/>
                </a:solidFill>
              </a:rPr>
              <a:t>• 대칭성의 발견: </a:t>
            </a:r>
            <a:r>
              <a:rPr sz="1300">
                <a:latin typeface="Malgun Gothic"/>
                <a:solidFill>
                  <a:schemeClr val="tx2"/>
                </a:solidFill>
              </a:rPr>
              <a:t>입력 핀 이름(A, B, C, D)만 바꿨을 때 같아지는 것을 묶으면 회로의 본질적 종류는 극적으로 줄어듭니다!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수학에서 '군(Group)'과 '작용'이란?</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1</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1부 · 준비 · 개념 연결</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변수 이름을 바꾸는 변환들의 대수적 모임과 함수 그래프 이동의 원리</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[정의] </a:t>
            </a:r>
            <a:r>
              <a:rPr sz="1700" b="1">
                <a:latin typeface="Malgun Gothic"/>
                <a:solidFill>
                  <a:schemeClr val="tx1"/>
                </a:solidFill>
              </a:rPr>
              <a:t>군(Group): 변환의 세계</a:t>
            </a:r>
          </a:p>
          <a:p>
            <a:pPr>
              <a:spcAft>
                <a:spcPts val="600"/>
              </a:spcAft>
            </a:pPr>
            <a:r>
              <a:rPr sz="1300" b="1">
                <a:latin typeface="Malgun Gothic"/>
                <a:solidFill>
                  <a:schemeClr val="tx1"/>
                </a:solidFill>
              </a:rPr>
              <a:t>• 조작들의 집합: </a:t>
            </a:r>
            <a:r>
              <a:rPr sz="1300">
                <a:latin typeface="Malgun Gothic"/>
                <a:solidFill>
                  <a:schemeClr val="tx2"/>
                </a:solidFill>
              </a:rPr>
              <a:t>수학에서 군(Group)은 어떤 대상에 가할 수 있는 '변환(조작)'들의 모임입니다.</a:t>
            </a:r>
          </a:p>
          <a:p>
            <a:pPr>
              <a:spcAft>
                <a:spcPts val="600"/>
              </a:spcAft>
            </a:pPr>
            <a:r>
              <a:rPr sz="1300" b="1">
                <a:latin typeface="Malgun Gothic"/>
                <a:solidFill>
                  <a:schemeClr val="tx1"/>
                </a:solidFill>
              </a:rPr>
              <a:t>• 대칭군 S₄의 원소 24개: </a:t>
            </a:r>
            <a:r>
              <a:rPr sz="1300">
                <a:latin typeface="Malgun Gothic"/>
                <a:solidFill>
                  <a:schemeClr val="tx2"/>
                </a:solidFill>
              </a:rPr>
              <a:t>4개의 변수 이름 A, B, C, D를 뒤섞는 모든 순열의 개수는 4! = 24가지입니다.</a:t>
            </a:r>
          </a:p>
          <a:p>
            <a:pPr>
              <a:spcAft>
                <a:spcPts val="600"/>
              </a:spcAft>
            </a:pPr>
            <a:r>
              <a:rPr sz="1300" b="1">
                <a:latin typeface="Malgun Gothic"/>
                <a:solidFill>
                  <a:schemeClr val="tx1"/>
                </a:solidFill>
              </a:rPr>
              <a:t>• 군의 필수 조건 3가지: </a:t>
            </a:r>
            <a:r>
              <a:rPr sz="1300">
                <a:latin typeface="Malgun Gothic"/>
                <a:solidFill>
                  <a:schemeClr val="tx2"/>
                </a:solidFill>
              </a:rPr>
              <a:t>① 연속해서 섞어도 유효한 섞기, ② 아무것도 안 섞기(항등원), ③ 원래대로 되돌리기(역원)가 모두 가능합니다.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[고교 연결] </a:t>
            </a:r>
            <a:r>
              <a:rPr sz="1700" b="1">
                <a:latin typeface="Malgun Gothic"/>
                <a:solidFill>
                  <a:schemeClr val="tx1"/>
                </a:solidFill>
              </a:rPr>
              <a:t>왜 역원 g⁻¹이 붙을까?</a:t>
            </a:r>
          </a:p>
          <a:p>
            <a:pPr>
              <a:spcAft>
                <a:spcPts val="600"/>
              </a:spcAft>
            </a:pPr>
            <a:r>
              <a:rPr sz="1300" b="1">
                <a:latin typeface="Malgun Gothic"/>
                <a:solidFill>
                  <a:schemeClr val="tx1"/>
                </a:solidFill>
              </a:rPr>
              <a:t>• 수식: (g·f)(x) = f(g⁻¹x): </a:t>
            </a:r>
            <a:r>
              <a:rPr sz="1300">
                <a:latin typeface="Malgun Gothic"/>
                <a:solidFill>
                  <a:schemeClr val="tx2"/>
                </a:solidFill>
              </a:rPr>
              <a:t>새 회로(g·f)에 입력 x를 넣었을 때 올바른 결과가 나오도록 배선을 거꾸로 되감는 수식입니다.</a:t>
            </a:r>
          </a:p>
          <a:p>
            <a:pPr>
              <a:spcAft>
                <a:spcPts val="600"/>
              </a:spcAft>
            </a:pPr>
            <a:r>
              <a:rPr sz="1300" b="1">
                <a:latin typeface="Malgun Gothic"/>
                <a:solidFill>
                  <a:schemeClr val="tx1"/>
                </a:solidFill>
              </a:rPr>
              <a:t>• 회로 배선 맞바꾸기 비유: </a:t>
            </a:r>
            <a:r>
              <a:rPr sz="1300">
                <a:latin typeface="Malgun Gothic"/>
                <a:solidFill>
                  <a:schemeClr val="tx2"/>
                </a:solidFill>
              </a:rPr>
              <a:t>1번과 2번 핀을 맞바꾼 새 회로에 (0,1)을 넣으면, 내부의 옛 기계 f는 1번 핀(1,0)으로 신호를 되감아(g⁻¹) 받아야 정상 작동합니다!</a:t>
            </a:r>
          </a:p>
          <a:p>
            <a:pPr>
              <a:spcAft>
                <a:spcPts val="600"/>
              </a:spcAft>
            </a:pPr>
            <a:r>
              <a:rPr sz="1300" b="1">
                <a:latin typeface="Malgun Gothic"/>
                <a:solidFill>
                  <a:schemeClr val="tx1"/>
                </a:solidFill>
              </a:rPr>
              <a:t>• 도형 평행이동과의 연결: </a:t>
            </a:r>
            <a:r>
              <a:rPr sz="1300">
                <a:latin typeface="Malgun Gothic"/>
                <a:solidFill>
                  <a:schemeClr val="tx2"/>
                </a:solidFill>
              </a:rPr>
              <a:t>고1 때 y=f(x)를 오른쪽(+a)으로 밀면 식에 f(x - a)처럼 반대 부호가 붙던 것과 완전히 똑같은 '좌표 역추적' 원리입니다.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[의미] </a:t>
            </a:r>
            <a:r>
              <a:rPr sz="1700" b="1">
                <a:latin typeface="Malgun Gothic"/>
                <a:solidFill>
                  <a:schemeClr val="tx1"/>
                </a:solidFill>
              </a:rPr>
              <a:t>함수의 '작용(Action)'</a:t>
            </a:r>
          </a:p>
          <a:p>
            <a:pPr>
              <a:spcAft>
                <a:spcPts val="600"/>
              </a:spcAft>
            </a:pPr>
            <a:r>
              <a:rPr sz="1300" b="1">
                <a:latin typeface="Malgun Gothic"/>
                <a:solidFill>
                  <a:schemeClr val="tx1"/>
                </a:solidFill>
              </a:rPr>
              <a:t>• 함수 공간 위를 이동: </a:t>
            </a:r>
            <a:r>
              <a:rPr sz="1300">
                <a:latin typeface="Malgun Gothic"/>
                <a:solidFill>
                  <a:schemeClr val="tx2"/>
                </a:solidFill>
              </a:rPr>
              <a:t>순열 g를 가하면 함수 f가 새로운 식 g·f로 변신합니다.</a:t>
            </a:r>
          </a:p>
          <a:p>
            <a:pPr>
              <a:spcAft>
                <a:spcPts val="600"/>
              </a:spcAft>
            </a:pPr>
            <a:r>
              <a:rPr sz="1300" b="1">
                <a:latin typeface="Malgun Gothic"/>
                <a:solidFill>
                  <a:schemeClr val="tx1"/>
                </a:solidFill>
              </a:rPr>
              <a:t>• 구조의 보존: </a:t>
            </a:r>
            <a:r>
              <a:rPr sz="1300">
                <a:latin typeface="Malgun Gothic"/>
                <a:solidFill>
                  <a:schemeClr val="tx2"/>
                </a:solidFill>
              </a:rPr>
              <a:t>이름표는 바뀌었지만 참/거짓의 논리 구조 자체는 조금도 훼손되지 않고 보존됩니다.</a:t>
            </a:r>
          </a:p>
          <a:p>
            <a:pPr>
              <a:spcAft>
                <a:spcPts val="600"/>
              </a:spcAft>
            </a:pPr>
            <a:r>
              <a:rPr sz="1300" b="1">
                <a:latin typeface="Malgun Gothic"/>
                <a:solidFill>
                  <a:schemeClr val="tx1"/>
                </a:solidFill>
              </a:rPr>
              <a:t>• 본질적 동일성: </a:t>
            </a:r>
            <a:r>
              <a:rPr sz="1300">
                <a:latin typeface="Malgun Gothic"/>
                <a:solidFill>
                  <a:schemeClr val="tx2"/>
                </a:solidFill>
              </a:rPr>
              <a:t>따라서 f와 g·f는 겉모습만 다를 뿐 '동일한 종류의 부울 함수'로 간주할 수 있습니다.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'궤도(Orbit)'란 무엇인가? — 목걸이와 부품 규격</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1</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1부 · 준비 · 직관 형성</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변수 이름표를 바꿔서 서로 도달할 수 있는 함수들을 한 바구니에 담은 동치류</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3"/>
                </a:solidFill>
              </a:rPr>
              <a:t>[고교 수학] </a:t>
            </a:r>
            <a:r>
              <a:rPr sz="1700" b="1">
                <a:latin typeface="Malgun Gothic"/>
                <a:solidFill>
                  <a:schemeClr val="tx1"/>
                </a:solidFill>
              </a:rPr>
              <a:t>목걸이 순열의 직관</a:t>
            </a:r>
          </a:p>
          <a:p>
            <a:pPr>
              <a:spcAft>
                <a:spcPts val="600"/>
              </a:spcAft>
            </a:pPr>
            <a:r>
              <a:rPr sz="1300" b="1">
                <a:latin typeface="Malgun Gothic"/>
                <a:solidFill>
                  <a:schemeClr val="tx1"/>
                </a:solidFill>
              </a:rPr>
              <a:t>• 고교 원순열 · 목걸이 순열: </a:t>
            </a:r>
            <a:r>
              <a:rPr sz="1300">
                <a:latin typeface="Malgun Gothic"/>
                <a:solidFill>
                  <a:schemeClr val="tx2"/>
                </a:solidFill>
              </a:rPr>
              <a:t>빨강, 파랑, 노랑, 초록 구슬로 꿴 목걸이를 식탁 위에서 회전시켜도 새로운 목걸이가 아닙니다.</a:t>
            </a:r>
          </a:p>
          <a:p>
            <a:pPr>
              <a:spcAft>
                <a:spcPts val="600"/>
              </a:spcAft>
            </a:pPr>
            <a:r>
              <a:rPr sz="1300" b="1">
                <a:latin typeface="Malgun Gothic"/>
                <a:solidFill>
                  <a:schemeClr val="tx1"/>
                </a:solidFill>
              </a:rPr>
              <a:t>• 회전으로 묶기: </a:t>
            </a:r>
            <a:r>
              <a:rPr sz="1300">
                <a:latin typeface="Malgun Gothic"/>
                <a:solidFill>
                  <a:schemeClr val="tx2"/>
                </a:solidFill>
              </a:rPr>
              <a:t>회전해서 같아지는 4가지 배치를 '1개의 목걸이'로 묶어 세듯, 군론에서도 변환으로 같아지는 대상을 하나로 묶습니다.</a:t>
            </a:r>
          </a:p>
          <a:p>
            <a:pPr>
              <a:spcAft>
                <a:spcPts val="600"/>
              </a:spcAft>
            </a:pPr>
            <a:r>
              <a:rPr sz="1300" b="1">
                <a:latin typeface="Malgun Gothic"/>
                <a:solidFill>
                  <a:schemeClr val="tx1"/>
                </a:solidFill>
              </a:rPr>
              <a:t>• 동치류(Equivalence Class): </a:t>
            </a:r>
            <a:r>
              <a:rPr sz="1300">
                <a:latin typeface="Malgun Gothic"/>
                <a:solidFill>
                  <a:schemeClr val="tx2"/>
                </a:solidFill>
              </a:rPr>
              <a:t>전체 공간을 겹치지 않는 묶음들로 분할하는 것이 바로 동치류 분할입니다.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[공학 관점] </a:t>
            </a:r>
            <a:r>
              <a:rPr sz="1700" b="1">
                <a:latin typeface="Malgun Gothic"/>
                <a:solidFill>
                  <a:schemeClr val="tx1"/>
                </a:solidFill>
              </a:rPr>
              <a:t>전자회로 칩의 관점</a:t>
            </a:r>
          </a:p>
          <a:p>
            <a:pPr>
              <a:spcAft>
                <a:spcPts val="600"/>
              </a:spcAft>
            </a:pPr>
            <a:r>
              <a:rPr sz="1300" b="1">
                <a:latin typeface="Malgun Gothic"/>
                <a:solidFill>
                  <a:schemeClr val="tx1"/>
                </a:solidFill>
              </a:rPr>
              <a:t>• f₁ = A ∧ B: </a:t>
            </a:r>
            <a:r>
              <a:rPr sz="1300">
                <a:latin typeface="Malgun Gothic"/>
                <a:solidFill>
                  <a:schemeClr val="tx2"/>
                </a:solidFill>
              </a:rPr>
              <a:t>두 입력 A, B가 모두 참일 때만 1을 내는 AND 회로입니다.</a:t>
            </a:r>
          </a:p>
          <a:p>
            <a:pPr>
              <a:spcAft>
                <a:spcPts val="600"/>
              </a:spcAft>
            </a:pPr>
            <a:r>
              <a:rPr sz="1300" b="1">
                <a:latin typeface="Malgun Gothic"/>
                <a:solidFill>
                  <a:schemeClr val="tx1"/>
                </a:solidFill>
              </a:rPr>
              <a:t>• f₂ = C ∧ D: </a:t>
            </a:r>
            <a:r>
              <a:rPr sz="1300">
                <a:latin typeface="Malgun Gothic"/>
                <a:solidFill>
                  <a:schemeClr val="tx2"/>
                </a:solidFill>
              </a:rPr>
              <a:t>두 입력 C, D가 모두 참일 때만 1을 내는 AND 회로입니다.</a:t>
            </a:r>
          </a:p>
          <a:p>
            <a:pPr>
              <a:spcAft>
                <a:spcPts val="600"/>
              </a:spcAft>
            </a:pPr>
            <a:r>
              <a:rPr sz="1300" b="1">
                <a:latin typeface="Malgun Gothic"/>
                <a:solidFill>
                  <a:schemeClr val="tx1"/>
                </a:solidFill>
              </a:rPr>
              <a:t>• 수식은 다르지만 칩은 같다: </a:t>
            </a:r>
            <a:r>
              <a:rPr sz="1300">
                <a:latin typeface="Malgun Gothic"/>
                <a:solidFill>
                  <a:schemeClr val="tx2"/>
                </a:solidFill>
              </a:rPr>
              <a:t>외부 핀 이름표만 A, B에서 C, D로 바뀌었을 뿐, 반도체 제조사 입장에서는 완전히 동일한 2입력 AND 표준 셀입니다!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[결론] </a:t>
            </a:r>
            <a:r>
              <a:rPr sz="1700" b="1">
                <a:latin typeface="Malgun Gothic"/>
                <a:solidFill>
                  <a:schemeClr val="tx1"/>
                </a:solidFill>
              </a:rPr>
              <a:t>궤도(Orbit)의 정의</a:t>
            </a:r>
          </a:p>
          <a:p>
            <a:pPr>
              <a:spcAft>
                <a:spcPts val="600"/>
              </a:spcAft>
            </a:pPr>
            <a:r>
              <a:rPr sz="1300" b="1">
                <a:latin typeface="Malgun Gothic"/>
                <a:solidFill>
                  <a:schemeClr val="tx1"/>
                </a:solidFill>
              </a:rPr>
              <a:t>• 수학적 정의: </a:t>
            </a:r>
            <a:r>
              <a:rPr sz="1300">
                <a:latin typeface="Malgun Gothic"/>
                <a:solidFill>
                  <a:schemeClr val="tx2"/>
                </a:solidFill>
              </a:rPr>
              <a:t>f의 궤도 G·f = { g·f : g ∈ S₄ } 는 24개 순열을 적용해 나오는 모든 함수들의 모임입니다.</a:t>
            </a:r>
          </a:p>
          <a:p>
            <a:pPr>
              <a:spcAft>
                <a:spcPts val="600"/>
              </a:spcAft>
            </a:pPr>
            <a:r>
              <a:rPr sz="1300" b="1">
                <a:latin typeface="Malgun Gothic"/>
                <a:solidFill>
                  <a:schemeClr val="tx1"/>
                </a:solidFill>
              </a:rPr>
              <a:t>• 거대한 압축의 기적: </a:t>
            </a:r>
            <a:r>
              <a:rPr sz="1300">
                <a:latin typeface="Malgun Gothic"/>
                <a:solidFill>
                  <a:schemeClr val="tx2"/>
                </a:solidFill>
              </a:rPr>
              <a:t>수식 기준으로는 65,536개나 되는 방대한 함수들이, 궤도로 묶으면 정확히 3,984개의 궤도로 분류됩니다!</a:t>
            </a:r>
          </a:p>
          <a:p>
            <a:pPr>
              <a:spcAft>
                <a:spcPts val="600"/>
              </a:spcAft>
            </a:pPr>
            <a:r>
              <a:rPr sz="1300" b="1">
                <a:latin typeface="Malgun Gothic"/>
                <a:solidFill>
                  <a:schemeClr val="tx1"/>
                </a:solidFill>
              </a:rPr>
              <a:t>• 핵심 연구 목표: </a:t>
            </a:r>
            <a:r>
              <a:rPr sz="1300">
                <a:latin typeface="Malgun Gothic"/>
                <a:solidFill>
                  <a:schemeClr val="tx2"/>
                </a:solidFill>
              </a:rPr>
              <a:t>이 3,984개의 궤도 수를 하나하나 세지 않고 수학적으로 계산하는 것이 번사이드 보조정리의 힘입니다.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대칭성이 높을수록 궤도는 작아진다!</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1</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1부 · 준비 · 핵심 정리</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궤도-안정화군 정리: |궤도의 크기| × |안정화군의 위수| = 24 (전체 순열 수)</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[기본 정리] </a:t>
            </a:r>
            <a:r>
              <a:rPr sz="1700" b="1">
                <a:latin typeface="Malgun Gothic"/>
                <a:solidFill>
                  <a:schemeClr val="tx1"/>
                </a:solidFill>
              </a:rPr>
              <a:t>대칭성과 보존 법칙</a:t>
            </a:r>
          </a:p>
          <a:p>
            <a:pPr>
              <a:spcAft>
                <a:spcPts val="600"/>
              </a:spcAft>
            </a:pPr>
            <a:r>
              <a:rPr sz="1300" b="1">
                <a:latin typeface="Malgun Gothic"/>
                <a:solidFill>
                  <a:schemeClr val="tx1"/>
                </a:solidFill>
              </a:rPr>
              <a:t>• 안정화군 Stab(f)의 정의: </a:t>
            </a:r>
            <a:r>
              <a:rPr sz="1300">
                <a:latin typeface="Malgun Gothic"/>
                <a:solidFill>
                  <a:schemeClr val="tx2"/>
                </a:solidFill>
              </a:rPr>
              <a:t>변수 순열 중 함수 f의 모양을 조금도 바꾸지 않는 순열들의 모임입니다.</a:t>
            </a:r>
          </a:p>
          <a:p>
            <a:pPr>
              <a:spcAft>
                <a:spcPts val="600"/>
              </a:spcAft>
            </a:pPr>
            <a:r>
              <a:rPr sz="1300" b="1">
                <a:latin typeface="Malgun Gothic"/>
                <a:solidFill>
                  <a:schemeClr val="tx1"/>
                </a:solidFill>
              </a:rPr>
              <a:t>• 대칭성의 척도: </a:t>
            </a:r>
            <a:r>
              <a:rPr sz="1300">
                <a:latin typeface="Malgun Gothic"/>
                <a:solidFill>
                  <a:schemeClr val="tx2"/>
                </a:solidFill>
              </a:rPr>
              <a:t>함수가 완벽한 대칭을 이룰수록 Stab(f)에 들어가는 순열의 개수가 많아집니다.</a:t>
            </a:r>
          </a:p>
          <a:p>
            <a:pPr>
              <a:spcAft>
                <a:spcPts val="600"/>
              </a:spcAft>
            </a:pPr>
            <a:r>
              <a:rPr sz="1300" b="1">
                <a:latin typeface="Malgun Gothic"/>
                <a:solidFill>
                  <a:schemeClr val="tx1"/>
                </a:solidFill>
              </a:rPr>
              <a:t>• 보존 법칙: </a:t>
            </a:r>
            <a:r>
              <a:rPr sz="1300">
                <a:latin typeface="Malgun Gothic"/>
                <a:solidFill>
                  <a:schemeClr val="tx2"/>
                </a:solidFill>
              </a:rPr>
              <a:t>어떤 함수든 [궤도 크기] × [안정화군 크기]의 곱은 항상 전체 군의 크기 24가 됩니다!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[사례 비교] </a:t>
            </a:r>
            <a:r>
              <a:rPr sz="1700" b="1">
                <a:latin typeface="Malgun Gothic"/>
                <a:solidFill>
                  <a:schemeClr val="tx1"/>
                </a:solidFill>
              </a:rPr>
              <a:t>세 가지 극적인 예시</a:t>
            </a:r>
          </a:p>
          <a:p>
            <a:pPr>
              <a:spcAft>
                <a:spcPts val="600"/>
              </a:spcAft>
            </a:pPr>
            <a:r>
              <a:rPr sz="1300" b="1">
                <a:latin typeface="Malgun Gothic"/>
                <a:solidFill>
                  <a:schemeClr val="tx1"/>
                </a:solidFill>
              </a:rPr>
              <a:t>• 완전 대칭: XOR (크기 1): </a:t>
            </a:r>
            <a:r>
              <a:rPr sz="1300">
                <a:latin typeface="Malgun Gothic"/>
                <a:solidFill>
                  <a:schemeClr val="tx2"/>
                </a:solidFill>
              </a:rPr>
              <a:t>A⊕B⊕C⊕D는 24가지 순열 어떤 것을 가해도 불변! |Stab| = 24이므로 궤도 크기는 24/24 = 1 (혼자만의 궤도).</a:t>
            </a:r>
          </a:p>
          <a:p>
            <a:pPr>
              <a:spcAft>
                <a:spcPts val="600"/>
              </a:spcAft>
            </a:pPr>
            <a:r>
              <a:rPr sz="1300" b="1">
                <a:latin typeface="Malgun Gothic"/>
                <a:solidFill>
                  <a:schemeClr val="tx1"/>
                </a:solidFill>
              </a:rPr>
              <a:t>• 부분 대칭: f = A (크기 4): </a:t>
            </a:r>
            <a:r>
              <a:rPr sz="1300">
                <a:latin typeface="Malgun Gothic"/>
                <a:solidFill>
                  <a:schemeClr val="tx2"/>
                </a:solidFill>
              </a:rPr>
              <a:t>A는 그대로 두고 B, C, D를 섞는 3! = 6가지에 불변. |Stab| = 6이므로 궤도 크기는 24/6 = 4 ({A, B, C, D}).</a:t>
            </a:r>
          </a:p>
          <a:p>
            <a:pPr>
              <a:spcAft>
                <a:spcPts val="600"/>
              </a:spcAft>
            </a:pPr>
            <a:r>
              <a:rPr sz="1300" b="1">
                <a:latin typeface="Malgun Gothic"/>
                <a:solidFill>
                  <a:schemeClr val="tx1"/>
                </a:solidFill>
              </a:rPr>
              <a:t>• 비대칭 함수 (크기 24): </a:t>
            </a:r>
            <a:r>
              <a:rPr sz="1300">
                <a:latin typeface="Malgun Gothic"/>
                <a:solidFill>
                  <a:schemeClr val="tx2"/>
                </a:solidFill>
              </a:rPr>
              <a:t>대칭성이 전혀 없으면 |Stab| = 1. 24가지 순열마다 전부 다른 수식이 만들어져 궤도 크기가 최대(24)가 됩니다.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[수학적 함의] </a:t>
            </a:r>
            <a:r>
              <a:rPr sz="1700" b="1">
                <a:latin typeface="Malgun Gothic"/>
                <a:solidFill>
                  <a:schemeClr val="tx1"/>
                </a:solidFill>
              </a:rPr>
              <a:t>궤도 크기의 제약</a:t>
            </a:r>
          </a:p>
          <a:p>
            <a:pPr>
              <a:spcAft>
                <a:spcPts val="600"/>
              </a:spcAft>
            </a:pPr>
            <a:r>
              <a:rPr sz="1300" b="1">
                <a:latin typeface="Malgun Gothic"/>
                <a:solidFill>
                  <a:schemeClr val="tx1"/>
                </a:solidFill>
              </a:rPr>
              <a:t>• 24의 약수만 가능: </a:t>
            </a:r>
            <a:r>
              <a:rPr sz="1300">
                <a:latin typeface="Malgun Gothic"/>
                <a:solidFill>
                  <a:schemeClr val="tx2"/>
                </a:solidFill>
              </a:rPr>
              <a:t>궤도의 크기는 24를 나눈 몫이므로 반드시 24의 약수 (1, 2, 3, 4, 6, 8, 12, 24) 중 하나여야 합니다.</a:t>
            </a:r>
          </a:p>
          <a:p>
            <a:pPr>
              <a:spcAft>
                <a:spcPts val="600"/>
              </a:spcAft>
            </a:pPr>
            <a:r>
              <a:rPr sz="1300" b="1">
                <a:latin typeface="Malgun Gothic"/>
                <a:solidFill>
                  <a:schemeClr val="tx1"/>
                </a:solidFill>
              </a:rPr>
              <a:t>• 불가능한 궤도 크기: </a:t>
            </a:r>
            <a:r>
              <a:rPr sz="1300">
                <a:latin typeface="Malgun Gothic"/>
                <a:solidFill>
                  <a:schemeClr val="tx2"/>
                </a:solidFill>
              </a:rPr>
              <a:t>크기가 5개나 7개인 궤도는 수학적으로 절대로 존재할 수 없습니다!</a:t>
            </a:r>
          </a:p>
          <a:p>
            <a:pPr>
              <a:spcAft>
                <a:spcPts val="600"/>
              </a:spcAft>
            </a:pPr>
            <a:r>
              <a:rPr sz="1300" b="1">
                <a:latin typeface="Malgun Gothic"/>
                <a:solidFill>
                  <a:schemeClr val="tx1"/>
                </a:solidFill>
              </a:rPr>
              <a:t>• 공간의 분할: </a:t>
            </a:r>
            <a:r>
              <a:rPr sz="1300">
                <a:latin typeface="Malgun Gothic"/>
                <a:solidFill>
                  <a:schemeClr val="tx2"/>
                </a:solidFill>
              </a:rPr>
              <a:t>65,536개의 전체 함수 공간은 이 8가지 가운데 실제로 나타나는 6가지(1, 3, 4, 6, 12, 24) 크기의 궤도 조각들로 채워집니다. 크기 2와 8은 가능하지만 나타나지 않습니다.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11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번사이드 보조정리의 마법: 왜 '평균'일까?</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1</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1부 · 준비 · 원리 증명</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이중 계수(Double Counting) 원리로 직관적으로 이해하는 번사이드 공식의 원리</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[발상의 전환] </a:t>
            </a:r>
            <a:r>
              <a:rPr sz="1700" b="1">
                <a:latin typeface="Malgun Gothic"/>
                <a:solidFill>
                  <a:schemeClr val="tx1"/>
                </a:solidFill>
              </a:rPr>
              <a:t>1. 도장 찍기 표 (Grid)</a:t>
            </a:r>
          </a:p>
          <a:p>
            <a:pPr>
              <a:spcAft>
                <a:spcPts val="600"/>
              </a:spcAft>
            </a:pPr>
            <a:r>
              <a:rPr sz="1300" b="1">
                <a:latin typeface="Malgun Gothic"/>
                <a:solidFill>
                  <a:schemeClr val="tx1"/>
                </a:solidFill>
              </a:rPr>
              <a:t>• 거대한 체크 표: </a:t>
            </a:r>
            <a:r>
              <a:rPr sz="1300">
                <a:latin typeface="Malgun Gothic"/>
                <a:solidFill>
                  <a:schemeClr val="tx2"/>
                </a:solidFill>
              </a:rPr>
              <a:t>가로줄에는 65,536개의 부울 함수, 세로줄에는 24개의 순열을 적은 거대한 표를 상상해 봅시다.</a:t>
            </a:r>
          </a:p>
          <a:p>
            <a:pPr>
              <a:spcAft>
                <a:spcPts val="600"/>
              </a:spcAft>
            </a:pPr>
            <a:r>
              <a:rPr sz="1300" b="1">
                <a:latin typeface="Malgun Gothic"/>
                <a:solidFill>
                  <a:schemeClr val="tx1"/>
                </a:solidFill>
              </a:rPr>
              <a:t>• 도장 찍기 규칙: </a:t>
            </a:r>
            <a:r>
              <a:rPr sz="1300">
                <a:latin typeface="Malgun Gothic"/>
                <a:solidFill>
                  <a:schemeClr val="tx2"/>
                </a:solidFill>
              </a:rPr>
              <a:t>순열 g를 가했을 때 함수 f가 변하지 않고 그대로 유지되면(g·f = f) 그 칸에 도장(✓)을 찍습니다.</a:t>
            </a:r>
          </a:p>
          <a:p>
            <a:pPr>
              <a:spcAft>
                <a:spcPts val="600"/>
              </a:spcAft>
            </a:pPr>
            <a:r>
              <a:rPr sz="1300" b="1">
                <a:latin typeface="Malgun Gothic"/>
                <a:solidFill>
                  <a:schemeClr val="tx1"/>
                </a:solidFill>
              </a:rPr>
              <a:t>• 이중 계수의 아이디어: </a:t>
            </a:r>
            <a:r>
              <a:rPr sz="1300">
                <a:latin typeface="Malgun Gothic"/>
                <a:solidFill>
                  <a:schemeClr val="tx2"/>
                </a:solidFill>
              </a:rPr>
              <a:t>이 표에 찍힌 총 도장의 개수를 '가로로 세는 방법'과 '세로로 세는 방법' 두 가지로 계산합니다!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[이중 계수] </a:t>
            </a:r>
            <a:r>
              <a:rPr sz="1700" b="1">
                <a:latin typeface="Malgun Gothic"/>
                <a:solidFill>
                  <a:schemeClr val="tx1"/>
                </a:solidFill>
              </a:rPr>
              <a:t>2. 가로 세기 vs 세로 세기</a:t>
            </a:r>
          </a:p>
          <a:p>
            <a:pPr>
              <a:spcAft>
                <a:spcPts val="600"/>
              </a:spcAft>
            </a:pPr>
            <a:r>
              <a:rPr sz="1300" b="1">
                <a:latin typeface="Malgun Gothic"/>
                <a:solidFill>
                  <a:schemeClr val="tx1"/>
                </a:solidFill>
              </a:rPr>
              <a:t>• 세로(열)로 합치기: </a:t>
            </a:r>
            <a:r>
              <a:rPr sz="1300">
                <a:latin typeface="Malgun Gothic"/>
                <a:solidFill>
                  <a:schemeClr val="tx2"/>
                </a:solidFill>
              </a:rPr>
              <a:t>각 순열 g 열의 도장 수는 g가 불변으로 유지하는 고정점 함수 개수 |Fix(g)|입니다. 따라서 총 도장 수는 Σ |Fix(g)| 입니다.</a:t>
            </a:r>
          </a:p>
          <a:p>
            <a:pPr>
              <a:spcAft>
                <a:spcPts val="600"/>
              </a:spcAft>
            </a:pPr>
            <a:r>
              <a:rPr sz="1300" b="1">
                <a:latin typeface="Malgun Gothic"/>
                <a:solidFill>
                  <a:schemeClr val="tx1"/>
                </a:solidFill>
              </a:rPr>
              <a:t>• 가로(행)로 합치기: </a:t>
            </a:r>
            <a:r>
              <a:rPr sz="1300">
                <a:latin typeface="Malgun Gothic"/>
                <a:solidFill>
                  <a:schemeClr val="tx2"/>
                </a:solidFill>
              </a:rPr>
              <a:t>함수 f 행의 도장 수는 f를 고정하는 순열 개수 |Stab(f)|입니다.</a:t>
            </a:r>
          </a:p>
          <a:p>
            <a:pPr>
              <a:spcAft>
                <a:spcPts val="600"/>
              </a:spcAft>
            </a:pPr>
            <a:r>
              <a:rPr sz="1300" b="1">
                <a:latin typeface="Malgun Gothic"/>
                <a:solidFill>
                  <a:schemeClr val="tx1"/>
                </a:solidFill>
              </a:rPr>
              <a:t>• 궤도-안정화군의 기적: </a:t>
            </a:r>
            <a:r>
              <a:rPr sz="1300">
                <a:latin typeface="Malgun Gothic"/>
                <a:solidFill>
                  <a:schemeClr val="tx2"/>
                </a:solidFill>
              </a:rPr>
              <a:t>크기 k인 궤도 안의 각 함수는 24/k개의 도장을 갖습니다. 그런데 궤도에 함수가 k개 있으므로, 궤도 전체의 도장 합은 항상 k × (24/k) = 24개입니다!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[정리 완성] </a:t>
            </a:r>
            <a:r>
              <a:rPr sz="1700" b="1">
                <a:latin typeface="Malgun Gothic"/>
                <a:solidFill>
                  <a:schemeClr val="tx1"/>
                </a:solidFill>
              </a:rPr>
              <a:t>3. 마법 같은 결론</a:t>
            </a:r>
          </a:p>
          <a:p>
            <a:pPr>
              <a:spcAft>
                <a:spcPts val="600"/>
              </a:spcAft>
            </a:pPr>
            <a:r>
              <a:rPr sz="1300" b="1">
                <a:latin typeface="Malgun Gothic"/>
                <a:solidFill>
                  <a:schemeClr val="tx1"/>
                </a:solidFill>
              </a:rPr>
              <a:t>• 모든 궤도는 24개의 도장을 기여: </a:t>
            </a:r>
            <a:r>
              <a:rPr sz="1300">
                <a:latin typeface="Malgun Gothic"/>
                <a:solidFill>
                  <a:schemeClr val="tx2"/>
                </a:solidFill>
              </a:rPr>
              <a:t>크기가 1이든 4이든 24이든, 어떤 궤도든 상관없이 궤도 하나당 정확히 24개의 도장을 만듭니다!</a:t>
            </a:r>
          </a:p>
          <a:p>
            <a:pPr>
              <a:spcAft>
                <a:spcPts val="600"/>
              </a:spcAft>
            </a:pPr>
            <a:r>
              <a:rPr sz="1300" b="1">
                <a:latin typeface="Malgun Gothic"/>
                <a:solidFill>
                  <a:schemeClr val="tx1"/>
                </a:solidFill>
              </a:rPr>
              <a:t>• 공식의 유도: </a:t>
            </a:r>
            <a:r>
              <a:rPr sz="1300">
                <a:latin typeface="Malgun Gothic"/>
                <a:solidFill>
                  <a:schemeClr val="tx2"/>
                </a:solidFill>
              </a:rPr>
              <a:t>(전체 도장 수) = 24 × (궤도의 수)</a:t>
            </a:r>
          </a:p>
          <a:p>
            <a:pPr>
              <a:spcAft>
                <a:spcPts val="600"/>
              </a:spcAft>
            </a:pPr>
            <a:r>
              <a:rPr sz="1300" b="1">
                <a:latin typeface="Malgun Gothic"/>
                <a:solidFill>
                  <a:schemeClr val="tx1"/>
                </a:solidFill>
              </a:rPr>
              <a:t>• 따라서 궤도 수 = 도장 수 / 24: </a:t>
            </a:r>
            <a:r>
              <a:rPr sz="1300">
                <a:latin typeface="Malgun Gothic"/>
                <a:solidFill>
                  <a:schemeClr val="tx2"/>
                </a:solidFill>
              </a:rPr>
              <a:t>|X/G| = (1/24) Σ |Fix(g)| ! 이로써 고정점 수의 단순 평균이 정확하게 궤도의 개수가 되는 마법이 증명됩니다.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순환 구조가 16개 입력점을 쪼개는 원리</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2</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2부 · 전체 공간 · 계산 상세</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왜 순열 g로 불변인 부울 함수의 개수는 2^(c(g))로 단숨에 계산될까?</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[예시 분석] </a:t>
            </a:r>
            <a:r>
              <a:rPr sz="1700" b="1">
                <a:latin typeface="Malgun Gothic"/>
                <a:solidFill>
                  <a:schemeClr val="tx1"/>
                </a:solidFill>
              </a:rPr>
              <a:t>구체적 예시: 순열 (12)</a:t>
            </a:r>
          </a:p>
          <a:p>
            <a:pPr>
              <a:spcAft>
                <a:spcPts val="600"/>
              </a:spcAft>
            </a:pPr>
            <a:r>
              <a:rPr sz="1300" b="1">
                <a:latin typeface="Malgun Gothic"/>
                <a:solidFill>
                  <a:schemeClr val="tx1"/>
                </a:solidFill>
              </a:rPr>
              <a:t>• 순열 g = (12) (A ↔ B 맞교환): </a:t>
            </a:r>
            <a:r>
              <a:rPr sz="1300">
                <a:latin typeface="Malgun Gothic"/>
                <a:solidFill>
                  <a:schemeClr val="tx2"/>
                </a:solidFill>
              </a:rPr>
              <a:t>변수 A와 B의 위치만 바꾸고, C와 D는 그대로 두는 가장 단순한 교환 조작입니다.</a:t>
            </a:r>
          </a:p>
          <a:p>
            <a:pPr>
              <a:spcAft>
                <a:spcPts val="600"/>
              </a:spcAft>
            </a:pPr>
            <a:r>
              <a:rPr sz="1300" b="1">
                <a:latin typeface="Malgun Gothic"/>
                <a:solidFill>
                  <a:schemeClr val="tx1"/>
                </a:solidFill>
              </a:rPr>
              <a:t>• A = B인 입력점 (8개): </a:t>
            </a:r>
            <a:r>
              <a:rPr sz="1300">
                <a:latin typeface="Malgun Gothic"/>
                <a:solidFill>
                  <a:schemeClr val="tx2"/>
                </a:solidFill>
              </a:rPr>
              <a:t>0000, 0001, 0010, 0011, 1100, 1101, 1110, 1111 은 A와 B가 같으므로 A↔B를 바꿔도 제자리! → 크기 1인 순환 8개.</a:t>
            </a:r>
          </a:p>
          <a:p>
            <a:pPr>
              <a:spcAft>
                <a:spcPts val="600"/>
              </a:spcAft>
            </a:pPr>
            <a:r>
              <a:rPr sz="1300" b="1">
                <a:latin typeface="Malgun Gothic"/>
                <a:solidFill>
                  <a:schemeClr val="tx1"/>
                </a:solidFill>
              </a:rPr>
              <a:t>• A ≠ B인 입력점 (8개): </a:t>
            </a:r>
            <a:r>
              <a:rPr sz="1300">
                <a:latin typeface="Malgun Gothic"/>
                <a:solidFill>
                  <a:schemeClr val="tx2"/>
                </a:solidFill>
              </a:rPr>
              <a:t>0100 ↔ 1000 처럼 둘씩 짝지어져 서로 위치가 맞바뀝니다! → 크기 2인 순환 4개.</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[핵심 원리] </a:t>
            </a:r>
            <a:r>
              <a:rPr sz="1700" b="1">
                <a:latin typeface="Malgun Gothic"/>
                <a:solidFill>
                  <a:schemeClr val="tx1"/>
                </a:solidFill>
              </a:rPr>
              <a:t>순환 안에서는 출력이 동일</a:t>
            </a:r>
          </a:p>
          <a:p>
            <a:pPr>
              <a:spcAft>
                <a:spcPts val="600"/>
              </a:spcAft>
            </a:pPr>
            <a:r>
              <a:rPr sz="1300" b="1">
                <a:latin typeface="Malgun Gothic"/>
                <a:solidFill>
                  <a:schemeClr val="tx1"/>
                </a:solidFill>
              </a:rPr>
              <a:t>• 불변 함수의 절대 규칙: </a:t>
            </a:r>
            <a:r>
              <a:rPr sz="1300">
                <a:latin typeface="Malgun Gothic"/>
                <a:solidFill>
                  <a:schemeClr val="tx2"/>
                </a:solidFill>
              </a:rPr>
              <a:t>함수 f가 (12)에 의해 변하지 않으려면, 서로 맞바뀌는 입력점들에서는 반드시 출력이 같아야 합니다!</a:t>
            </a:r>
          </a:p>
          <a:p>
            <a:pPr>
              <a:spcAft>
                <a:spcPts val="600"/>
              </a:spcAft>
            </a:pPr>
            <a:r>
              <a:rPr sz="1300" b="1">
                <a:latin typeface="Malgun Gothic"/>
                <a:solidFill>
                  <a:schemeClr val="tx1"/>
                </a:solidFill>
              </a:rPr>
              <a:t>• f(0100) = f(1000): </a:t>
            </a:r>
            <a:r>
              <a:rPr sz="1300">
                <a:latin typeface="Malgun Gothic"/>
                <a:solidFill>
                  <a:schemeClr val="tx2"/>
                </a:solidFill>
              </a:rPr>
              <a:t>0100에서 1을 출력한다면, 1000에서도 무조건 1을 출력해야만 변수 교환 후에도 동일한 함수가 됩니다.</a:t>
            </a:r>
          </a:p>
          <a:p>
            <a:pPr>
              <a:spcAft>
                <a:spcPts val="600"/>
              </a:spcAft>
            </a:pPr>
            <a:r>
              <a:rPr sz="1300" b="1">
                <a:latin typeface="Malgun Gothic"/>
                <a:solidFill>
                  <a:schemeClr val="tx1"/>
                </a:solidFill>
              </a:rPr>
              <a:t>• 순환 단위의 운명 공동체: </a:t>
            </a:r>
            <a:r>
              <a:rPr sz="1300">
                <a:latin typeface="Malgun Gothic"/>
                <a:solidFill>
                  <a:schemeClr val="tx2"/>
                </a:solidFill>
              </a:rPr>
              <a:t>즉, 1개의 순환 안에 묶인 점들은 전부 동시에 0이 되거나, 전부 동시에 1이 되어야 합니다.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[계산 공식] </a:t>
            </a:r>
            <a:r>
              <a:rPr sz="1700" b="1">
                <a:latin typeface="Malgun Gothic"/>
                <a:solidFill>
                  <a:schemeClr val="tx1"/>
                </a:solidFill>
              </a:rPr>
              <a:t>Fix(g) = 2^(c(g)) 계산</a:t>
            </a:r>
          </a:p>
          <a:p>
            <a:pPr>
              <a:spcAft>
                <a:spcPts val="600"/>
              </a:spcAft>
            </a:pPr>
            <a:r>
              <a:rPr sz="1300" b="1">
                <a:latin typeface="Malgun Gothic"/>
                <a:solidFill>
                  <a:schemeClr val="tx1"/>
                </a:solidFill>
              </a:rPr>
              <a:t>• 총 순환 개수 c(g) = 12: </a:t>
            </a:r>
            <a:r>
              <a:rPr sz="1300">
                <a:latin typeface="Malgun Gothic"/>
                <a:solidFill>
                  <a:schemeClr val="tx2"/>
                </a:solidFill>
              </a:rPr>
              <a:t>크기 1 순환 8개 + 크기 2 순환 4개 = 총 12개의 독립된 순환 묶음이 생깁니다.</a:t>
            </a:r>
          </a:p>
          <a:p>
            <a:pPr>
              <a:spcAft>
                <a:spcPts val="600"/>
              </a:spcAft>
            </a:pPr>
            <a:r>
              <a:rPr sz="1300" b="1">
                <a:latin typeface="Malgun Gothic"/>
                <a:solidFill>
                  <a:schemeClr val="tx1"/>
                </a:solidFill>
              </a:rPr>
              <a:t>• 독립된 12번의 선택: </a:t>
            </a:r>
            <a:r>
              <a:rPr sz="1300">
                <a:latin typeface="Malgun Gothic"/>
                <a:solidFill>
                  <a:schemeClr val="tx2"/>
                </a:solidFill>
              </a:rPr>
              <a:t>각 순환마다 독립적으로 0 또는 1을 자유롭게 지정할 수 있습니다 (2가지 선택).</a:t>
            </a:r>
          </a:p>
          <a:p>
            <a:pPr>
              <a:spcAft>
                <a:spcPts val="600"/>
              </a:spcAft>
            </a:pPr>
            <a:r>
              <a:rPr sz="1300" b="1">
                <a:latin typeface="Malgun Gothic"/>
                <a:solidFill>
                  <a:schemeClr val="tx1"/>
                </a:solidFill>
              </a:rPr>
              <a:t>• 고정점 수 = 2¹² = 4,096: </a:t>
            </a:r>
            <a:r>
              <a:rPr sz="1300">
                <a:latin typeface="Malgun Gothic"/>
                <a:solidFill>
                  <a:schemeClr val="tx2"/>
                </a:solidFill>
              </a:rPr>
              <a:t>따라서 (12)로 불변인 함수는 정확히 2¹² = 4,096개! 5개 켤레류 모두 이 방식으로 Fix를 암산하듯 구합니다.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15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24개 배치는 왜 딱 3개 동치류로 나뉠까?</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2</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2부 · 전체 공간 · 카르노맵 정리</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논문 3장 정리 1: 카르노맵 격자 대칭군 W (위수 128)에 의해 3개 동치류로 분할</a:t>
            </a:r>
          </a:p>
        </p:txBody>
      </p:sp>
      <p:sp>
        <p:nvSpPr>
          <p:cNvPr id="7" name="content-card"/>
          <p:cNvSpPr/>
          <p:nvPr/>
        </p:nvSpPr>
        <p:spPr>
          <a:xfrm>
            <a:off x="548640" y="2057400"/>
            <a:ext cx="56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52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[논문 정리 1] </a:t>
            </a:r>
            <a:r>
              <a:rPr sz="1700" b="1">
                <a:latin typeface="Malgun Gothic"/>
                <a:solidFill>
                  <a:schemeClr val="tx1"/>
                </a:solidFill>
              </a:rPr>
              <a:t>카르노맵 격자 대칭과 3개 동치류</a:t>
            </a:r>
          </a:p>
          <a:p>
            <a:pPr>
              <a:spcAft>
                <a:spcPts val="600"/>
              </a:spcAft>
            </a:pPr>
            <a:r>
              <a:rPr sz="1300" b="1">
                <a:latin typeface="Malgun Gothic"/>
                <a:solidFill>
                  <a:schemeClr val="tx1"/>
                </a:solidFill>
              </a:rPr>
              <a:t>• 변수 배치 24가지의 의문: </a:t>
            </a:r>
            <a:r>
              <a:rPr sz="1300">
                <a:latin typeface="Malgun Gothic"/>
                <a:solidFill>
                  <a:schemeClr val="tx2"/>
                </a:solidFill>
              </a:rPr>
              <a:t>교재는 AB/CD만 쓰지만, AC/BD, AD/BC, BA/CD 등 4! = 24가지 배치가 가능합니다. 그림은 어떻게 달라질까요?</a:t>
            </a:r>
          </a:p>
          <a:p>
            <a:pPr>
              <a:spcAft>
                <a:spcPts val="600"/>
              </a:spcAft>
            </a:pPr>
            <a:r>
              <a:rPr sz="1300" b="1">
                <a:latin typeface="Malgun Gothic"/>
                <a:solidFill>
                  <a:schemeClr val="tx1"/>
                </a:solidFill>
              </a:rPr>
              <a:t>• 격자 대칭군 W (위수 128): </a:t>
            </a:r>
            <a:r>
              <a:rPr sz="1300">
                <a:latin typeface="Malgun Gothic"/>
                <a:solidFill>
                  <a:schemeClr val="tx2"/>
                </a:solidFill>
              </a:rPr>
              <a:t>카르노맵을 회전하고, 뒤집고, 토러스 방향으로 평행이동하고, 행과 열을 맞바꾸는(전치) 변환들의 군 W는 위수가 128입니다.</a:t>
            </a:r>
          </a:p>
          <a:p>
            <a:pPr>
              <a:spcAft>
                <a:spcPts val="600"/>
              </a:spcAft>
            </a:pPr>
            <a:r>
              <a:rPr sz="1300" b="1">
                <a:latin typeface="Malgun Gothic"/>
                <a:solidFill>
                  <a:schemeClr val="tx1"/>
                </a:solidFill>
              </a:rPr>
              <a:t>• 네 변수를 두 쌍으로 묶기: </a:t>
            </a:r>
            <a:r>
              <a:rPr sz="1300">
                <a:latin typeface="Malgun Gothic"/>
                <a:solidFill>
                  <a:schemeClr val="tx2"/>
                </a:solidFill>
              </a:rPr>
              <a:t>4개 변수 {A,B,C,D}를 행 2개, 열 2개로 나누는 비순서 분할의 가짓수는 정확히 4C2 / 2 = 3가지입니다!</a:t>
            </a:r>
          </a:p>
          <a:p>
            <a:pPr>
              <a:spcAft>
                <a:spcPts val="600"/>
              </a:spcAft>
            </a:pPr>
            <a:r>
              <a:rPr sz="1300" b="1">
                <a:latin typeface="Malgun Gothic"/>
                <a:solidFill>
                  <a:schemeClr val="tx1"/>
                </a:solidFill>
              </a:rPr>
              <a:t>• 정리 1의 결론: </a:t>
            </a:r>
            <a:r>
              <a:rPr sz="1300">
                <a:latin typeface="Malgun Gothic"/>
                <a:solidFill>
                  <a:schemeClr val="tx2"/>
                </a:solidFill>
              </a:rPr>
              <a:t>어떤 배치를 쓰든 격자 대칭으로 돌리면 반드시 다음 3가지 대표원 중 하나로 완벽하게 귀착됩니다:</a:t>
            </a:r>
          </a:p>
          <a:p>
            <a:pPr>
              <a:spcAft>
                <a:spcPts val="600"/>
              </a:spcAft>
            </a:pPr>
            <a:r>
              <a:rPr sz="1300" b="1">
                <a:latin typeface="Malgun Gothic"/>
                <a:solidFill>
                  <a:schemeClr val="tx1"/>
                </a:solidFill>
              </a:rPr>
              <a:t>• I. {AB|CD} (인접 알파벳 분할): </a:t>
            </a:r>
            <a:r>
              <a:rPr sz="1300">
                <a:latin typeface="Malgun Gothic"/>
                <a:solidFill>
                  <a:schemeClr val="tx2"/>
                </a:solidFill>
              </a:rPr>
              <a:t>표준 교재 배치. 행 변수와 열 변수가 알파벳 순서로 인접한 쌍.</a:t>
            </a:r>
          </a:p>
          <a:p>
            <a:pPr>
              <a:spcAft>
                <a:spcPts val="600"/>
              </a:spcAft>
            </a:pPr>
            <a:r>
              <a:rPr sz="1300" b="1">
                <a:latin typeface="Malgun Gothic"/>
                <a:solidFill>
                  <a:schemeClr val="tx1"/>
                </a:solidFill>
              </a:rPr>
              <a:t>• II. {AC|BD} (홀짝 교차 분할): </a:t>
            </a:r>
            <a:r>
              <a:rPr sz="1300">
                <a:latin typeface="Malgun Gothic"/>
                <a:solidFill>
                  <a:schemeClr val="tx2"/>
                </a:solidFill>
              </a:rPr>
              <a:t>A와 C, B와 D가 묶인 교차 구조.</a:t>
            </a:r>
          </a:p>
          <a:p>
            <a:pPr>
              <a:spcAft>
                <a:spcPts val="600"/>
              </a:spcAft>
            </a:pPr>
            <a:r>
              <a:rPr sz="1300" b="1">
                <a:latin typeface="Malgun Gothic"/>
                <a:solidFill>
                  <a:schemeClr val="tx1"/>
                </a:solidFill>
              </a:rPr>
              <a:t>• III. {AD|BC} (외곽/내부 분할): </a:t>
            </a:r>
            <a:r>
              <a:rPr sz="1300">
                <a:latin typeface="Malgun Gothic"/>
                <a:solidFill>
                  <a:schemeClr val="tx2"/>
                </a:solidFill>
              </a:rPr>
              <a:t>양끝 변수 {A,D}와 중간 변수 {B,C}가 묶인 구조.</a:t>
            </a:r>
          </a:p>
        </p:txBody>
      </p:sp>
      <p:sp>
        <p:nvSpPr>
          <p:cNvPr id="9" name="content-card"/>
          <p:cNvSpPr/>
          <p:nvPr/>
        </p:nvSpPr>
        <p:spPr>
          <a:xfrm>
            <a:off x="6400000" y="2057400"/>
            <a:ext cx="5240000" cy="4200000"/>
          </a:xfrm>
          <a:prstGeom prst="roundRect">
            <a:avLst/>
          </a:prstGeom>
          <a:solidFill>
            <a:schemeClr val="bg1"/>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0000" y="2200000"/>
            <a:ext cx="4800000" cy="400000"/>
          </a:xfrm>
          <a:prstGeom prst="rect">
            <a:avLst/>
          </a:prstGeom>
          <a:noFill/>
        </p:spPr>
        <p:txBody>
          <a:bodyPr wrap="none">
            <a:spAutoFit/>
          </a:bodyPr>
          <a:lstStyle/>
          <a:p>
            <a:r>
              <a:rPr sz="1300" b="1">
                <a:latin typeface="Malgun Gothic"/>
                <a:solidFill>
                  <a:schemeClr val="accent4"/>
                </a:solidFill>
              </a:rPr>
              <a:t>[논문 그림 8] 같은 함수가 3개 배치에서 보이는 그림</a:t>
            </a:r>
          </a:p>
        </p:txBody>
      </p:sp>
      <p:pic>
        <p:nvPicPr>
          <p:cNvPr id="11" name="Picture 10" descr="fig07_xorplane_ab_cd.png"/>
          <p:cNvPicPr>
            <a:picLocks noChangeAspect="1"/>
          </p:cNvPicPr>
          <p:nvPr/>
        </p:nvPicPr>
        <p:blipFill>
          <a:blip r:embed="rId2"/>
          <a:stretch>
            <a:fillRect/>
          </a:stretch>
        </p:blipFill>
        <p:spPr>
          <a:xfrm>
            <a:off x="6600000" y="2800000"/>
            <a:ext cx="1500000" cy="1420588"/>
          </a:xfrm>
          <a:prstGeom prst="rect">
            <a:avLst/>
          </a:prstGeom>
        </p:spPr>
      </p:pic>
      <p:pic>
        <p:nvPicPr>
          <p:cNvPr id="12" name="Picture 11" descr="fig08_xorplane_ac_bd.png"/>
          <p:cNvPicPr>
            <a:picLocks noChangeAspect="1"/>
          </p:cNvPicPr>
          <p:nvPr/>
        </p:nvPicPr>
        <p:blipFill>
          <a:blip r:embed="rId3"/>
          <a:stretch>
            <a:fillRect/>
          </a:stretch>
        </p:blipFill>
        <p:spPr>
          <a:xfrm>
            <a:off x="8250000" y="2800000"/>
            <a:ext cx="1500000" cy="1416176"/>
          </a:xfrm>
          <a:prstGeom prst="rect">
            <a:avLst/>
          </a:prstGeom>
        </p:spPr>
      </p:pic>
      <p:pic>
        <p:nvPicPr>
          <p:cNvPr id="13" name="Picture 12" descr="fig09_xorplane_ad_bc.png"/>
          <p:cNvPicPr>
            <a:picLocks noChangeAspect="1"/>
          </p:cNvPicPr>
          <p:nvPr/>
        </p:nvPicPr>
        <p:blipFill>
          <a:blip r:embed="rId4"/>
          <a:stretch>
            <a:fillRect/>
          </a:stretch>
        </p:blipFill>
        <p:spPr>
          <a:xfrm>
            <a:off x="9900000" y="2800000"/>
            <a:ext cx="1500000" cy="1447368"/>
          </a:xfrm>
          <a:prstGeom prst="rect">
            <a:avLst/>
          </a:prstGeom>
        </p:spPr>
      </p:pic>
      <p:sp>
        <p:nvSpPr>
          <p:cNvPr id="14" name="TextBox 13"/>
          <p:cNvSpPr txBox="1"/>
          <p:nvPr/>
        </p:nvSpPr>
        <p:spPr>
          <a:xfrm>
            <a:off x="6600000" y="4700000"/>
            <a:ext cx="4800000" cy="1300000"/>
          </a:xfrm>
          <a:prstGeom prst="rect">
            <a:avLst/>
          </a:prstGeom>
          <a:noFill/>
        </p:spPr>
        <p:txBody>
          <a:bodyPr wrap="square">
            <a:spAutoFit/>
          </a:bodyPr>
          <a:lstStyle/>
          <a:p>
            <a:r>
              <a:rPr sz="1200">
                <a:latin typeface="Malgun Gothic"/>
                <a:solidFill>
                  <a:schemeClr val="tx2"/>
                </a:solidFill>
              </a:rPr>
              <a:t>좌측부터 {AB|CD}, {AC|BD}, {AD|BC} 배치에서 같은 함수 f = m(5, 6, 9, 10) = (A⊕B)(C⊕D)를 그린 카르노맵입니다. {AC|BD}와 {AD|BC}의 그림은 같고 {AB|CD}의 그림만 달라서 이 함수의 그림 종류는 2가지입니다. 완전 대칭 함수(XOR 등 32개)는 세 그림이 같고, 세 배치가 모두 다른 그림을 주는 함수는 26,112개입니다.</a:t>
            </a:r>
          </a:p>
        </p:txBody>
      </p:sp>
      <p:sp>
        <p:nvSpPr>
          <p:cNvPr id="15"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18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수학의 레고 블록: 세 가지 클론(Clone)</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3</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3부 · 세 가지 클론 · 기초 개념</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부울 함수를 기본 게이트들의 합성으로 생성한 닫힌 함수 공간 (Post, 1941)</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[기초 개념] </a:t>
            </a:r>
            <a:r>
              <a:rPr sz="1700" b="1">
                <a:latin typeface="Malgun Gothic"/>
                <a:solidFill>
                  <a:schemeClr val="tx1"/>
                </a:solidFill>
              </a:rPr>
              <a:t>클론(Clone)이란?</a:t>
            </a:r>
          </a:p>
          <a:p>
            <a:pPr>
              <a:spcAft>
                <a:spcPts val="600"/>
              </a:spcAft>
            </a:pPr>
            <a:r>
              <a:rPr sz="1300" b="1">
                <a:latin typeface="Malgun Gothic"/>
                <a:solidFill>
                  <a:schemeClr val="tx1"/>
                </a:solidFill>
              </a:rPr>
              <a:t>• 레고 블록 비유: </a:t>
            </a:r>
            <a:r>
              <a:rPr sz="1300">
                <a:latin typeface="Malgun Gothic"/>
                <a:solidFill>
                  <a:schemeClr val="tx2"/>
                </a:solidFill>
              </a:rPr>
              <a:t>특정 논리 게이트들만 무한히 조립해서 만들어낼 수 있는 함수들의 모임을 '클론(Clone)'이라 합니다.</a:t>
            </a:r>
          </a:p>
          <a:p>
            <a:pPr>
              <a:spcAft>
                <a:spcPts val="600"/>
              </a:spcAft>
            </a:pPr>
            <a:r>
              <a:rPr sz="1300" b="1">
                <a:latin typeface="Malgun Gothic"/>
                <a:solidFill>
                  <a:schemeClr val="tx1"/>
                </a:solidFill>
              </a:rPr>
              <a:t>• 연산에 대해 닫혀 있음: </a:t>
            </a:r>
            <a:r>
              <a:rPr sz="1300">
                <a:latin typeface="Malgun Gothic"/>
                <a:solidFill>
                  <a:schemeClr val="tx2"/>
                </a:solidFill>
              </a:rPr>
              <a:t>고교 수학의 '집합이 덧셈/곱셈에 대해 닫혀 있다'는 개념처럼, 합성과 변수 식별에 닫힌 체계입니다.</a:t>
            </a:r>
          </a:p>
          <a:p>
            <a:pPr>
              <a:spcAft>
                <a:spcPts val="600"/>
              </a:spcAft>
            </a:pPr>
            <a:r>
              <a:rPr sz="1300" b="1">
                <a:latin typeface="Malgun Gothic"/>
                <a:solidFill>
                  <a:schemeClr val="tx1"/>
                </a:solidFill>
              </a:rPr>
              <a:t>• Post의 격자 (1941): </a:t>
            </a:r>
            <a:r>
              <a:rPr sz="1300">
                <a:latin typeface="Malgun Gothic"/>
                <a:solidFill>
                  <a:schemeClr val="tx2"/>
                </a:solidFill>
              </a:rPr>
              <a:t>에밀 포스트는 부울 함수로 만들 수 있는 모든 가능한 클론들의 포함 관계 격자 전체를 완벽히 분류했습니다.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[세 클론 특성] </a:t>
            </a:r>
            <a:r>
              <a:rPr sz="1700" b="1">
                <a:latin typeface="Malgun Gothic"/>
                <a:solidFill>
                  <a:schemeClr val="tx1"/>
                </a:solidFill>
              </a:rPr>
              <a:t>오늘의 세 가지 명문 클론</a:t>
            </a:r>
          </a:p>
          <a:p>
            <a:pPr>
              <a:spcAft>
                <a:spcPts val="600"/>
              </a:spcAft>
            </a:pPr>
            <a:r>
              <a:rPr sz="1300" b="1">
                <a:latin typeface="Malgun Gothic"/>
                <a:solidFill>
                  <a:schemeClr val="tx1"/>
                </a:solidFill>
              </a:rPr>
              <a:t>• 아핀 L (32개) — 선형 세계: </a:t>
            </a:r>
            <a:r>
              <a:rPr sz="1300">
                <a:latin typeface="Malgun Gothic"/>
                <a:solidFill>
                  <a:schemeClr val="tx2"/>
                </a:solidFill>
              </a:rPr>
              <a:t>오직 XOR(배타적 논리합)과 상수 1(NOT)만 사용. 덧셈만 존재하는 매우 규칙적이고 선형적인 공간.</a:t>
            </a:r>
          </a:p>
          <a:p>
            <a:pPr>
              <a:spcAft>
                <a:spcPts val="600"/>
              </a:spcAft>
            </a:pPr>
            <a:r>
              <a:rPr sz="1300" b="1">
                <a:latin typeface="Malgun Gothic"/>
                <a:solidFill>
                  <a:schemeClr val="tx1"/>
                </a:solidFill>
              </a:rPr>
              <a:t>• 단조 M (168개) — 일방통행: </a:t>
            </a:r>
            <a:r>
              <a:rPr sz="1300">
                <a:latin typeface="Malgun Gothic"/>
                <a:solidFill>
                  <a:schemeClr val="tx2"/>
                </a:solidFill>
              </a:rPr>
              <a:t>오직 AND와 OR, 상수만 사용 (NOT 사용 금지!). 입력에 1이 늘어날수록 출력도 절대 감소하지 않는 단조로운 공간.</a:t>
            </a:r>
          </a:p>
          <a:p>
            <a:pPr>
              <a:spcAft>
                <a:spcPts val="600"/>
              </a:spcAft>
            </a:pPr>
            <a:r>
              <a:rPr sz="1300" b="1">
                <a:latin typeface="Malgun Gothic"/>
                <a:solidFill>
                  <a:schemeClr val="tx1"/>
                </a:solidFill>
              </a:rPr>
              <a:t>• 자기쌍대 D (256개) — 거울 세계: </a:t>
            </a:r>
            <a:r>
              <a:rPr sz="1300">
                <a:latin typeface="Malgun Gothic"/>
                <a:solidFill>
                  <a:schemeClr val="tx2"/>
                </a:solidFill>
              </a:rPr>
              <a:t>NOT과 3입력 다수결(MAJ₃)로 생성. 모든 입력을 반전시키면 출력도 정확히 반전되는 대칭 공간.</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5"/>
                </a:solidFill>
              </a:rPr>
              <a:t>[비교 고찰] </a:t>
            </a:r>
            <a:r>
              <a:rPr sz="1700" b="1">
                <a:latin typeface="Malgun Gothic"/>
                <a:solidFill>
                  <a:schemeClr val="tx1"/>
                </a:solidFill>
              </a:rPr>
              <a:t>만능 게이트 NAND의 지위</a:t>
            </a:r>
          </a:p>
          <a:p>
            <a:pPr>
              <a:spcAft>
                <a:spcPts val="600"/>
              </a:spcAft>
            </a:pPr>
            <a:r>
              <a:rPr sz="1300" b="1">
                <a:latin typeface="Malgun Gothic"/>
                <a:solidFill>
                  <a:schemeClr val="tx1"/>
                </a:solidFill>
              </a:rPr>
              <a:t>• 왜 NAND는 클론이 아닐까?: </a:t>
            </a:r>
            <a:r>
              <a:rPr sz="1300">
                <a:latin typeface="Malgun Gothic"/>
                <a:solidFill>
                  <a:schemeClr val="tx2"/>
                </a:solidFill>
              </a:rPr>
              <a:t>NAND 게이트 하나만 있으면 AND, OR, NOT을 모두 조립해낼 수 있습니다.</a:t>
            </a:r>
          </a:p>
          <a:p>
            <a:pPr>
              <a:spcAft>
                <a:spcPts val="600"/>
              </a:spcAft>
            </a:pPr>
            <a:r>
              <a:rPr sz="1300" b="1">
                <a:latin typeface="Malgun Gothic"/>
                <a:solidFill>
                  <a:schemeClr val="tx1"/>
                </a:solidFill>
              </a:rPr>
              <a:t>• 전체 공간 65,536개 생성: </a:t>
            </a:r>
            <a:r>
              <a:rPr sz="1300">
                <a:latin typeface="Malgun Gothic"/>
                <a:solidFill>
                  <a:schemeClr val="tx2"/>
                </a:solidFill>
              </a:rPr>
              <a:t>따라서 NAND로 만들 수 있는 닫힌 공간은 부분집합이 아니라 '부울 함수 전체 공간 F₄' 그 자체가 됩니다!</a:t>
            </a:r>
          </a:p>
          <a:p>
            <a:pPr>
              <a:spcAft>
                <a:spcPts val="600"/>
              </a:spcAft>
            </a:pPr>
            <a:r>
              <a:rPr sz="1300" b="1">
                <a:latin typeface="Malgun Gothic"/>
                <a:solidFill>
                  <a:schemeClr val="tx1"/>
                </a:solidFill>
              </a:rPr>
              <a:t>• 부분 클론의 아름다움: </a:t>
            </a:r>
            <a:r>
              <a:rPr sz="1300">
                <a:latin typeface="Malgun Gothic"/>
                <a:solidFill>
                  <a:schemeClr val="tx2"/>
                </a:solidFill>
              </a:rPr>
              <a:t>그렇기 때문에 오직 특수한 제약 조건을 가진 L, M, D 세 클론의 궤도 구조를 탐구하는 것이 깊은 수학적 의미를 가집니다.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20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아핀 함수의 고정점: 왜 2^(m+1)일까?</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3</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3부 · 세 가지 클론 · 아핀 원리</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순환으로 묶인 변수들은 반드시 동일한 계수(0 또는 1)를 가져야 한다</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[수식 구조] </a:t>
            </a:r>
            <a:r>
              <a:rPr sz="1700" b="1">
                <a:latin typeface="Malgun Gothic"/>
                <a:solidFill>
                  <a:schemeClr val="tx1"/>
                </a:solidFill>
              </a:rPr>
              <a:t>1. 아핀 함수의 수식</a:t>
            </a:r>
          </a:p>
          <a:p>
            <a:pPr>
              <a:spcAft>
                <a:spcPts val="600"/>
              </a:spcAft>
            </a:pPr>
            <a:r>
              <a:rPr sz="1300" b="1">
                <a:latin typeface="Malgun Gothic"/>
                <a:solidFill>
                  <a:schemeClr val="tx1"/>
                </a:solidFill>
              </a:rPr>
              <a:t>• 아핀 함수의 일반형: </a:t>
            </a:r>
            <a:r>
              <a:rPr sz="1300">
                <a:latin typeface="Malgun Gothic"/>
                <a:solidFill>
                  <a:schemeClr val="tx2"/>
                </a:solidFill>
              </a:rPr>
              <a:t>f(x) = c₀ ⊕ c₁x₁ ⊕ c₂x₂ ⊕ c₃x₃ ⊕ c₄x₄</a:t>
            </a:r>
          </a:p>
          <a:p>
            <a:pPr>
              <a:spcAft>
                <a:spcPts val="600"/>
              </a:spcAft>
            </a:pPr>
            <a:r>
              <a:rPr sz="1300" b="1">
                <a:latin typeface="Malgun Gothic"/>
                <a:solidFill>
                  <a:schemeClr val="tx1"/>
                </a:solidFill>
              </a:rPr>
              <a:t>• 계수 5개의 선택: </a:t>
            </a:r>
            <a:r>
              <a:rPr sz="1300">
                <a:latin typeface="Malgun Gothic"/>
                <a:solidFill>
                  <a:schemeClr val="tx2"/>
                </a:solidFill>
              </a:rPr>
              <a:t>상수항 c₀과 변수 계수 c₁~c₄는 각각 0 또는 1입니다.</a:t>
            </a:r>
          </a:p>
          <a:p>
            <a:pPr>
              <a:spcAft>
                <a:spcPts val="600"/>
              </a:spcAft>
            </a:pPr>
            <a:r>
              <a:rPr sz="1300" b="1">
                <a:latin typeface="Malgun Gothic"/>
                <a:solidFill>
                  <a:schemeClr val="tx1"/>
                </a:solidFill>
              </a:rPr>
              <a:t>• 총 크기 2⁵ = 32개: </a:t>
            </a:r>
            <a:r>
              <a:rPr sz="1300">
                <a:latin typeface="Malgun Gothic"/>
                <a:solidFill>
                  <a:schemeClr val="tx2"/>
                </a:solidFill>
              </a:rPr>
              <a:t>독립된 계수 5개를 결정하는 경우의 수가 2⁵ = 32개이므로 아핀 함수는 전체 65,536개 중 단 32개뿐입니다.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[핵심 메커니즘] </a:t>
            </a:r>
            <a:r>
              <a:rPr sz="1700" b="1">
                <a:latin typeface="Malgun Gothic"/>
                <a:solidFill>
                  <a:schemeClr val="tx1"/>
                </a:solidFill>
              </a:rPr>
              <a:t>2. 순환이 계수를 구속한다</a:t>
            </a:r>
          </a:p>
          <a:p>
            <a:pPr>
              <a:spcAft>
                <a:spcPts val="600"/>
              </a:spcAft>
            </a:pPr>
            <a:r>
              <a:rPr sz="1300" b="1">
                <a:latin typeface="Malgun Gothic"/>
                <a:solidFill>
                  <a:schemeClr val="tx1"/>
                </a:solidFill>
              </a:rPr>
              <a:t>• 순열 σ = (123) 적용: </a:t>
            </a:r>
            <a:r>
              <a:rPr sz="1300">
                <a:latin typeface="Malgun Gothic"/>
                <a:solidFill>
                  <a:schemeClr val="tx2"/>
                </a:solidFill>
              </a:rPr>
              <a:t>변수가 x₁ → x₂ → x₃ → x₁ 로 순환하며 자리를 바꿉니다 (x₄는 고정).</a:t>
            </a:r>
          </a:p>
          <a:p>
            <a:pPr>
              <a:spcAft>
                <a:spcPts val="600"/>
              </a:spcAft>
            </a:pPr>
            <a:r>
              <a:rPr sz="1300" b="1">
                <a:latin typeface="Malgun Gothic"/>
                <a:solidFill>
                  <a:schemeClr val="tx1"/>
                </a:solidFill>
              </a:rPr>
              <a:t>• 불변 함수가 될 조건: </a:t>
            </a:r>
            <a:r>
              <a:rPr sz="1300">
                <a:latin typeface="Malgun Gothic"/>
                <a:solidFill>
                  <a:schemeClr val="tx2"/>
                </a:solidFill>
              </a:rPr>
              <a:t>식을 변환해도 원래 식과 완벽히 같으려면, 맞바뀌는 변수들의 계수가 반드시 같아야 합니다: c₁ = c₂ = c₃ !</a:t>
            </a:r>
          </a:p>
          <a:p>
            <a:pPr>
              <a:spcAft>
                <a:spcPts val="600"/>
              </a:spcAft>
            </a:pPr>
            <a:r>
              <a:rPr sz="1300" b="1">
                <a:latin typeface="Malgun Gothic"/>
                <a:solidFill>
                  <a:schemeClr val="tx1"/>
                </a:solidFill>
              </a:rPr>
              <a:t>• 순환당 1개의 계수 선택권: </a:t>
            </a:r>
            <a:r>
              <a:rPr sz="1300">
                <a:latin typeface="Malgun Gothic"/>
                <a:solidFill>
                  <a:schemeClr val="tx2"/>
                </a:solidFill>
              </a:rPr>
              <a:t>3개 변수가 1개의 순환으로 묶였기 때문에, 계수 선택권도 3개에서 단 1개(0 또는 1)로 묶입니다!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[계산 결론] </a:t>
            </a:r>
            <a:r>
              <a:rPr sz="1700" b="1">
                <a:latin typeface="Malgun Gothic"/>
                <a:solidFill>
                  <a:schemeClr val="tx1"/>
                </a:solidFill>
              </a:rPr>
              <a:t>3. 공식 2^(m+1)의 완성</a:t>
            </a:r>
          </a:p>
          <a:p>
            <a:pPr>
              <a:spcAft>
                <a:spcPts val="600"/>
              </a:spcAft>
            </a:pPr>
            <a:r>
              <a:rPr sz="1300" b="1">
                <a:latin typeface="Malgun Gothic"/>
                <a:solidFill>
                  <a:schemeClr val="tx1"/>
                </a:solidFill>
              </a:rPr>
              <a:t>• m = 변수 순환의 개수: </a:t>
            </a:r>
            <a:r>
              <a:rPr sz="1300">
                <a:latin typeface="Malgun Gothic"/>
                <a:solidFill>
                  <a:schemeClr val="tx2"/>
                </a:solidFill>
              </a:rPr>
              <a:t>예: σ = (123)(4) 이면 순환은 (123)과 (4)로 2개 (m=2)입니다.</a:t>
            </a:r>
          </a:p>
          <a:p>
            <a:pPr>
              <a:spcAft>
                <a:spcPts val="600"/>
              </a:spcAft>
            </a:pPr>
            <a:r>
              <a:rPr sz="1300" b="1">
                <a:latin typeface="Malgun Gothic"/>
                <a:solidFill>
                  <a:schemeClr val="tx1"/>
                </a:solidFill>
              </a:rPr>
              <a:t>• 계수 결정 2ᵐ 가지: </a:t>
            </a:r>
            <a:r>
              <a:rPr sz="1300">
                <a:latin typeface="Malgun Gothic"/>
                <a:solidFill>
                  <a:schemeClr val="tx2"/>
                </a:solidFill>
              </a:rPr>
              <a:t>m개의 변수 순환마다 계수(0 또는 1)를 결정하므로 2ᵐ 가지입니다.</a:t>
            </a:r>
          </a:p>
          <a:p>
            <a:pPr>
              <a:spcAft>
                <a:spcPts val="600"/>
              </a:spcAft>
            </a:pPr>
            <a:r>
              <a:rPr sz="1300" b="1">
                <a:latin typeface="Malgun Gothic"/>
                <a:solidFill>
                  <a:schemeClr val="tx1"/>
                </a:solidFill>
              </a:rPr>
              <a:t>• 상수항 c₀의 2가지 선택: </a:t>
            </a:r>
            <a:r>
              <a:rPr sz="1300">
                <a:latin typeface="Malgun Gothic"/>
                <a:solidFill>
                  <a:schemeClr val="tx2"/>
                </a:solidFill>
              </a:rPr>
              <a:t>상수항 c₀은 변수 순열에 전혀 영향을 받지 않으므로 항상 2가지!</a:t>
            </a:r>
          </a:p>
          <a:p>
            <a:pPr>
              <a:spcAft>
                <a:spcPts val="600"/>
              </a:spcAft>
            </a:pPr>
            <a:r>
              <a:rPr sz="1300" b="1">
                <a:latin typeface="Malgun Gothic"/>
                <a:solidFill>
                  <a:schemeClr val="tx1"/>
                </a:solidFill>
              </a:rPr>
              <a:t>• 공식: |Fix(σ, L)| = 2ᵐ⁺¹: </a:t>
            </a:r>
            <a:r>
              <a:rPr sz="1300">
                <a:latin typeface="Malgun Gothic"/>
                <a:solidFill>
                  <a:schemeClr val="tx2"/>
                </a:solidFill>
              </a:rPr>
              <a:t>m=2이면 2³ = 8개! 번사이드 공식에 대입하면 (32 + 6·16 + 3·8 + 8·8 + 6·4)/24 = 240/24 = 10개 궤도가 도출됩니다.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자기쌍대 함수: 왜 어떤 순열에서는 Fix가 0일까?</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3</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3부 · 세 가지 클론 · 자기쌍대 원리</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자기쌍대 조건 f(¬x) = ¬f(x)과 순열 작용 σ(x) = ¬x의 정면 충돌</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[규칙 정의] </a:t>
            </a:r>
            <a:r>
              <a:rPr sz="1700" b="1">
                <a:latin typeface="Malgun Gothic"/>
                <a:solidFill>
                  <a:schemeClr val="tx1"/>
                </a:solidFill>
              </a:rPr>
              <a:t>1. 자기쌍대의 정의와 256개</a:t>
            </a:r>
          </a:p>
          <a:p>
            <a:pPr>
              <a:spcAft>
                <a:spcPts val="600"/>
              </a:spcAft>
            </a:pPr>
            <a:r>
              <a:rPr sz="1300" b="1">
                <a:latin typeface="Malgun Gothic"/>
                <a:solidFill>
                  <a:schemeClr val="tx1"/>
                </a:solidFill>
              </a:rPr>
              <a:t>• 자기쌍대의 정의: </a:t>
            </a:r>
            <a:r>
              <a:rPr sz="1300">
                <a:latin typeface="Malgun Gothic"/>
                <a:solidFill>
                  <a:schemeClr val="tx2"/>
                </a:solidFill>
              </a:rPr>
              <a:t>모든 입력 비트를 반전(¬)시키면, 함수 출력도 정확히 반전되어야 합니다: f(¬x) = ¬f(x).</a:t>
            </a:r>
          </a:p>
          <a:p>
            <a:pPr>
              <a:spcAft>
                <a:spcPts val="600"/>
              </a:spcAft>
            </a:pPr>
            <a:r>
              <a:rPr sz="1300" b="1">
                <a:latin typeface="Malgun Gothic"/>
                <a:solidFill>
                  <a:schemeClr val="tx1"/>
                </a:solidFill>
              </a:rPr>
              <a:t>• 반대 입력은 반대 출력: </a:t>
            </a:r>
            <a:r>
              <a:rPr sz="1300">
                <a:latin typeface="Malgun Gothic"/>
                <a:solidFill>
                  <a:schemeClr val="tx2"/>
                </a:solidFill>
              </a:rPr>
              <a:t>f(0000) = 0 이면 반드시 f(1111) = 1 이어야 합니다.</a:t>
            </a:r>
          </a:p>
          <a:p>
            <a:pPr>
              <a:spcAft>
                <a:spcPts val="600"/>
              </a:spcAft>
            </a:pPr>
            <a:r>
              <a:rPr sz="1300" b="1">
                <a:latin typeface="Malgun Gothic"/>
                <a:solidFill>
                  <a:schemeClr val="tx1"/>
                </a:solidFill>
              </a:rPr>
              <a:t>• 보수 쌍 8개: </a:t>
            </a:r>
            <a:r>
              <a:rPr sz="1300">
                <a:latin typeface="Malgun Gothic"/>
                <a:solidFill>
                  <a:schemeClr val="tx2"/>
                </a:solidFill>
              </a:rPr>
              <a:t>16개 입력점은 {x, ¬x} 형태의 8개 보수 쌍으로 나뉘므로, 각 쌍마다 앞의 값을 정하면 뒤는 자동 결정되어 2⁸ = 256개입니다.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[충돌 현장] </a:t>
            </a:r>
            <a:r>
              <a:rPr sz="1700" b="1">
                <a:latin typeface="Malgun Gothic"/>
                <a:solidFill>
                  <a:schemeClr val="tx1"/>
                </a:solidFill>
              </a:rPr>
              <a:t>2. 치명적 충돌의 발견</a:t>
            </a:r>
          </a:p>
          <a:p>
            <a:pPr>
              <a:spcAft>
                <a:spcPts val="600"/>
              </a:spcAft>
            </a:pPr>
            <a:r>
              <a:rPr sz="1300" b="1">
                <a:latin typeface="Malgun Gothic"/>
                <a:solidFill>
                  <a:schemeClr val="tx1"/>
                </a:solidFill>
              </a:rPr>
              <a:t>• 순열 σ = (12)(34) 살펴보기: </a:t>
            </a:r>
            <a:r>
              <a:rPr sz="1300">
                <a:latin typeface="Malgun Gothic"/>
                <a:solidFill>
                  <a:schemeClr val="tx2"/>
                </a:solidFill>
              </a:rPr>
              <a:t>1번과 2번을 바꾸고, 동시에 3번과 4번을 맞바꾸는 순열입니다.</a:t>
            </a:r>
          </a:p>
          <a:p>
            <a:pPr>
              <a:spcAft>
                <a:spcPts val="600"/>
              </a:spcAft>
            </a:pPr>
            <a:r>
              <a:rPr sz="1300" b="1">
                <a:latin typeface="Malgun Gothic"/>
                <a:solidFill>
                  <a:schemeClr val="tx1"/>
                </a:solidFill>
              </a:rPr>
              <a:t>• 입력점 x = 0101 대입: </a:t>
            </a:r>
            <a:r>
              <a:rPr sz="1300">
                <a:latin typeface="Malgun Gothic"/>
                <a:solidFill>
                  <a:schemeClr val="tx2"/>
                </a:solidFill>
              </a:rPr>
              <a:t>1번과 2번을 바꾸면 10, 3번과 4번을 바꾸면 10 이 되어, 결과는 σ(x) = 1010 이 됩니다!</a:t>
            </a:r>
          </a:p>
          <a:p>
            <a:pPr>
              <a:spcAft>
                <a:spcPts val="600"/>
              </a:spcAft>
            </a:pPr>
            <a:r>
              <a:rPr sz="1300" b="1">
                <a:latin typeface="Malgun Gothic"/>
                <a:solidFill>
                  <a:schemeClr val="tx1"/>
                </a:solidFill>
              </a:rPr>
              <a:t>• 치명적인 일치: σ(x) = ¬x: </a:t>
            </a:r>
            <a:r>
              <a:rPr sz="1300">
                <a:latin typeface="Malgun Gothic"/>
                <a:solidFill>
                  <a:schemeClr val="tx2"/>
                </a:solidFill>
              </a:rPr>
              <a:t>순열을 단 한 번 적용했을 뿐인데, 원래 입력의 비트를 전부 뒤집은 보수(¬x)와 완벽히 같아집니다!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[모순 증명] </a:t>
            </a:r>
            <a:r>
              <a:rPr sz="1700" b="1">
                <a:latin typeface="Malgun Gothic"/>
                <a:solidFill>
                  <a:schemeClr val="tx1"/>
                </a:solidFill>
              </a:rPr>
              <a:t>3. 피할 수 없는 수학적 모순</a:t>
            </a:r>
          </a:p>
          <a:p>
            <a:pPr>
              <a:spcAft>
                <a:spcPts val="600"/>
              </a:spcAft>
            </a:pPr>
            <a:r>
              <a:rPr sz="1300" b="1">
                <a:latin typeface="Malgun Gothic"/>
                <a:solidFill>
                  <a:schemeClr val="tx1"/>
                </a:solidFill>
              </a:rPr>
              <a:t>• 조건 1 (순열 불변): </a:t>
            </a:r>
            <a:r>
              <a:rPr sz="1300">
                <a:latin typeface="Malgun Gothic"/>
                <a:solidFill>
                  <a:schemeClr val="tx2"/>
                </a:solidFill>
              </a:rPr>
              <a:t>f(x) = f(σ(x)) = f(¬x)</a:t>
            </a:r>
          </a:p>
          <a:p>
            <a:pPr>
              <a:spcAft>
                <a:spcPts val="600"/>
              </a:spcAft>
            </a:pPr>
            <a:r>
              <a:rPr sz="1300" b="1">
                <a:latin typeface="Malgun Gothic"/>
                <a:solidFill>
                  <a:schemeClr val="tx1"/>
                </a:solidFill>
              </a:rPr>
              <a:t>• 조건 2 (자기쌍대 철칙): </a:t>
            </a:r>
            <a:r>
              <a:rPr sz="1300">
                <a:latin typeface="Malgun Gothic"/>
                <a:solidFill>
                  <a:schemeClr val="tx2"/>
                </a:solidFill>
              </a:rPr>
              <a:t>f(¬x) = ¬f(x)</a:t>
            </a:r>
          </a:p>
          <a:p>
            <a:pPr>
              <a:spcAft>
                <a:spcPts val="600"/>
              </a:spcAft>
            </a:pPr>
            <a:r>
              <a:rPr sz="1300" b="1">
                <a:latin typeface="Malgun Gothic"/>
                <a:solidFill>
                  <a:schemeClr val="tx1"/>
                </a:solidFill>
              </a:rPr>
              <a:t>• 두 조건을 합치면: </a:t>
            </a:r>
            <a:r>
              <a:rPr sz="1300">
                <a:latin typeface="Malgun Gothic"/>
                <a:solidFill>
                  <a:schemeClr val="tx2"/>
                </a:solidFill>
              </a:rPr>
              <a:t>f(x) = ¬f(x) (0 = 1 이라는 불가능한 모순!)</a:t>
            </a:r>
          </a:p>
          <a:p>
            <a:pPr>
              <a:spcAft>
                <a:spcPts val="600"/>
              </a:spcAft>
            </a:pPr>
            <a:r>
              <a:rPr sz="1300" b="1">
                <a:latin typeface="Malgun Gothic"/>
                <a:solidFill>
                  <a:schemeClr val="tx1"/>
                </a:solidFill>
              </a:rPr>
              <a:t>• 결론: Fix = 0: </a:t>
            </a:r>
            <a:r>
              <a:rPr sz="1300">
                <a:latin typeface="Malgun Gothic"/>
                <a:solidFill>
                  <a:schemeClr val="tx2"/>
                </a:solidFill>
              </a:rPr>
              <a:t>이런 충돌 순열을 견뎌낼 수 있는 자기쌍대 함수는 수학적으로 0개입니다! 따라서 C₃와 C₅에서는 단 1개도 살아남지 못합니다.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'상집합(Upper Set)' 쉽게 이해하기 — 화재경보기 비유</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3</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3부 · 세 가지 클론 · 단조 원리</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단조 함수를 센다는 것은 화재경보기가 울리는 안전 조건을 세는 것!</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3"/>
                </a:solidFill>
              </a:rPr>
              <a:t>[직관 비유] </a:t>
            </a:r>
            <a:r>
              <a:rPr sz="1700" b="1">
                <a:latin typeface="Malgun Gothic"/>
                <a:solidFill>
                  <a:schemeClr val="tx1"/>
                </a:solidFill>
              </a:rPr>
              <a:t>1. 단조성과 화재경보기</a:t>
            </a:r>
          </a:p>
          <a:p>
            <a:pPr>
              <a:spcAft>
                <a:spcPts val="600"/>
              </a:spcAft>
            </a:pPr>
            <a:r>
              <a:rPr sz="1300" b="1">
                <a:latin typeface="Malgun Gothic"/>
                <a:solidFill>
                  <a:schemeClr val="tx1"/>
                </a:solidFill>
              </a:rPr>
              <a:t>• 단조(Monotone) 함수의 정의: </a:t>
            </a:r>
            <a:r>
              <a:rPr sz="1300">
                <a:latin typeface="Malgun Gothic"/>
                <a:solidFill>
                  <a:schemeClr val="tx2"/>
                </a:solidFill>
              </a:rPr>
              <a:t>입력의 1(켜진 스위치)이 늘어나면, 출력도 절대 1에서 0으로 떨어지지 않는 함수입니다 (x ≤ y 이면 f(x) ≤ f(y)).</a:t>
            </a:r>
          </a:p>
          <a:p>
            <a:pPr>
              <a:spcAft>
                <a:spcPts val="600"/>
              </a:spcAft>
            </a:pPr>
            <a:r>
              <a:rPr sz="1300" b="1">
                <a:latin typeface="Malgun Gothic"/>
                <a:solidFill>
                  <a:schemeClr val="tx1"/>
                </a:solidFill>
              </a:rPr>
              <a:t>• 화재경보기 센서 비유: </a:t>
            </a:r>
            <a:r>
              <a:rPr sz="1300">
                <a:latin typeface="Malgun Gothic"/>
                <a:solidFill>
                  <a:schemeClr val="tx2"/>
                </a:solidFill>
              </a:rPr>
              <a:t>4개 센서 중 {A, B}가 감지되어 화재 경보(1)가 울렸다면, 거기에 센서 C가 추가로 켜진 {A, B, C} 상태에서도 경보는 무조건 계속 울려야 합니다!</a:t>
            </a:r>
          </a:p>
          <a:p>
            <a:pPr>
              <a:spcAft>
                <a:spcPts val="600"/>
              </a:spcAft>
            </a:pPr>
            <a:r>
              <a:rPr sz="1300" b="1">
                <a:latin typeface="Malgun Gothic"/>
                <a:solidFill>
                  <a:schemeClr val="tx1"/>
                </a:solidFill>
              </a:rPr>
              <a:t>• 일방통행의 규칙: </a:t>
            </a:r>
            <a:r>
              <a:rPr sz="1300">
                <a:latin typeface="Malgun Gothic"/>
                <a:solidFill>
                  <a:schemeClr val="tx2"/>
                </a:solidFill>
              </a:rPr>
              <a:t>한 번 켜진 불은 스위치를 더 켠다고 해서 절대로 꺼지지 않습니다.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[수학적 대응] </a:t>
            </a:r>
            <a:r>
              <a:rPr sz="1700" b="1">
                <a:latin typeface="Malgun Gothic"/>
                <a:solidFill>
                  <a:schemeClr val="tx1"/>
                </a:solidFill>
              </a:rPr>
              <a:t>2. 상집합(Upper Set)의 개념</a:t>
            </a:r>
          </a:p>
          <a:p>
            <a:pPr>
              <a:spcAft>
                <a:spcPts val="600"/>
              </a:spcAft>
            </a:pPr>
            <a:r>
              <a:rPr sz="1300" b="1">
                <a:latin typeface="Malgun Gothic"/>
                <a:solidFill>
                  <a:schemeClr val="tx1"/>
                </a:solidFill>
              </a:rPr>
              <a:t>• 경보가 울리는 영역 = 상집합: </a:t>
            </a:r>
            <a:r>
              <a:rPr sz="1300">
                <a:latin typeface="Malgun Gothic"/>
                <a:solidFill>
                  <a:schemeClr val="tx2"/>
                </a:solidFill>
              </a:rPr>
              <a:t>경보(1)를 울리는 입력점들의 집합을 부분순서집합(Poset)의 '상집합(Upper Set)'이라 부릅니다.</a:t>
            </a:r>
          </a:p>
          <a:p>
            <a:pPr>
              <a:spcAft>
                <a:spcPts val="600"/>
              </a:spcAft>
            </a:pPr>
            <a:r>
              <a:rPr sz="1300" b="1">
                <a:latin typeface="Malgun Gothic"/>
                <a:solidFill>
                  <a:schemeClr val="tx1"/>
                </a:solidFill>
              </a:rPr>
              <a:t>• 상집합의 성질: </a:t>
            </a:r>
            <a:r>
              <a:rPr sz="1300">
                <a:latin typeface="Malgun Gothic"/>
                <a:solidFill>
                  <a:schemeClr val="tx2"/>
                </a:solidFill>
              </a:rPr>
              <a:t>어떤 점 x가 상집합에 속하면, x보다 큰 모든 점 y (x ≤ y)도 필연적으로 상집합에 속해야 합니다.</a:t>
            </a:r>
          </a:p>
          <a:p>
            <a:pPr>
              <a:spcAft>
                <a:spcPts val="600"/>
              </a:spcAft>
            </a:pPr>
            <a:r>
              <a:rPr sz="1300" b="1">
                <a:latin typeface="Malgun Gothic"/>
                <a:solidFill>
                  <a:schemeClr val="tx1"/>
                </a:solidFill>
              </a:rPr>
              <a:t>• 단조 함수 ↔ 상집합: </a:t>
            </a:r>
            <a:r>
              <a:rPr sz="1300">
                <a:latin typeface="Malgun Gothic"/>
                <a:solidFill>
                  <a:schemeClr val="tx2"/>
                </a:solidFill>
              </a:rPr>
              <a:t>따라서 단조 함수 1개를 결정하는 것은 유효한 상집합 1개를 선택하는 것과 완전히 똑같습니다!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[계산 연결] </a:t>
            </a:r>
            <a:r>
              <a:rPr sz="1700" b="1">
                <a:latin typeface="Malgun Gothic"/>
                <a:solidFill>
                  <a:schemeClr val="tx1"/>
                </a:solidFill>
              </a:rPr>
              <a:t>3. 궤도 순서집합과 8개 상집합</a:t>
            </a:r>
          </a:p>
          <a:p>
            <a:pPr>
              <a:spcAft>
                <a:spcPts val="600"/>
              </a:spcAft>
            </a:pPr>
            <a:r>
              <a:rPr sz="1300" b="1">
                <a:latin typeface="Malgun Gothic"/>
                <a:solidFill>
                  <a:schemeClr val="tx1"/>
                </a:solidFill>
              </a:rPr>
              <a:t>• 순열로 묶인 궤도 순서집합 P_σ: </a:t>
            </a:r>
            <a:r>
              <a:rPr sz="1300">
                <a:latin typeface="Malgun Gothic"/>
                <a:solidFill>
                  <a:schemeClr val="tx2"/>
                </a:solidFill>
              </a:rPr>
              <a:t>순열 σ로 불변인 단조 함수는, 대칭 관계에 있는 입력점들이 통째로 함께 상집합에 들어가야 합니다.</a:t>
            </a:r>
          </a:p>
          <a:p>
            <a:pPr>
              <a:spcAft>
                <a:spcPts val="600"/>
              </a:spcAft>
            </a:pPr>
            <a:r>
              <a:rPr sz="1300" b="1">
                <a:latin typeface="Malgun Gothic"/>
                <a:solidFill>
                  <a:schemeClr val="tx1"/>
                </a:solidFill>
              </a:rPr>
              <a:t>• 16개 입력점이 6개 궤도로 단순화: </a:t>
            </a:r>
            <a:r>
              <a:rPr sz="1300">
                <a:latin typeface="Malgun Gothic"/>
                <a:solidFill>
                  <a:schemeClr val="tx2"/>
                </a:solidFill>
              </a:rPr>
              <a:t>예: σ = (1234) 적용 시 16개 점이 단 6개의 목걸이 궤도로 묶입니다.</a:t>
            </a:r>
          </a:p>
          <a:p>
            <a:pPr>
              <a:spcAft>
                <a:spcPts val="600"/>
              </a:spcAft>
            </a:pPr>
            <a:r>
              <a:rPr sz="1300" b="1">
                <a:latin typeface="Malgun Gothic"/>
                <a:solidFill>
                  <a:schemeClr val="tx1"/>
                </a:solidFill>
              </a:rPr>
              <a:t>• 위에서부터 8가지 채우기: </a:t>
            </a:r>
            <a:r>
              <a:rPr sz="1300">
                <a:latin typeface="Malgun Gothic"/>
                <a:solidFill>
                  <a:schemeClr val="tx2"/>
                </a:solidFill>
              </a:rPr>
              <a:t>다음 슬라이드의 6노드 포셋 트리처럼 ∅부터 전체까지 상집합을 위에서부터 채우면 단 8가지 상집합만 가능 → |Fix_M((1234))| = 8개!</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27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단조 공간에는 왜 크기 24인 궤도가 없을까?</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3</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3부 · 세 가지 클론 · 심화 탐구</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모든 단조 함수는 자명하지 않은 변수 대칭을 최소한 하나는 가진다 (4변수에서 열거로 확인한 사실)</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[현상 포착] </a:t>
            </a:r>
            <a:r>
              <a:rPr sz="1700" b="1">
                <a:latin typeface="Malgun Gothic"/>
                <a:solidFill>
                  <a:schemeClr val="tx1"/>
                </a:solidFill>
              </a:rPr>
              <a:t>1. 관찰: 크기 24 궤도의 부재</a:t>
            </a:r>
          </a:p>
          <a:p>
            <a:pPr>
              <a:spcAft>
                <a:spcPts val="600"/>
              </a:spcAft>
            </a:pPr>
            <a:r>
              <a:rPr sz="1300" b="1">
                <a:latin typeface="Malgun Gothic"/>
                <a:solidFill>
                  <a:schemeClr val="tx1"/>
                </a:solidFill>
              </a:rPr>
              <a:t>• 전체 공간과의 극적인 대비: </a:t>
            </a:r>
            <a:r>
              <a:rPr sz="1300">
                <a:latin typeface="Malgun Gothic"/>
                <a:solidFill>
                  <a:schemeClr val="tx2"/>
                </a:solidFill>
              </a:rPr>
              <a:t>전체 65,536개 함수 중에는 대칭성이 전혀 없어 변수를 섞으면 24가지로 갈라지는 궤도(크기 24)가 1,792개로 가장 많습니다.</a:t>
            </a:r>
          </a:p>
          <a:p>
            <a:pPr>
              <a:spcAft>
                <a:spcPts val="600"/>
              </a:spcAft>
            </a:pPr>
            <a:r>
              <a:rPr sz="1300" b="1">
                <a:latin typeface="Malgun Gothic"/>
                <a:solidFill>
                  <a:schemeClr val="tx1"/>
                </a:solidFill>
              </a:rPr>
              <a:t>• 단조 공간의 기이한 현상: </a:t>
            </a:r>
            <a:r>
              <a:rPr sz="1300">
                <a:latin typeface="Malgun Gothic"/>
                <a:solidFill>
                  <a:schemeClr val="tx2"/>
                </a:solidFill>
              </a:rPr>
              <a:t>그런데 단조 함수 168개 중에는 크기 24인 궤도가 단 0개입니다! 가장 큰 궤도도 크기 12에 불과합니다.</a:t>
            </a:r>
          </a:p>
          <a:p>
            <a:pPr>
              <a:spcAft>
                <a:spcPts val="600"/>
              </a:spcAft>
            </a:pPr>
            <a:r>
              <a:rPr sz="1300" b="1">
                <a:latin typeface="Malgun Gothic"/>
                <a:solidFill>
                  <a:schemeClr val="tx1"/>
                </a:solidFill>
              </a:rPr>
              <a:t>• 안정화군 관점: </a:t>
            </a:r>
            <a:r>
              <a:rPr sz="1300">
                <a:latin typeface="Malgun Gothic"/>
                <a:solidFill>
                  <a:schemeClr val="tx2"/>
                </a:solidFill>
              </a:rPr>
              <a:t>크기 24 궤도가 없다는 것은, Stab(f)가 항등원 단 1개뿐인 비대칭 단조 함수가 세상에 존재하지 않는다는 뜻입니다!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[관찰된 구조] </a:t>
            </a:r>
            <a:r>
              <a:rPr sz="1700" b="1">
                <a:latin typeface="Malgun Gothic"/>
                <a:solidFill>
                  <a:schemeClr val="tx1"/>
                </a:solidFill>
              </a:rPr>
              <a:t>2. 대칭이 숨어 있는 방식</a:t>
            </a:r>
          </a:p>
          <a:p>
            <a:pPr>
              <a:spcAft>
                <a:spcPts val="600"/>
              </a:spcAft>
            </a:pPr>
            <a:r>
              <a:rPr sz="1300" b="1">
                <a:latin typeface="Malgun Gothic"/>
                <a:solidFill>
                  <a:schemeClr val="tx1"/>
                </a:solidFill>
              </a:rPr>
              <a:t>• 오직 AND와 OR의 세계: </a:t>
            </a:r>
            <a:r>
              <a:rPr sz="1300">
                <a:latin typeface="Malgun Gothic"/>
                <a:solidFill>
                  <a:schemeClr val="tx2"/>
                </a:solidFill>
              </a:rPr>
              <a:t>단조 함수는 NOT 게이트 없이 오직 ∧와 ∨, 상수만으로 결합된 식입니다.</a:t>
            </a:r>
          </a:p>
          <a:p>
            <a:pPr>
              <a:spcAft>
                <a:spcPts val="600"/>
              </a:spcAft>
            </a:pPr>
            <a:r>
              <a:rPr sz="1300" b="1">
                <a:latin typeface="Malgun Gothic"/>
                <a:solidFill>
                  <a:schemeClr val="tx1"/>
                </a:solidFill>
              </a:rPr>
              <a:t>• 흔한 경우: 대칭 변수 쌍. </a:t>
            </a:r>
            <a:r>
              <a:rPr sz="1300">
                <a:latin typeface="Malgun Gothic"/>
                <a:solidFill>
                  <a:schemeClr val="tx2"/>
                </a:solidFill>
              </a:rPr>
              <a:t>예를 들어 x₁(x₂ ∨ x₃)에서 x₂와 x₃를 맞바꾸어도 x₁(x₃ ∨ x₂) = x₁(x₂ ∨ x₃)으로 식이 그대로입니다.</a:t>
            </a:r>
          </a:p>
          <a:p>
            <a:pPr>
              <a:spcAft>
                <a:spcPts val="600"/>
              </a:spcAft>
            </a:pPr>
            <a:r>
              <a:rPr sz="1300" b="1">
                <a:latin typeface="Malgun Gothic"/>
                <a:solidFill>
                  <a:schemeClr val="tx1"/>
                </a:solidFill>
              </a:rPr>
              <a:t>• 대칭이 두 변수의 맞바꿈이 아닐 수도 있다: </a:t>
            </a:r>
            <a:r>
              <a:rPr sz="1300">
                <a:latin typeface="Malgun Gothic"/>
                <a:solidFill>
                  <a:schemeClr val="tx2"/>
                </a:solidFill>
              </a:rPr>
              <a:t>x₁x₂ ∨ x₂x₃ ∨ x₃x₄를 바꾸지 않는 순열은 항등과 (14)(23)뿐입니다. 변수 두 개를 맞바꾸는 전위는 하나도 들어 있지 않습니다.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[열린 문제] </a:t>
            </a:r>
            <a:r>
              <a:rPr sz="1700" b="1">
                <a:latin typeface="Malgun Gothic"/>
                <a:solidFill>
                  <a:schemeClr val="tx1"/>
                </a:solidFill>
              </a:rPr>
              <a:t>3. 최대 크기가 12인 이유</a:t>
            </a:r>
          </a:p>
          <a:p>
            <a:pPr>
              <a:spcAft>
                <a:spcPts val="600"/>
              </a:spcAft>
            </a:pPr>
            <a:r>
              <a:rPr sz="1300" b="1">
                <a:latin typeface="Malgun Gothic"/>
                <a:solidFill>
                  <a:schemeClr val="tx1"/>
                </a:solidFill>
              </a:rPr>
              <a:t>• 크기 공식: </a:t>
            </a:r>
            <a:r>
              <a:rPr sz="1300">
                <a:latin typeface="Malgun Gothic"/>
                <a:solidFill>
                  <a:schemeClr val="tx2"/>
                </a:solidFill>
              </a:rPr>
              <a:t>안정화군이 항등원만 있는 단조 함수가 없다면 궤도 크기는 24 / |Stab| ≤ 24 / 2 = 12입니다.</a:t>
            </a:r>
          </a:p>
          <a:p>
            <a:pPr>
              <a:spcAft>
                <a:spcPts val="600"/>
              </a:spcAft>
            </a:pPr>
            <a:r>
              <a:rPr sz="1300" b="1">
                <a:latin typeface="Malgun Gothic"/>
                <a:solidFill>
                  <a:schemeClr val="tx1"/>
                </a:solidFill>
              </a:rPr>
              <a:t>• 열거로 확인한 사실: </a:t>
            </a:r>
            <a:r>
              <a:rPr sz="1300">
                <a:latin typeface="Malgun Gothic"/>
                <a:solidFill>
                  <a:schemeClr val="tx2"/>
                </a:solidFill>
              </a:rPr>
              <a:t>안정화군의 위수가 24, 8, 6, 4, 2인 단조 함수는 각각 6, 6, 36, 36, 84개이고 그 밖의 위수는 없습니다(합 168). 궤도 크기로는 1×6, 3×2, 4×9, 6×6, 12×7입니다.</a:t>
            </a:r>
          </a:p>
          <a:p>
            <a:pPr>
              <a:spcAft>
                <a:spcPts val="600"/>
              </a:spcAft>
            </a:pPr>
            <a:r>
              <a:rPr sz="1300" b="1">
                <a:latin typeface="Malgun Gothic"/>
                <a:solidFill>
                  <a:schemeClr val="tx1"/>
                </a:solidFill>
              </a:rPr>
              <a:t>• 증명은 아직 없다: </a:t>
            </a:r>
            <a:r>
              <a:rPr sz="1300">
                <a:latin typeface="Malgun Gothic"/>
                <a:solidFill>
                  <a:schemeClr val="tx2"/>
                </a:solidFill>
              </a:rPr>
              <a:t>왜 안정화군이 자명한 단조 함수가 없는지를 설명하는 닫힌 증명은 열린 문제입니다(37장).</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31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초팔면체군 B4와 402개 회로 — 엔지니어의 시선</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4</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4부 · 검증과 확장 · 공학적 응용</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입력 반전(NOT)까지 허용하면 65,536개 함수가 단 402개의 표준 회로 부품으로 압축된다</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[공학 배경] </a:t>
            </a:r>
            <a:r>
              <a:rPr sz="1700" b="1">
                <a:latin typeface="Malgun Gothic"/>
                <a:solidFill>
                  <a:schemeClr val="tx1"/>
                </a:solidFill>
              </a:rPr>
              <a:t>1. 하드웨어 관점의 대칭 확장</a:t>
            </a:r>
          </a:p>
          <a:p>
            <a:pPr>
              <a:spcAft>
                <a:spcPts val="600"/>
              </a:spcAft>
            </a:pPr>
            <a:r>
              <a:rPr sz="1300" b="1">
                <a:latin typeface="Malgun Gothic"/>
                <a:solidFill>
                  <a:schemeClr val="tx1"/>
                </a:solidFill>
              </a:rPr>
              <a:t>• 하드웨어에서 NOT의 의미: </a:t>
            </a:r>
            <a:r>
              <a:rPr sz="1300">
                <a:latin typeface="Malgun Gothic"/>
                <a:solidFill>
                  <a:schemeClr val="tx2"/>
                </a:solidFill>
              </a:rPr>
              <a:t>반도체 디지털 집적회로(IC)에서 입력 핀 바로 뒤에 인버터(NOT 게이트)를 다는 것은 매우 저렴하고 사소한 작업입니다.</a:t>
            </a:r>
          </a:p>
          <a:p>
            <a:pPr>
              <a:spcAft>
                <a:spcPts val="600"/>
              </a:spcAft>
            </a:pPr>
            <a:r>
              <a:rPr sz="1300" b="1">
                <a:latin typeface="Malgun Gothic"/>
                <a:solidFill>
                  <a:schemeClr val="tx1"/>
                </a:solidFill>
              </a:rPr>
              <a:t>• 핀 순서 + 핀 반전: </a:t>
            </a:r>
            <a:r>
              <a:rPr sz="1300">
                <a:latin typeface="Malgun Gothic"/>
                <a:solidFill>
                  <a:schemeClr val="tx2"/>
                </a:solidFill>
              </a:rPr>
              <a:t>입력 핀 순서 바꾸기(S₄, 24가지)에 더해 각 핀마다 NOT을 달지 말지(Z₂⁴, 16가지)를 모두 허용해 봅시다.</a:t>
            </a:r>
          </a:p>
          <a:p>
            <a:pPr>
              <a:spcAft>
                <a:spcPts val="600"/>
              </a:spcAft>
            </a:pPr>
            <a:r>
              <a:rPr sz="1300" b="1">
                <a:latin typeface="Malgun Gothic"/>
                <a:solidFill>
                  <a:schemeClr val="tx1"/>
                </a:solidFill>
              </a:rPr>
              <a:t>• 부호 순열군 B₄ (위수 384): </a:t>
            </a:r>
            <a:r>
              <a:rPr sz="1300">
                <a:latin typeface="Malgun Gothic"/>
                <a:solidFill>
                  <a:schemeClr val="tx2"/>
                </a:solidFill>
              </a:rPr>
              <a:t>이 두 변환을 합성한 군이 바로 4차원 초입방체(Hypercube)의 대칭군인 초팔면체군 B₄이며 위수는 2⁴ · 4! = 384입니다!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[역사적 일치] </a:t>
            </a:r>
            <a:r>
              <a:rPr sz="1700" b="1">
                <a:latin typeface="Malgun Gothic"/>
                <a:solidFill>
                  <a:schemeClr val="tx1"/>
                </a:solidFill>
              </a:rPr>
              <a:t>2. 3,984개에서 402개로!</a:t>
            </a:r>
          </a:p>
          <a:p>
            <a:pPr>
              <a:spcAft>
                <a:spcPts val="600"/>
              </a:spcAft>
            </a:pPr>
            <a:r>
              <a:rPr sz="1300" b="1">
                <a:latin typeface="Malgun Gothic"/>
                <a:solidFill>
                  <a:schemeClr val="tx1"/>
                </a:solidFill>
              </a:rPr>
              <a:t>• 군이 커지면 궤도는 줄어든다: </a:t>
            </a:r>
            <a:r>
              <a:rPr sz="1300">
                <a:latin typeface="Malgun Gothic"/>
                <a:solidFill>
                  <a:schemeClr val="tx2"/>
                </a:solidFill>
              </a:rPr>
              <a:t>동치로 인정하는 대칭 조작의 가짓수가 24개에서 384개로 16배나 커졌으므로, 잘게 나뉘었던 궤도들이 대거 통합됩니다.</a:t>
            </a:r>
          </a:p>
          <a:p>
            <a:pPr>
              <a:spcAft>
                <a:spcPts val="600"/>
              </a:spcAft>
            </a:pPr>
            <a:r>
              <a:rPr sz="1300" b="1">
                <a:latin typeface="Malgun Gothic"/>
                <a:solidFill>
                  <a:schemeClr val="tx1"/>
                </a:solidFill>
              </a:rPr>
              <a:t>• 3,984개 → 402개 압축: </a:t>
            </a:r>
            <a:r>
              <a:rPr sz="1300">
                <a:latin typeface="Malgun Gothic"/>
                <a:solidFill>
                  <a:schemeClr val="tx2"/>
                </a:solidFill>
              </a:rPr>
              <a:t>변수 순열만으로 3,984개였던 궤도가, 입력 반전까지 허용하자 정확히 402개로 줄어듭니다!</a:t>
            </a:r>
          </a:p>
          <a:p>
            <a:pPr>
              <a:spcAft>
                <a:spcPts val="600"/>
              </a:spcAft>
            </a:pPr>
            <a:r>
              <a:rPr sz="1300" b="1">
                <a:latin typeface="Malgun Gothic"/>
                <a:solidFill>
                  <a:schemeClr val="tx1"/>
                </a:solidFill>
              </a:rPr>
              <a:t>• Slepian의 NP 동치류 (1953): </a:t>
            </a:r>
            <a:r>
              <a:rPr sz="1300">
                <a:latin typeface="Malgun Gothic"/>
                <a:solidFill>
                  <a:schemeClr val="tx2"/>
                </a:solidFill>
              </a:rPr>
              <a:t>이 402라는 숫자는 벨 연구소의 데이비드 슬레피언이 논리 회로 설계를 위해 계산했던 역사적인 NP 동치류 수(OEIS A000616)와 완벽히 일치합니다.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[산업적 의미] </a:t>
            </a:r>
            <a:r>
              <a:rPr sz="1700" b="1">
                <a:latin typeface="Malgun Gothic"/>
                <a:solidFill>
                  <a:schemeClr val="tx1"/>
                </a:solidFill>
              </a:rPr>
              <a:t>3. 반도체 칩 설계의 효율성</a:t>
            </a:r>
          </a:p>
          <a:p>
            <a:pPr>
              <a:spcAft>
                <a:spcPts val="600"/>
              </a:spcAft>
            </a:pPr>
            <a:r>
              <a:rPr sz="1300" b="1">
                <a:latin typeface="Malgun Gothic"/>
                <a:solidFill>
                  <a:schemeClr val="tx1"/>
                </a:solidFill>
              </a:rPr>
              <a:t>• 표준 셀 라이브러리의 기적: </a:t>
            </a:r>
            <a:r>
              <a:rPr sz="1300">
                <a:latin typeface="Malgun Gothic"/>
                <a:solidFill>
                  <a:schemeClr val="tx2"/>
                </a:solidFill>
              </a:rPr>
              <a:t>반도체 설계자는 65,536개의 회로를 일일이 설계할 필요가 전혀 없습니다.</a:t>
            </a:r>
          </a:p>
          <a:p>
            <a:pPr>
              <a:spcAft>
                <a:spcPts val="600"/>
              </a:spcAft>
            </a:pPr>
            <a:r>
              <a:rPr sz="1300" b="1">
                <a:latin typeface="Malgun Gothic"/>
                <a:solidFill>
                  <a:schemeClr val="tx1"/>
                </a:solidFill>
              </a:rPr>
              <a:t>• 단 402개의 마스터 회로: </a:t>
            </a:r>
            <a:r>
              <a:rPr sz="1300">
                <a:latin typeface="Malgun Gothic"/>
                <a:solidFill>
                  <a:schemeClr val="tx2"/>
                </a:solidFill>
              </a:rPr>
              <a:t>단 402개의 기본 회로만 칩 라이브러리로 만들어 두면, 입력 핀 연결 순서와 인버터 조합만으로 65,536개 모든 논리를 완벽히 구현합니다!</a:t>
            </a:r>
          </a:p>
          <a:p>
            <a:pPr>
              <a:spcAft>
                <a:spcPts val="600"/>
              </a:spcAft>
            </a:pPr>
            <a:r>
              <a:rPr sz="1300" b="1">
                <a:latin typeface="Malgun Gothic"/>
                <a:solidFill>
                  <a:schemeClr val="tx1"/>
                </a:solidFill>
              </a:rPr>
              <a:t>• 순수 수학과 공학의 조화: </a:t>
            </a:r>
            <a:r>
              <a:rPr sz="1300">
                <a:latin typeface="Malgun Gothic"/>
                <a:solidFill>
                  <a:schemeClr val="tx2"/>
                </a:solidFill>
              </a:rPr>
              <a:t>초입방체 대칭군과 번사이드 보조정리가 반도체 칩 설계의 핵심적인 원가 절감 원리와 완벽하게 맞닿아 있습니다.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548640" y="658368"/>
            <a:ext cx="11094415" cy="685800"/>
          </a:xfrm>
        </p:spPr>
        <p:txBody>
          <a:bodyPr wrap="square" lIns="0" tIns="0" rIns="0" bIns="0"/>
          <a:lstStyle/>
          <a:p>
            <a:pPr algn="l"/>
            <a:r>
              <a:rPr sz="3000" b="1">
                <a:latin typeface="Malgun Gothic"/>
                <a:solidFill>
                  <a:schemeClr val="tx1"/>
                </a:solidFill>
              </a:rPr>
              <a:t>수학이 거대한 복잡성을 정복하는 세 가지 무기</a:t>
            </a:r>
          </a:p>
        </p:txBody>
      </p:sp>
      <p:sp>
        <p:nvSpPr>
          <p:cNvPr id="3" name="badge"/>
          <p:cNvSpPr/>
          <p:nvPr/>
        </p:nvSpPr>
        <p:spPr>
          <a:xfrm>
            <a:off x="548640" y="310896"/>
            <a:ext cx="274320" cy="274320"/>
          </a:xfrm>
          <a:prstGeom prst="ellipse">
            <a:avLst/>
          </a:prstGeom>
          <a:solidFill>
            <a:schemeClr val="accent2"/>
          </a:solidFill>
          <a:ln w="3175">
            <a:solidFill>
              <a:schemeClr val="accent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label"/>
          <p:cNvSpPr txBox="1"/>
          <p:nvPr/>
        </p:nvSpPr>
        <p:spPr>
          <a:xfrm>
            <a:off x="548640" y="310896"/>
            <a:ext cx="274320" cy="274320"/>
          </a:xfrm>
          <a:prstGeom prst="rect">
            <a:avLst/>
          </a:prstGeom>
          <a:noFill/>
        </p:spPr>
        <p:txBody>
          <a:bodyPr wrap="none" lIns="0" tIns="0" rIns="0" bIns="0">
            <a:spAutoFit/>
          </a:bodyPr>
          <a:lstStyle/>
          <a:p>
            <a:pPr algn="ctr"/>
            <a:r>
              <a:rPr sz="1100" b="1">
                <a:latin typeface="Malgun Gothic"/>
                <a:solidFill>
                  <a:schemeClr val="bg1"/>
                </a:solidFill>
              </a:rPr>
              <a:t>5</a:t>
            </a:r>
          </a:p>
        </p:txBody>
      </p:sp>
      <p:sp>
        <p:nvSpPr>
          <p:cNvPr id="5" name="part-tag"/>
          <p:cNvSpPr txBox="1"/>
          <p:nvPr/>
        </p:nvSpPr>
        <p:spPr>
          <a:xfrm>
            <a:off x="914400" y="310896"/>
            <a:ext cx="6000000" cy="274320"/>
          </a:xfrm>
          <a:prstGeom prst="rect">
            <a:avLst/>
          </a:prstGeom>
          <a:noFill/>
        </p:spPr>
        <p:txBody>
          <a:bodyPr wrap="none" lIns="0" tIns="0" rIns="0" bIns="0">
            <a:spAutoFit/>
          </a:bodyPr>
          <a:lstStyle/>
          <a:p>
            <a:r>
              <a:rPr sz="1200" b="1">
                <a:latin typeface="Malgun Gothic"/>
                <a:solidFill>
                  <a:schemeClr val="accent4"/>
                </a:solidFill>
              </a:rPr>
              <a:t>5부 · 정리 · 총정리</a:t>
            </a:r>
          </a:p>
        </p:txBody>
      </p:sp>
      <p:sp>
        <p:nvSpPr>
          <p:cNvPr id="6" name="lead"/>
          <p:cNvSpPr txBox="1"/>
          <p:nvPr/>
        </p:nvSpPr>
        <p:spPr>
          <a:xfrm>
            <a:off x="548640" y="1371600"/>
            <a:ext cx="11094415" cy="457200"/>
          </a:xfrm>
          <a:prstGeom prst="rect">
            <a:avLst/>
          </a:prstGeom>
          <a:noFill/>
        </p:spPr>
        <p:txBody>
          <a:bodyPr wrap="square" lIns="0" tIns="0" rIns="0" bIns="0">
            <a:spAutoFit/>
          </a:bodyPr>
          <a:lstStyle/>
          <a:p>
            <a:r>
              <a:rPr sz="1600">
                <a:latin typeface="Malgun Gothic"/>
                <a:solidFill>
                  <a:schemeClr val="tx2"/>
                </a:solidFill>
              </a:rPr>
              <a:t>무차별 대입 대신 대칭성, 이중 계수의 마법, 그리고 공학과 수학의 만남</a:t>
            </a:r>
          </a:p>
        </p:txBody>
      </p:sp>
      <p:sp>
        <p:nvSpPr>
          <p:cNvPr id="7" name="content-card"/>
          <p:cNvSpPr/>
          <p:nvPr/>
        </p:nvSpPr>
        <p:spPr>
          <a:xfrm>
            <a:off x="5486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86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4"/>
                </a:solidFill>
              </a:rPr>
              <a:t>[무기 1] </a:t>
            </a:r>
            <a:r>
              <a:rPr sz="1700" b="1">
                <a:latin typeface="Malgun Gothic"/>
                <a:solidFill>
                  <a:schemeClr val="tx1"/>
                </a:solidFill>
              </a:rPr>
              <a:t>1. 무차별 대입 대신 '대칭성'</a:t>
            </a:r>
          </a:p>
          <a:p>
            <a:pPr>
              <a:spcAft>
                <a:spcPts val="600"/>
              </a:spcAft>
            </a:pPr>
            <a:r>
              <a:rPr sz="1300" b="1">
                <a:latin typeface="Malgun Gothic"/>
                <a:solidFill>
                  <a:schemeClr val="tx1"/>
                </a:solidFill>
              </a:rPr>
              <a:t>• 65,536개의 벽: </a:t>
            </a:r>
            <a:r>
              <a:rPr sz="1300">
                <a:latin typeface="Malgun Gothic"/>
                <a:solidFill>
                  <a:schemeClr val="tx2"/>
                </a:solidFill>
              </a:rPr>
              <a:t>고교 수학에서 몇백 가지만 넘어가도 손으로 셀 수 없어 난관에 봉착합니다.</a:t>
            </a:r>
          </a:p>
          <a:p>
            <a:pPr>
              <a:spcAft>
                <a:spcPts val="600"/>
              </a:spcAft>
            </a:pPr>
            <a:r>
              <a:rPr sz="1300" b="1">
                <a:latin typeface="Malgun Gothic"/>
                <a:solidFill>
                  <a:schemeClr val="tx1"/>
                </a:solidFill>
              </a:rPr>
              <a:t>• 대칭성(군론)이라는 필터: </a:t>
            </a:r>
            <a:r>
              <a:rPr sz="1300">
                <a:latin typeface="Malgun Gothic"/>
                <a:solidFill>
                  <a:schemeClr val="tx2"/>
                </a:solidFill>
              </a:rPr>
              <a:t>'변수 이름표를 바꿔도 같은 회로다'라는 대칭성을 정의하자, 65,536개의 혼란이 3,984개(나아가 402개)의 질서정연한 본질로 정리되었습니다.</a:t>
            </a:r>
          </a:p>
          <a:p>
            <a:pPr>
              <a:spcAft>
                <a:spcPts val="600"/>
              </a:spcAft>
            </a:pPr>
            <a:r>
              <a:rPr sz="1300" b="1">
                <a:latin typeface="Malgun Gothic"/>
                <a:solidFill>
                  <a:schemeClr val="tx1"/>
                </a:solidFill>
              </a:rPr>
              <a:t>• 수학의 힘: </a:t>
            </a:r>
            <a:r>
              <a:rPr sz="1300">
                <a:latin typeface="Malgun Gothic"/>
                <a:solidFill>
                  <a:schemeClr val="tx2"/>
                </a:solidFill>
              </a:rPr>
              <a:t>대칭성은 복잡한 대상을 가장 적은 수의 본질적 대표자로 압축하는 강력한 도구입니다.</a:t>
            </a:r>
          </a:p>
        </p:txBody>
      </p:sp>
      <p:sp>
        <p:nvSpPr>
          <p:cNvPr id="9" name="content-card"/>
          <p:cNvSpPr/>
          <p:nvPr/>
        </p:nvSpPr>
        <p:spPr>
          <a:xfrm>
            <a:off x="43458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58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1"/>
                </a:solidFill>
              </a:rPr>
              <a:t>[무기 2] </a:t>
            </a:r>
            <a:r>
              <a:rPr sz="1700" b="1">
                <a:latin typeface="Malgun Gothic"/>
                <a:solidFill>
                  <a:schemeClr val="tx1"/>
                </a:solidFill>
              </a:rPr>
              <a:t>2. 번사이드의 '평균의 마법'</a:t>
            </a:r>
          </a:p>
          <a:p>
            <a:pPr>
              <a:spcAft>
                <a:spcPts val="600"/>
              </a:spcAft>
            </a:pPr>
            <a:r>
              <a:rPr sz="1300" b="1">
                <a:latin typeface="Malgun Gothic"/>
                <a:solidFill>
                  <a:schemeClr val="tx1"/>
                </a:solidFill>
              </a:rPr>
              <a:t>• 일일이 분류하지 않는 마법: </a:t>
            </a:r>
            <a:r>
              <a:rPr sz="1300">
                <a:latin typeface="Malgun Gothic"/>
                <a:solidFill>
                  <a:schemeClr val="tx2"/>
                </a:solidFill>
              </a:rPr>
              <a:t>3,984개 궤도를 구하기 위해 65,536개 함수를 컴퓨터로 하나씩 분류할 필요가 없었습니다.</a:t>
            </a:r>
          </a:p>
          <a:p>
            <a:pPr>
              <a:spcAft>
                <a:spcPts val="600"/>
              </a:spcAft>
            </a:pPr>
            <a:r>
              <a:rPr sz="1300" b="1">
                <a:latin typeface="Malgun Gothic"/>
                <a:solidFill>
                  <a:schemeClr val="tx1"/>
                </a:solidFill>
              </a:rPr>
              <a:t>• 대표 순열 5개의 고정점 평균: </a:t>
            </a:r>
            <a:r>
              <a:rPr sz="1300">
                <a:latin typeface="Malgun Gothic"/>
                <a:solidFill>
                  <a:schemeClr val="tx2"/>
                </a:solidFill>
              </a:rPr>
              <a:t>오직 5가지 순환 구조의 고정점(2¹⁶, 2¹², 2¹⁰, 2⁸, 2⁶)을 구해 24로 평균을 냈을 뿐인데 (95,616 / 24 = 3,984), 전체 궤도 수가 단 5줄 만에 정확하게 튀어나왔습니다!</a:t>
            </a:r>
          </a:p>
          <a:p>
            <a:pPr>
              <a:spcAft>
                <a:spcPts val="600"/>
              </a:spcAft>
            </a:pPr>
            <a:r>
              <a:rPr sz="1300" b="1">
                <a:latin typeface="Malgun Gothic"/>
                <a:solidFill>
                  <a:schemeClr val="tx1"/>
                </a:solidFill>
              </a:rPr>
              <a:t>• 이중 계수의 위력: </a:t>
            </a:r>
            <a:r>
              <a:rPr sz="1300">
                <a:latin typeface="Malgun Gothic"/>
                <a:solidFill>
                  <a:schemeClr val="tx2"/>
                </a:solidFill>
              </a:rPr>
              <a:t>이것이 바로 번사이드 보조정리가 선사하는 수학적 계산의 극치입니다.</a:t>
            </a:r>
          </a:p>
        </p:txBody>
      </p:sp>
      <p:sp>
        <p:nvSpPr>
          <p:cNvPr id="11" name="content-card"/>
          <p:cNvSpPr/>
          <p:nvPr/>
        </p:nvSpPr>
        <p:spPr>
          <a:xfrm>
            <a:off x="8143040" y="2057400"/>
            <a:ext cx="3500000" cy="4200000"/>
          </a:xfrm>
          <a:prstGeom prst="roundRect">
            <a:avLst/>
          </a:prstGeom>
          <a:solidFill>
            <a:schemeClr val="bg2"/>
          </a:solidFill>
          <a:ln w="12700">
            <a:solidFill>
              <a:schemeClr val="accent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3040" y="2237400"/>
            <a:ext cx="3140000" cy="3840000"/>
          </a:xfrm>
          <a:prstGeom prst="rect">
            <a:avLst/>
          </a:prstGeom>
          <a:noFill/>
        </p:spPr>
        <p:txBody>
          <a:bodyPr wrap="square" lIns="0" tIns="0" rIns="0" bIns="0">
            <a:spAutoFit/>
          </a:bodyPr>
          <a:lstStyle/>
          <a:p>
            <a:pPr>
              <a:spcAft>
                <a:spcPts val="1000"/>
              </a:spcAft>
            </a:pPr>
            <a:r>
              <a:rPr sz="1400" b="1">
                <a:latin typeface="Malgun Gothic"/>
                <a:solidFill>
                  <a:schemeClr val="accent2"/>
                </a:solidFill>
              </a:rPr>
              <a:t>[무기 3] </a:t>
            </a:r>
            <a:r>
              <a:rPr sz="1700" b="1">
                <a:latin typeface="Malgun Gothic"/>
                <a:solidFill>
                  <a:schemeClr val="tx1"/>
                </a:solidFill>
              </a:rPr>
              <a:t>3. 공학과 추상대수학의 융합</a:t>
            </a:r>
          </a:p>
          <a:p>
            <a:pPr>
              <a:spcAft>
                <a:spcPts val="600"/>
              </a:spcAft>
            </a:pPr>
            <a:r>
              <a:rPr sz="1300" b="1">
                <a:latin typeface="Malgun Gothic"/>
                <a:solidFill>
                  <a:schemeClr val="tx1"/>
                </a:solidFill>
              </a:rPr>
              <a:t>• 단순한 표가 아니었던 카르노맵: </a:t>
            </a:r>
            <a:r>
              <a:rPr sz="1300">
                <a:latin typeface="Malgun Gothic"/>
                <a:solidFill>
                  <a:schemeClr val="tx2"/>
                </a:solidFill>
              </a:rPr>
              <a:t>공대생들이 회로 최소화용으로 그리던 카르노맵 종이 표가 사실은 도넛(토러스)이자 4차원 초입방체 Q₄의 대칭 구조였습니다.</a:t>
            </a:r>
          </a:p>
          <a:p>
            <a:pPr>
              <a:spcAft>
                <a:spcPts val="600"/>
              </a:spcAft>
            </a:pPr>
            <a:r>
              <a:rPr sz="1300" b="1">
                <a:latin typeface="Malgun Gothic"/>
                <a:solidFill>
                  <a:schemeClr val="tx1"/>
                </a:solidFill>
              </a:rPr>
              <a:t>• 정리 1의 우아함: </a:t>
            </a:r>
            <a:r>
              <a:rPr sz="1300">
                <a:latin typeface="Malgun Gothic"/>
                <a:solidFill>
                  <a:schemeClr val="tx2"/>
                </a:solidFill>
              </a:rPr>
              <a:t>24가지 배치가 정확히 3개 동치류 {AB|CD}, {AC|BD}, {AD|BC}로 나뉘는 원리가 군의 지표([B₄:W]=3)로 완벽하게 규명되었습니다.</a:t>
            </a:r>
          </a:p>
          <a:p>
            <a:pPr>
              <a:spcAft>
                <a:spcPts val="600"/>
              </a:spcAft>
            </a:pPr>
            <a:r>
              <a:rPr sz="1300" b="1">
                <a:latin typeface="Malgun Gothic"/>
                <a:solidFill>
                  <a:schemeClr val="tx1"/>
                </a:solidFill>
              </a:rPr>
              <a:t>• 배움의 메시지: </a:t>
            </a:r>
            <a:r>
              <a:rPr sz="1300">
                <a:latin typeface="Malgun Gothic"/>
                <a:solidFill>
                  <a:schemeClr val="tx2"/>
                </a:solidFill>
              </a:rPr>
              <a:t>고교 수준의 순열, 함수, 명제 논리가 대학의 추상대수학과 현대 반도체 공학으로 어떻게 이어지는지 보여주는 가장 아름다운 본보기입니다.</a:t>
            </a:r>
          </a:p>
        </p:txBody>
      </p:sp>
      <p:sp>
        <p:nvSpPr>
          <p:cNvPr id="13" name="Slide Number Placeholder 0"/>
          <p:cNvSpPr txBox="1"/>
          <p:nvPr/>
        </p:nvSpPr>
        <p:spPr>
          <a:xfrm>
            <a:off x="10911535" y="6419088"/>
            <a:ext cx="731520" cy="274320"/>
          </a:xfrm>
          <a:prstGeom prst="rect">
            <a:avLst/>
          </a:prstGeom>
          <a:noFill/>
        </p:spPr>
        <p:txBody>
          <a:bodyPr wrap="none">
            <a:spAutoFit/>
          </a:bodyPr>
          <a:lstStyle/>
          <a:p>
            <a:pPr algn="r">
              <a:defRPr sz="1000">
                <a:latin typeface="Malgun Gothic"/>
              </a:defRPr>
            </a:pPr>
            <a:r>
              <a:rPr>
                <a:solidFill>
                  <a:schemeClr val="accent6"/>
                </a:solidFill>
              </a:rPr>
              <a:t>39</a:t>
            </a:r>
          </a:p>
        </p:txBody>
      </p:sp>
    </p:spTree>
  </p:cSld>
  <p:clrMapOvr>
    <a:masterClrMapping/>
  </p:clrMapOvr>
</p:sld>
</file>

<file path=ppt/theme/theme1.xml><?xml version="1.0" encoding="utf-8"?>
<a:theme xmlns:a="http://schemas.openxmlformats.org/drawingml/2006/main" name="Orbit Lecture">
  <a:themeElements>
    <a:clrScheme name="Orbit Lecture">
      <a:dk1>
        <a:srgbClr val="1B2440"/>
      </a:dk1>
      <a:lt1>
        <a:srgbClr val="FFFFFF"/>
      </a:lt1>
      <a:dk2>
        <a:srgbClr val="2E3A5F"/>
      </a:dk2>
      <a:lt2>
        <a:srgbClr val="F2F4F8"/>
      </a:lt2>
      <a:accent1>
        <a:srgbClr val="E4572E"/>
      </a:accent1>
      <a:accent2>
        <a:srgbClr val="17A398"/>
      </a:accent2>
      <a:accent3>
        <a:srgbClr val="F2A541"/>
      </a:accent3>
      <a:accent4>
        <a:srgbClr val="5B6C9D"/>
      </a:accent4>
      <a:accent5>
        <a:srgbClr val="8E5AA8"/>
      </a:accent5>
      <a:accent6>
        <a:srgbClr val="9AA5BF"/>
      </a:accent6>
      <a:hlink>
        <a:srgbClr val="17A398"/>
      </a:hlink>
      <a:folHlink>
        <a:srgbClr val="8E5AA8"/>
      </a:folHlink>
    </a:clrScheme>
    <a:fontScheme name="Orbit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4변수 부울 함수 공간의 S4 궤도 분류 — 강의 교안</dc:title>
  <dc:subject>논문 「카르노맵 위의 4변수 부울 함수 공간의 군론적 분류」 5장 중심 강의 교안</dc:subject>
  <dc:creator>최종훈 (Jonghun Choi)</dc:creator>
  <cp:lastModifiedBy>최종훈 (Jonghun Choi)</cp:lastModifiedBy>
  <cp:revision>1</cp:revision>
  <dcterms:created xsi:type="dcterms:W3CDTF">2026-10-24T12:17:35Z</dcterms:created>
  <dcterms:modified xsi:type="dcterms:W3CDTF">2026-10-24T12:17:35Z</dcterms:modified>
</cp:coreProperties>
</file>